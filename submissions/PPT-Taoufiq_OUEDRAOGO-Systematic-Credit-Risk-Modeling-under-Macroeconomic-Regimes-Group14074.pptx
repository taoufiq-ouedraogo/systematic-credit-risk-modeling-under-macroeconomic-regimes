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n"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n"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n"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3"/>
  </p:normalViewPr>
  <p:slideViewPr>
    <p:cSldViewPr snapToGrid="0">
      <p:cViewPr varScale="1">
        <p:scale>
          <a:sx n="151" d="100"/>
          <a:sy n="151" d="100"/>
        </p:scale>
        <p:origin x="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 name="Shape 102"/>
          <p:cNvSpPr>
            <a:spLocks noGrp="1" noRot="1" noChangeAspect="1"/>
          </p:cNvSpPr>
          <p:nvPr>
            <p:ph type="sldImg"/>
          </p:nvPr>
        </p:nvSpPr>
        <p:spPr>
          <a:xfrm>
            <a:off x="1143000" y="685800"/>
            <a:ext cx="4572000" cy="3429000"/>
          </a:xfrm>
          <a:prstGeom prst="rect">
            <a:avLst/>
          </a:prstGeom>
        </p:spPr>
        <p:txBody>
          <a:bodyPr/>
          <a:lstStyle/>
          <a:p>
            <a:endParaRPr/>
          </a:p>
        </p:txBody>
      </p:sp>
      <p:sp>
        <p:nvSpPr>
          <p:cNvPr id="103" name="Shape 10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a:spLocks noGrp="1" noRot="1" noChangeAspect="1"/>
          </p:cNvSpPr>
          <p:nvPr>
            <p:ph type="sldImg"/>
          </p:nvPr>
        </p:nvSpPr>
        <p:spPr>
          <a:prstGeom prst="rect">
            <a:avLst/>
          </a:prstGeom>
        </p:spPr>
        <p:txBody>
          <a:bodyPr/>
          <a:lstStyle/>
          <a:p>
            <a:endParaRPr/>
          </a:p>
        </p:txBody>
      </p:sp>
      <p:sp>
        <p:nvSpPr>
          <p:cNvPr id="109" name="Shape 109"/>
          <p:cNvSpPr>
            <a:spLocks noGrp="1"/>
          </p:cNvSpPr>
          <p:nvPr>
            <p:ph type="body" sz="quarter" idx="1"/>
          </p:nvPr>
        </p:nvSpPr>
        <p:spPr>
          <a:prstGeom prst="rect">
            <a:avLst/>
          </a:prstGeom>
        </p:spPr>
        <p:txBody>
          <a:bodyPr/>
          <a:lstStyle/>
          <a:p>
            <a:r>
              <a:rPr dirty="0"/>
              <a:t>This project was carried out within Group 14074. My group partner is Wickliff </a:t>
            </a:r>
            <a:r>
              <a:rPr dirty="0" err="1"/>
              <a:t>Siriga</a:t>
            </a:r>
            <a:r>
              <a:rPr dirty="0"/>
              <a:t> OGARI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a:spLocks noGrp="1" noRot="1" noChangeAspect="1"/>
          </p:cNvSpPr>
          <p:nvPr>
            <p:ph type="sldImg"/>
          </p:nvPr>
        </p:nvSpPr>
        <p:spPr>
          <a:prstGeom prst="rect">
            <a:avLst/>
          </a:prstGeom>
        </p:spPr>
        <p:txBody>
          <a:bodyPr/>
          <a:lstStyle/>
          <a:p>
            <a:endParaRPr/>
          </a:p>
        </p:txBody>
      </p:sp>
      <p:sp>
        <p:nvSpPr>
          <p:cNvPr id="129" name="Shape 129"/>
          <p:cNvSpPr>
            <a:spLocks noGrp="1"/>
          </p:cNvSpPr>
          <p:nvPr>
            <p:ph type="body" sz="quarter" idx="1"/>
          </p:nvPr>
        </p:nvSpPr>
        <p:spPr>
          <a:prstGeom prst="rect">
            <a:avLst/>
          </a:prstGeom>
        </p:spPr>
        <p:txBody>
          <a:bodyPr/>
          <a:lstStyle/>
          <a:p>
            <a:r>
              <a:rPr dirty="0"/>
              <a:t>The ID document I submitted during my enrollment has since expired. I am therefore providing updated identification documents, including my current ID, for your records.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prstGeom prst="rect">
            <a:avLst/>
          </a:prstGeom>
        </p:spPr>
        <p:txBody>
          <a:bodyPr/>
          <a:lstStyle/>
          <a:p>
            <a:endParaRPr/>
          </a:p>
        </p:txBody>
      </p:sp>
      <p:sp>
        <p:nvSpPr>
          <p:cNvPr id="135" name="Shape 135"/>
          <p:cNvSpPr>
            <a:spLocks noGrp="1"/>
          </p:cNvSpPr>
          <p:nvPr>
            <p:ph type="body" sz="quarter" idx="1"/>
          </p:nvPr>
        </p:nvSpPr>
        <p:spPr>
          <a:prstGeom prst="rect">
            <a:avLst/>
          </a:prstGeom>
        </p:spPr>
        <p:txBody>
          <a:bodyPr/>
          <a:lstStyle/>
          <a:p>
            <a:r>
              <a:rPr dirty="0"/>
              <a:t>Good morning. My name is Taoufiq OUEDRAOGO, and I am presenting the Capstone Project I work on. The project is titled Systematic Credit Risk Modeling under Macroeconomic Regimes. So I will walk you through the problem we set out to solve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prstGeom prst="rect">
            <a:avLst/>
          </a:prstGeom>
        </p:spPr>
        <p:txBody>
          <a:bodyPr/>
          <a:lstStyle/>
          <a:p>
            <a:endParaRPr/>
          </a:p>
        </p:txBody>
      </p:sp>
      <p:sp>
        <p:nvSpPr>
          <p:cNvPr id="143" name="Shape 143"/>
          <p:cNvSpPr>
            <a:spLocks noGrp="1"/>
          </p:cNvSpPr>
          <p:nvPr>
            <p:ph type="body" sz="quarter" idx="1"/>
          </p:nvPr>
        </p:nvSpPr>
        <p:spPr>
          <a:prstGeom prst="rect">
            <a:avLst/>
          </a:prstGeom>
        </p:spPr>
        <p:txBody>
          <a:bodyPr/>
          <a:lstStyle/>
          <a:p>
            <a:r>
              <a:rPr dirty="0"/>
              <a:t>The central objective of this project was to build a comprehensive credit risk modeling by integrating 3 complementary layers of info: </a:t>
            </a:r>
          </a:p>
          <a:p>
            <a:r>
              <a:rPr dirty="0"/>
              <a:t>- borrower-level characteristics, macroeconomic conditions and latent economic regimes inferred from macro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rPr dirty="0"/>
              <a:t>Credit risk is a complex and time-varying challenge, which makes this project particularly important: </a:t>
            </a:r>
          </a:p>
          <a:p>
            <a:r>
              <a:rPr dirty="0"/>
              <a:t>- it evolves across economic cycles, while traditional models often rely on stability assumptions that break down in stressed periods. </a:t>
            </a:r>
          </a:p>
          <a:p>
            <a:r>
              <a:rPr dirty="0"/>
              <a:t>- Macroeconomic conditions also have significant but non-linear impact on default risk. This is especially critical because credit risk directly influences financial decision-making and has broader consequences for real economy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noRot="1" noChangeAspect="1"/>
          </p:cNvSpPr>
          <p:nvPr>
            <p:ph type="sldImg"/>
          </p:nvPr>
        </p:nvSpPr>
        <p:spPr>
          <a:prstGeom prst="rect">
            <a:avLst/>
          </a:prstGeom>
        </p:spPr>
        <p:txBody>
          <a:bodyPr/>
          <a:lstStyle/>
          <a:p>
            <a:endParaRPr/>
          </a:p>
        </p:txBody>
      </p:sp>
      <p:sp>
        <p:nvSpPr>
          <p:cNvPr id="173" name="Shape 173"/>
          <p:cNvSpPr>
            <a:spLocks noGrp="1"/>
          </p:cNvSpPr>
          <p:nvPr>
            <p:ph type="body" sz="quarter" idx="1"/>
          </p:nvPr>
        </p:nvSpPr>
        <p:spPr>
          <a:prstGeom prst="rect">
            <a:avLst/>
          </a:prstGeom>
        </p:spPr>
        <p:txBody>
          <a:bodyPr/>
          <a:lstStyle/>
          <a:p>
            <a:r>
              <a:rPr dirty="0"/>
              <a:t>The academic literature on credit risk can be grouped into 3 main streams. </a:t>
            </a:r>
          </a:p>
          <a:p>
            <a:pPr marL="140368" indent="-140368">
              <a:buSzPct val="100000"/>
              <a:buChar char="-"/>
            </a:pPr>
            <a:r>
              <a:rPr dirty="0"/>
              <a:t>Traditional models assume that borrowers with similar characteristics will behave similarly regardless of the economic environment</a:t>
            </a:r>
          </a:p>
          <a:p>
            <a:pPr marL="140368" indent="-140368">
              <a:buSzPct val="100000"/>
              <a:buChar char="-"/>
            </a:pPr>
            <a:r>
              <a:rPr dirty="0"/>
              <a:t>Machine learning approaches significantly improve predictive performance, but still exhibit a structural limitation: they do not explicitly incorporate macroeconomic conditions</a:t>
            </a:r>
          </a:p>
          <a:p>
            <a:pPr marL="140368" indent="-140368">
              <a:buSzPct val="100000"/>
              <a:buChar char="-"/>
            </a:pPr>
            <a:r>
              <a:rPr dirty="0"/>
              <a:t>A third stream introduces macro-conditioned models, where PD is linked to macro variables. However, this remain linear and fail to capture economic regimes that can evolve over time. This is precisely the gap addressed by this project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hape 207"/>
          <p:cNvSpPr>
            <a:spLocks noGrp="1" noRot="1" noChangeAspect="1"/>
          </p:cNvSpPr>
          <p:nvPr>
            <p:ph type="sldImg"/>
          </p:nvPr>
        </p:nvSpPr>
        <p:spPr>
          <a:prstGeom prst="rect">
            <a:avLst/>
          </a:prstGeom>
        </p:spPr>
        <p:txBody>
          <a:bodyPr/>
          <a:lstStyle/>
          <a:p>
            <a:endParaRPr/>
          </a:p>
        </p:txBody>
      </p:sp>
      <p:sp>
        <p:nvSpPr>
          <p:cNvPr id="208" name="Shape 208"/>
          <p:cNvSpPr>
            <a:spLocks noGrp="1"/>
          </p:cNvSpPr>
          <p:nvPr>
            <p:ph type="body" sz="quarter" idx="1"/>
          </p:nvPr>
        </p:nvSpPr>
        <p:spPr>
          <a:prstGeom prst="rect">
            <a:avLst/>
          </a:prstGeom>
        </p:spPr>
        <p:txBody>
          <a:bodyPr/>
          <a:lstStyle/>
          <a:p>
            <a:r>
              <a:rPr dirty="0"/>
              <a:t>Our contribution sits at the intersection of the 3 main strands of the literature. </a:t>
            </a:r>
          </a:p>
          <a:p>
            <a:pPr marL="140368" indent="-140368">
              <a:buSzPct val="100000"/>
              <a:buChar char="-"/>
            </a:pPr>
            <a:r>
              <a:rPr dirty="0"/>
              <a:t>First, we combine borrower-level loan characteristics with macroeconomic variables within a unified framework. </a:t>
            </a:r>
          </a:p>
          <a:p>
            <a:pPr marL="140368" indent="-140368">
              <a:buSzPct val="100000"/>
              <a:buChar char="-"/>
            </a:pPr>
            <a:r>
              <a:rPr dirty="0"/>
              <a:t>Rather than using raw macro indicators directly, we transform them into discrete economic regimes</a:t>
            </a:r>
          </a:p>
          <a:p>
            <a:pPr marL="140368" indent="-140368">
              <a:buSzPct val="100000"/>
              <a:buChar char="-"/>
            </a:pPr>
            <a:r>
              <a:rPr dirty="0"/>
              <a:t>We then evaluate four model families—logistic regression, decision trees, random forests, and </a:t>
            </a:r>
            <a:r>
              <a:rPr dirty="0" err="1"/>
              <a:t>XGBoost</a:t>
            </a:r>
            <a:r>
              <a:rPr dirty="0"/>
              <a:t>—under time-consistent validation settings.</a:t>
            </a:r>
          </a:p>
          <a:p>
            <a:pPr marL="140368" indent="-140368">
              <a:buSzPct val="100000"/>
              <a:buChar char="-"/>
            </a:pPr>
            <a:r>
              <a:rPr dirty="0"/>
              <a:t> This enables us to identify which model architectures benefit most from regime information. </a:t>
            </a:r>
          </a:p>
          <a:p>
            <a:pPr marL="140368" indent="-140368">
              <a:buSzPct val="100000"/>
              <a:buChar char="-"/>
            </a:pPr>
            <a:r>
              <a:rPr dirty="0"/>
              <a:t>Overall, the objective is to move toward a more economically consistent and robust framework for credit risk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Shape 252"/>
          <p:cNvSpPr>
            <a:spLocks noGrp="1" noRot="1" noChangeAspect="1"/>
          </p:cNvSpPr>
          <p:nvPr>
            <p:ph type="sldImg"/>
          </p:nvPr>
        </p:nvSpPr>
        <p:spPr>
          <a:prstGeom prst="rect">
            <a:avLst/>
          </a:prstGeom>
        </p:spPr>
        <p:txBody>
          <a:bodyPr/>
          <a:lstStyle/>
          <a:p>
            <a:endParaRPr/>
          </a:p>
        </p:txBody>
      </p:sp>
      <p:sp>
        <p:nvSpPr>
          <p:cNvPr id="253" name="Shape 253"/>
          <p:cNvSpPr>
            <a:spLocks noGrp="1"/>
          </p:cNvSpPr>
          <p:nvPr>
            <p:ph type="body" sz="quarter" idx="1"/>
          </p:nvPr>
        </p:nvSpPr>
        <p:spPr>
          <a:prstGeom prst="rect">
            <a:avLst/>
          </a:prstGeom>
        </p:spPr>
        <p:txBody>
          <a:bodyPr/>
          <a:lstStyle/>
          <a:p>
            <a:r>
              <a:rPr dirty="0"/>
              <a:t>The study is based on a few key assumptions. </a:t>
            </a:r>
          </a:p>
          <a:p>
            <a:pPr marL="140368" indent="-140368">
              <a:buSzPct val="100000"/>
              <a:buChar char="-"/>
            </a:pPr>
            <a:r>
              <a:rPr dirty="0"/>
              <a:t>First, past loan performance provides useful information for predicting future default risk. </a:t>
            </a:r>
          </a:p>
          <a:p>
            <a:pPr marL="140368" indent="-140368">
              <a:buSzPct val="100000"/>
              <a:buChar char="-"/>
            </a:pPr>
            <a:r>
              <a:rPr dirty="0"/>
              <a:t>Second, only information available at the time of loan origination is used, especially macroeconomic conditions. </a:t>
            </a:r>
          </a:p>
          <a:p>
            <a:pPr marL="140368" indent="-140368">
              <a:buSzPct val="100000"/>
              <a:buChar char="-"/>
            </a:pPr>
            <a:r>
              <a:rPr dirty="0"/>
              <a:t>Third, the economy can be described through distinct regimes that can be learned from macro data. </a:t>
            </a:r>
          </a:p>
          <a:p>
            <a:pPr marL="140368" indent="-140368">
              <a:buSzPct val="100000"/>
              <a:buChar char="-"/>
            </a:pPr>
            <a:r>
              <a:rPr dirty="0"/>
              <a:t>Finally, the relationship between credit risk and its drivers changes over time and across economic conditions.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a:spLocks noGrp="1" noRot="1" noChangeAspect="1"/>
          </p:cNvSpPr>
          <p:nvPr>
            <p:ph type="sldImg"/>
          </p:nvPr>
        </p:nvSpPr>
        <p:spPr>
          <a:prstGeom prst="rect">
            <a:avLst/>
          </a:prstGeom>
        </p:spPr>
        <p:txBody>
          <a:bodyPr/>
          <a:lstStyle/>
          <a:p>
            <a:endParaRPr/>
          </a:p>
        </p:txBody>
      </p:sp>
      <p:sp>
        <p:nvSpPr>
          <p:cNvPr id="287" name="Shape 287"/>
          <p:cNvSpPr>
            <a:spLocks noGrp="1"/>
          </p:cNvSpPr>
          <p:nvPr>
            <p:ph type="body" sz="quarter" idx="1"/>
          </p:nvPr>
        </p:nvSpPr>
        <p:spPr>
          <a:prstGeom prst="rect">
            <a:avLst/>
          </a:prstGeom>
        </p:spPr>
        <p:txBody>
          <a:bodyPr/>
          <a:lstStyle/>
          <a:p>
            <a:r>
              <a:rPr dirty="0"/>
              <a:t>To conduct this study, we rely on the Lending Club dataset from Kaggle, which provides detailed borrower-level features, as well as macroeconomic indicators retrieved via the FRED API.</a:t>
            </a:r>
          </a:p>
          <a:p>
            <a:endParaRPr dirty="0"/>
          </a:p>
          <a:p>
            <a:r>
              <a:rPr dirty="0"/>
              <a:t>The methodology is structured into a three-level framework. The first is a baseline model using only borrower characteristics. The second extends this by incorporating macroeconomic variables. The third further adds latent economic regimes on top of both borrower and macro information. Each step builds incrementally on the previous one to assess the added value of macro and regime-based information.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Shape 360"/>
          <p:cNvSpPr>
            <a:spLocks noGrp="1" noRot="1" noChangeAspect="1"/>
          </p:cNvSpPr>
          <p:nvPr>
            <p:ph type="sldImg"/>
          </p:nvPr>
        </p:nvSpPr>
        <p:spPr>
          <a:prstGeom prst="rect">
            <a:avLst/>
          </a:prstGeom>
        </p:spPr>
        <p:txBody>
          <a:bodyPr/>
          <a:lstStyle/>
          <a:p>
            <a:endParaRPr/>
          </a:p>
        </p:txBody>
      </p:sp>
      <p:sp>
        <p:nvSpPr>
          <p:cNvPr id="361" name="Shape 361"/>
          <p:cNvSpPr>
            <a:spLocks noGrp="1"/>
          </p:cNvSpPr>
          <p:nvPr>
            <p:ph type="body" sz="quarter" idx="1"/>
          </p:nvPr>
        </p:nvSpPr>
        <p:spPr>
          <a:prstGeom prst="rect">
            <a:avLst/>
          </a:prstGeom>
        </p:spPr>
        <p:txBody>
          <a:bodyPr/>
          <a:lstStyle/>
          <a:p>
            <a:r>
              <a:rPr dirty="0"/>
              <a:t>We use solely python for programming, with its various packages (data manipulation, visualization, modeling)</a:t>
            </a:r>
          </a:p>
          <a:p>
            <a:r>
              <a:rPr dirty="0"/>
              <a:t>Github for versioning and code management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Shape 373"/>
          <p:cNvSpPr>
            <a:spLocks noGrp="1" noRot="1" noChangeAspect="1"/>
          </p:cNvSpPr>
          <p:nvPr>
            <p:ph type="sldImg"/>
          </p:nvPr>
        </p:nvSpPr>
        <p:spPr>
          <a:prstGeom prst="rect">
            <a:avLst/>
          </a:prstGeom>
        </p:spPr>
        <p:txBody>
          <a:bodyPr/>
          <a:lstStyle/>
          <a:p>
            <a:endParaRPr/>
          </a:p>
        </p:txBody>
      </p:sp>
      <p:sp>
        <p:nvSpPr>
          <p:cNvPr id="374" name="Shape 374"/>
          <p:cNvSpPr>
            <a:spLocks noGrp="1"/>
          </p:cNvSpPr>
          <p:nvPr>
            <p:ph type="body" sz="quarter" idx="1"/>
          </p:nvPr>
        </p:nvSpPr>
        <p:spPr>
          <a:prstGeom prst="rect">
            <a:avLst/>
          </a:prstGeom>
        </p:spPr>
        <p:txBody>
          <a:bodyPr/>
          <a:lstStyle/>
          <a:p>
            <a:r>
              <a:rPr dirty="0"/>
              <a:t>The peer review significantly improved the project. Six key points were raised and all were addressed.</a:t>
            </a:r>
          </a:p>
          <a:p>
            <a:pPr marL="140368" indent="-140368">
              <a:buSzPct val="100000"/>
              <a:buChar char="-"/>
            </a:pPr>
            <a:r>
              <a:rPr dirty="0"/>
              <a:t>We improved regime detection using clustering diagnostics and economic interpretation. </a:t>
            </a:r>
          </a:p>
          <a:p>
            <a:pPr marL="140368" indent="-140368">
              <a:buSzPct val="100000"/>
              <a:buChar char="-"/>
            </a:pPr>
            <a:r>
              <a:rPr dirty="0"/>
              <a:t>We replaced the basic split with a walk-forward </a:t>
            </a:r>
            <a:r>
              <a:rPr dirty="0" err="1"/>
              <a:t>backtesting</a:t>
            </a:r>
            <a:r>
              <a:rPr dirty="0"/>
              <a:t> framework for realistic evaluation. </a:t>
            </a:r>
          </a:p>
          <a:p>
            <a:pPr marL="140368" indent="-140368">
              <a:buSzPct val="100000"/>
              <a:buChar char="-"/>
            </a:pPr>
            <a:r>
              <a:rPr dirty="0"/>
              <a:t>We added feature importance analysis to link predictions with macro conditions.</a:t>
            </a:r>
          </a:p>
          <a:p>
            <a:endParaRPr dirty="0"/>
          </a:p>
          <a:p>
            <a:r>
              <a:rPr dirty="0"/>
              <a:t>We also:</a:t>
            </a:r>
          </a:p>
          <a:p>
            <a:pPr marL="140368" indent="-140368">
              <a:buSzPct val="100000"/>
              <a:buChar char="-"/>
            </a:pPr>
            <a:r>
              <a:rPr dirty="0"/>
              <a:t>compared clustering methods, </a:t>
            </a:r>
          </a:p>
          <a:p>
            <a:pPr marL="140368" indent="-140368">
              <a:buSzPct val="100000"/>
              <a:buChar char="-"/>
            </a:pPr>
            <a:r>
              <a:rPr dirty="0"/>
              <a:t>built stress-testing and sensitivity analysis,</a:t>
            </a:r>
          </a:p>
          <a:p>
            <a:pPr marL="140368" indent="-140368">
              <a:buSzPct val="100000"/>
              <a:buChar char="-"/>
            </a:pPr>
            <a:r>
              <a:rPr dirty="0"/>
              <a:t>fully documented the pipeline and process for transparency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Shape 398"/>
          <p:cNvSpPr>
            <a:spLocks noGrp="1" noRot="1" noChangeAspect="1"/>
          </p:cNvSpPr>
          <p:nvPr>
            <p:ph type="sldImg"/>
          </p:nvPr>
        </p:nvSpPr>
        <p:spPr>
          <a:prstGeom prst="rect">
            <a:avLst/>
          </a:prstGeom>
        </p:spPr>
        <p:txBody>
          <a:bodyPr/>
          <a:lstStyle/>
          <a:p>
            <a:endParaRPr/>
          </a:p>
        </p:txBody>
      </p:sp>
      <p:sp>
        <p:nvSpPr>
          <p:cNvPr id="399" name="Shape 399"/>
          <p:cNvSpPr>
            <a:spLocks noGrp="1"/>
          </p:cNvSpPr>
          <p:nvPr>
            <p:ph type="body" sz="quarter" idx="1"/>
          </p:nvPr>
        </p:nvSpPr>
        <p:spPr>
          <a:prstGeom prst="rect">
            <a:avLst/>
          </a:prstGeom>
        </p:spPr>
        <p:txBody>
          <a:bodyPr/>
          <a:lstStyle/>
          <a:p>
            <a:r>
              <a:rPr dirty="0"/>
              <a:t>My personal contribution to the project included several key parts. </a:t>
            </a:r>
          </a:p>
          <a:p>
            <a:pPr marL="140368" indent="-140368">
              <a:buSzPct val="100000"/>
              <a:buChar char="-"/>
            </a:pPr>
            <a:r>
              <a:rPr dirty="0"/>
              <a:t>I built the data merge and handled feature engineering. </a:t>
            </a:r>
          </a:p>
          <a:p>
            <a:pPr marL="140368" indent="-140368">
              <a:buSzPct val="100000"/>
              <a:buChar char="-"/>
            </a:pPr>
            <a:r>
              <a:rPr dirty="0"/>
              <a:t>I was also responsible for regime detection using clustering methods to identify economic phases. </a:t>
            </a:r>
          </a:p>
          <a:p>
            <a:pPr marL="140368" indent="-140368">
              <a:buSzPct val="100000"/>
              <a:buChar char="-"/>
            </a:pPr>
            <a:r>
              <a:rPr dirty="0"/>
              <a:t>On top of this, I developed the regime-aware models. </a:t>
            </a:r>
          </a:p>
          <a:p>
            <a:pPr marL="140368" indent="-140368">
              <a:buSzPct val="100000"/>
              <a:buChar char="-"/>
            </a:pPr>
            <a:r>
              <a:rPr dirty="0"/>
              <a:t>Finally, I designed macroeconomic scenarios and carried out stress testing and sensitivity analysis.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Shape 413"/>
          <p:cNvSpPr>
            <a:spLocks noGrp="1" noRot="1" noChangeAspect="1"/>
          </p:cNvSpPr>
          <p:nvPr>
            <p:ph type="sldImg"/>
          </p:nvPr>
        </p:nvSpPr>
        <p:spPr>
          <a:prstGeom prst="rect">
            <a:avLst/>
          </a:prstGeom>
        </p:spPr>
        <p:txBody>
          <a:bodyPr/>
          <a:lstStyle/>
          <a:p>
            <a:endParaRPr/>
          </a:p>
        </p:txBody>
      </p:sp>
      <p:sp>
        <p:nvSpPr>
          <p:cNvPr id="414" name="Shape 414"/>
          <p:cNvSpPr>
            <a:spLocks noGrp="1"/>
          </p:cNvSpPr>
          <p:nvPr>
            <p:ph type="body" sz="quarter" idx="1"/>
          </p:nvPr>
        </p:nvSpPr>
        <p:spPr>
          <a:prstGeom prst="rect">
            <a:avLst/>
          </a:prstGeom>
        </p:spPr>
        <p:txBody>
          <a:bodyPr/>
          <a:lstStyle/>
          <a:p>
            <a:r>
              <a:rPr dirty="0"/>
              <a:t>Beyond the technical aspects, I also took on several organizational responsibilities. </a:t>
            </a:r>
          </a:p>
          <a:p>
            <a:pPr marL="140368" indent="-140368">
              <a:buSzPct val="100000"/>
              <a:buChar char="-"/>
            </a:pPr>
            <a:r>
              <a:rPr dirty="0"/>
              <a:t>I set up and maintained the GitHub repository with a clean, modular structure to ensure collaboration. </a:t>
            </a:r>
          </a:p>
          <a:p>
            <a:pPr marL="140368" indent="-140368">
              <a:buSzPct val="100000"/>
              <a:buChar char="-"/>
            </a:pPr>
            <a:r>
              <a:rPr dirty="0"/>
              <a:t>I also co-managed the project with my teammate, including planning, report writing, and integrating feedback from our mentor.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Shape 419"/>
          <p:cNvSpPr>
            <a:spLocks noGrp="1" noRot="1" noChangeAspect="1"/>
          </p:cNvSpPr>
          <p:nvPr>
            <p:ph type="sldImg"/>
          </p:nvPr>
        </p:nvSpPr>
        <p:spPr>
          <a:xfrm>
            <a:off x="381000" y="685800"/>
            <a:ext cx="6096000" cy="3429000"/>
          </a:xfrm>
          <a:prstGeom prst="rect">
            <a:avLst/>
          </a:prstGeom>
        </p:spPr>
        <p:txBody>
          <a:bodyPr/>
          <a:lstStyle/>
          <a:p>
            <a:endParaRPr/>
          </a:p>
        </p:txBody>
      </p:sp>
      <p:sp>
        <p:nvSpPr>
          <p:cNvPr id="420" name="Shape 420"/>
          <p:cNvSpPr>
            <a:spLocks noGrp="1"/>
          </p:cNvSpPr>
          <p:nvPr>
            <p:ph type="body" sz="quarter" idx="1"/>
          </p:nvPr>
        </p:nvSpPr>
        <p:spPr>
          <a:prstGeom prst="rect">
            <a:avLst/>
          </a:prstGeom>
        </p:spPr>
        <p:txBody>
          <a:bodyPr/>
          <a:lstStyle/>
          <a:p>
            <a:r>
              <a:rPr dirty="0"/>
              <a:t>In terms of key findings</a:t>
            </a:r>
          </a:p>
          <a:p>
            <a:pPr marL="140368" indent="-140368">
              <a:buSzPct val="100000"/>
              <a:buChar char="-"/>
            </a:pPr>
            <a:r>
              <a:rPr dirty="0"/>
              <a:t>raw macroeconomic variables added limited predictive value, as they were highly correlated and largely collapsed into a single dominant factor.</a:t>
            </a:r>
          </a:p>
          <a:p>
            <a:pPr marL="140368" indent="-140368">
              <a:buSzPct val="100000"/>
              <a:buChar char="-"/>
            </a:pPr>
            <a:r>
              <a:rPr dirty="0"/>
              <a:t>We found that regime information significantly improves performance for linear models. </a:t>
            </a:r>
          </a:p>
          <a:p>
            <a:pPr marL="140368" indent="-140368">
              <a:buSzPct val="100000"/>
              <a:buChar char="-"/>
            </a:pPr>
            <a:r>
              <a:rPr dirty="0"/>
              <a:t>In contrast, tree-based models are less affected by feature changes, as they already capture nonlinear interactions internally.</a:t>
            </a:r>
          </a:p>
          <a:p>
            <a:pPr marL="140368" indent="-140368">
              <a:buSzPct val="100000"/>
              <a:buChar char="-"/>
            </a:pPr>
            <a:r>
              <a:rPr dirty="0"/>
              <a:t>Overall, the main insight is that representation matters more than feature quantity: how information is encoded is more important than simply adding more variables.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Shape 425"/>
          <p:cNvSpPr>
            <a:spLocks noGrp="1" noRot="1" noChangeAspect="1"/>
          </p:cNvSpPr>
          <p:nvPr>
            <p:ph type="sldImg"/>
          </p:nvPr>
        </p:nvSpPr>
        <p:spPr>
          <a:prstGeom prst="rect">
            <a:avLst/>
          </a:prstGeom>
        </p:spPr>
        <p:txBody>
          <a:bodyPr/>
          <a:lstStyle/>
          <a:p>
            <a:endParaRPr/>
          </a:p>
        </p:txBody>
      </p:sp>
      <p:sp>
        <p:nvSpPr>
          <p:cNvPr id="426" name="Shape 426"/>
          <p:cNvSpPr>
            <a:spLocks noGrp="1"/>
          </p:cNvSpPr>
          <p:nvPr>
            <p:ph type="body" sz="quarter" idx="1"/>
          </p:nvPr>
        </p:nvSpPr>
        <p:spPr>
          <a:prstGeom prst="rect">
            <a:avLst/>
          </a:prstGeom>
        </p:spPr>
        <p:txBody>
          <a:bodyPr/>
          <a:lstStyle/>
          <a:p>
            <a:r>
              <a:rPr dirty="0"/>
              <a:t>We can observe here ROC curve of </a:t>
            </a:r>
            <a:r>
              <a:rPr dirty="0" err="1"/>
              <a:t>Logstc</a:t>
            </a:r>
            <a:r>
              <a:rPr dirty="0"/>
              <a:t> Reg for the 3framework</a:t>
            </a:r>
          </a:p>
          <a:p>
            <a:r>
              <a:rPr dirty="0"/>
              <a:t>- Regime feature consistently improves performance as Green curve stays above others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Shape 431"/>
          <p:cNvSpPr>
            <a:spLocks noGrp="1" noRot="1" noChangeAspect="1"/>
          </p:cNvSpPr>
          <p:nvPr>
            <p:ph type="sldImg"/>
          </p:nvPr>
        </p:nvSpPr>
        <p:spPr>
          <a:prstGeom prst="rect">
            <a:avLst/>
          </a:prstGeom>
        </p:spPr>
        <p:txBody>
          <a:bodyPr/>
          <a:lstStyle/>
          <a:p>
            <a:endParaRPr/>
          </a:p>
        </p:txBody>
      </p:sp>
      <p:sp>
        <p:nvSpPr>
          <p:cNvPr id="432" name="Shape 432"/>
          <p:cNvSpPr>
            <a:spLocks noGrp="1"/>
          </p:cNvSpPr>
          <p:nvPr>
            <p:ph type="body" sz="quarter" idx="1"/>
          </p:nvPr>
        </p:nvSpPr>
        <p:spPr>
          <a:prstGeom prst="rect">
            <a:avLst/>
          </a:prstGeom>
        </p:spPr>
        <p:txBody>
          <a:bodyPr/>
          <a:lstStyle/>
          <a:p>
            <a:r>
              <a:rPr dirty="0"/>
              <a:t>Here we have all our models:</a:t>
            </a:r>
          </a:p>
          <a:p>
            <a:r>
              <a:rPr dirty="0"/>
              <a:t>- Framework 3 improves only Logistic Regression while others show almost no change across frameworks</a:t>
            </a:r>
          </a:p>
          <a:p>
            <a:r>
              <a:rPr dirty="0"/>
              <a:t>- meaning that only Linear models benefit from regime information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Shape 437"/>
          <p:cNvSpPr>
            <a:spLocks noGrp="1" noRot="1" noChangeAspect="1"/>
          </p:cNvSpPr>
          <p:nvPr>
            <p:ph type="sldImg"/>
          </p:nvPr>
        </p:nvSpPr>
        <p:spPr>
          <a:xfrm>
            <a:off x="381000" y="685800"/>
            <a:ext cx="6096000" cy="3429000"/>
          </a:xfrm>
          <a:prstGeom prst="rect">
            <a:avLst/>
          </a:prstGeom>
        </p:spPr>
        <p:txBody>
          <a:bodyPr/>
          <a:lstStyle/>
          <a:p>
            <a:endParaRPr/>
          </a:p>
        </p:txBody>
      </p:sp>
      <p:sp>
        <p:nvSpPr>
          <p:cNvPr id="438" name="Shape 438"/>
          <p:cNvSpPr>
            <a:spLocks noGrp="1"/>
          </p:cNvSpPr>
          <p:nvPr>
            <p:ph type="body" sz="quarter" idx="1"/>
          </p:nvPr>
        </p:nvSpPr>
        <p:spPr>
          <a:prstGeom prst="rect">
            <a:avLst/>
          </a:prstGeom>
        </p:spPr>
        <p:txBody>
          <a:bodyPr/>
          <a:lstStyle/>
          <a:p>
            <a:r>
              <a:rPr dirty="0"/>
              <a:t>After performing stress tests we noticed that it produced economically realistic results:</a:t>
            </a:r>
          </a:p>
          <a:p>
            <a:r>
              <a:rPr dirty="0"/>
              <a:t>   Better economic conditions  —&gt;  Lower PD</a:t>
            </a:r>
          </a:p>
          <a:p>
            <a:r>
              <a:rPr dirty="0"/>
              <a:t>   Worse economic conditions (crisis)  —&gt;  Higher PD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dirty="0"/>
              <a:t>The project successfully demonstrates that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Shape 469"/>
          <p:cNvSpPr>
            <a:spLocks noGrp="1" noRot="1" noChangeAspect="1"/>
          </p:cNvSpPr>
          <p:nvPr>
            <p:ph type="sldImg"/>
          </p:nvPr>
        </p:nvSpPr>
        <p:spPr>
          <a:prstGeom prst="rect">
            <a:avLst/>
          </a:prstGeom>
        </p:spPr>
        <p:txBody>
          <a:bodyPr/>
          <a:lstStyle/>
          <a:p>
            <a:endParaRPr/>
          </a:p>
        </p:txBody>
      </p:sp>
      <p:sp>
        <p:nvSpPr>
          <p:cNvPr id="470" name="Shape 470"/>
          <p:cNvSpPr>
            <a:spLocks noGrp="1"/>
          </p:cNvSpPr>
          <p:nvPr>
            <p:ph type="body" sz="quarter" idx="1"/>
          </p:nvPr>
        </p:nvSpPr>
        <p:spPr>
          <a:prstGeom prst="rect">
            <a:avLst/>
          </a:prstGeom>
        </p:spPr>
        <p:txBody>
          <a:bodyPr/>
          <a:lstStyle/>
          <a:p>
            <a:r>
              <a:rPr dirty="0"/>
              <a:t>There are 5 directions we would pursue to extend this work:</a:t>
            </a:r>
          </a:p>
          <a:p>
            <a:r>
              <a:rPr dirty="0"/>
              <a:t>- Use longer and more recent data to capture additional </a:t>
            </a:r>
          </a:p>
          <a:p>
            <a:r>
              <a:rPr dirty="0"/>
              <a:t>- Use HMM to better capture uncertainty during regime changes</a:t>
            </a:r>
          </a:p>
          <a:p>
            <a:r>
              <a:rPr dirty="0"/>
              <a:t>- Test the framework on SME and corporate lending, where macroeconomic sensitivity is stronger</a:t>
            </a:r>
          </a:p>
          <a:p>
            <a:r>
              <a:rPr dirty="0"/>
              <a:t>- Add richer macro indicators for earlier regime signals</a:t>
            </a:r>
          </a:p>
          <a:p>
            <a:r>
              <a:rPr dirty="0"/>
              <a:t>- Develop time-evolving regime models where transition probabilities adapt over time</a:t>
            </a:r>
          </a:p>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hape 474"/>
          <p:cNvSpPr>
            <a:spLocks noGrp="1" noRot="1" noChangeAspect="1"/>
          </p:cNvSpPr>
          <p:nvPr>
            <p:ph type="sldImg"/>
          </p:nvPr>
        </p:nvSpPr>
        <p:spPr>
          <a:prstGeom prst="rect">
            <a:avLst/>
          </a:prstGeom>
        </p:spPr>
        <p:txBody>
          <a:bodyPr/>
          <a:lstStyle/>
          <a:p>
            <a:endParaRPr/>
          </a:p>
        </p:txBody>
      </p:sp>
      <p:sp>
        <p:nvSpPr>
          <p:cNvPr id="475" name="Shape 475"/>
          <p:cNvSpPr>
            <a:spLocks noGrp="1"/>
          </p:cNvSpPr>
          <p:nvPr>
            <p:ph type="body" sz="quarter" idx="1"/>
          </p:nvPr>
        </p:nvSpPr>
        <p:spPr>
          <a:prstGeom prst="rect">
            <a:avLst/>
          </a:prstGeom>
        </p:spPr>
        <p:txBody>
          <a:bodyPr/>
          <a:lstStyle/>
          <a:p>
            <a:r>
              <a:rPr dirty="0" err="1"/>
              <a:t>Tha’s</a:t>
            </a:r>
            <a:r>
              <a:rPr dirty="0"/>
              <a:t> the end. I would like to </a:t>
            </a:r>
            <a:r>
              <a:rPr dirty="0" err="1"/>
              <a:t>genuily</a:t>
            </a:r>
            <a:endParaRPr dirty="0"/>
          </a:p>
          <a:p>
            <a:r>
              <a:rPr dirty="0"/>
              <a:t>Thanks our mentor Professor Joe Byers and the entire WorldQuant University team for the structure, the </a:t>
            </a:r>
            <a:r>
              <a:rPr dirty="0" err="1"/>
              <a:t>rigour</a:t>
            </a:r>
            <a:r>
              <a:rPr dirty="0"/>
              <a:t>, and the opportunity. Thank you for watching </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1_Custom Layout 2 1 1 2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FFFFFF"/>
                </a:solidFill>
              </a:defRPr>
            </a:lvl1pPr>
          </a:lstStyle>
          <a:p>
            <a:r>
              <a:t>© 2026 WorldQuant University. All Rights Reserved</a:t>
            </a:r>
          </a:p>
        </p:txBody>
      </p:sp>
      <p:sp>
        <p:nvSpPr>
          <p:cNvPr id="13" name="Click to add presentation title"/>
          <p:cNvSpPr txBox="1">
            <a:spLocks noGrp="1"/>
          </p:cNvSpPr>
          <p:nvPr>
            <p:ph type="title" hasCustomPrompt="1"/>
          </p:nvPr>
        </p:nvSpPr>
        <p:spPr>
          <a:xfrm>
            <a:off x="989748" y="1608256"/>
            <a:ext cx="7164493" cy="1542991"/>
          </a:xfrm>
          <a:prstGeom prst="rect">
            <a:avLst/>
          </a:prstGeom>
        </p:spPr>
        <p:txBody>
          <a:bodyPr anchor="ctr"/>
          <a:lstStyle>
            <a:lvl1pPr algn="ctr">
              <a:defRPr sz="3600">
                <a:solidFill>
                  <a:srgbClr val="FFFFFF"/>
                </a:solidFill>
              </a:defRPr>
            </a:lvl1pPr>
          </a:lstStyle>
          <a:p>
            <a:r>
              <a:t>Click to add presentation title</a:t>
            </a:r>
          </a:p>
        </p:txBody>
      </p:sp>
      <p:sp>
        <p:nvSpPr>
          <p:cNvPr id="14" name="Body Level One…"/>
          <p:cNvSpPr txBox="1">
            <a:spLocks noGrp="1"/>
          </p:cNvSpPr>
          <p:nvPr>
            <p:ph type="body" sz="quarter" idx="1" hasCustomPrompt="1"/>
          </p:nvPr>
        </p:nvSpPr>
        <p:spPr>
          <a:xfrm>
            <a:off x="1590668" y="3303889"/>
            <a:ext cx="5962656" cy="393603"/>
          </a:xfrm>
          <a:prstGeom prst="rect">
            <a:avLst/>
          </a:prstGeom>
        </p:spPr>
        <p:txBody>
          <a:bodyPr anchor="ctr"/>
          <a:lstStyle>
            <a:lvl1pPr marL="114300" indent="0" algn="ctr">
              <a:lnSpc>
                <a:spcPct val="100000"/>
              </a:lnSpc>
              <a:buClrTx/>
              <a:buSzTx/>
              <a:buFontTx/>
              <a:buNone/>
              <a:defRPr i="1">
                <a:solidFill>
                  <a:srgbClr val="FFFFFF"/>
                </a:solidFill>
              </a:defRPr>
            </a:lvl1pPr>
            <a:lvl2pPr marL="114300" indent="114300" algn="ctr">
              <a:lnSpc>
                <a:spcPct val="100000"/>
              </a:lnSpc>
              <a:buClrTx/>
              <a:buSzTx/>
              <a:buFontTx/>
              <a:buNone/>
              <a:defRPr i="1">
                <a:solidFill>
                  <a:srgbClr val="FFFFFF"/>
                </a:solidFill>
              </a:defRPr>
            </a:lvl2pPr>
            <a:lvl3pPr marL="114300" indent="114300" algn="ctr">
              <a:lnSpc>
                <a:spcPct val="100000"/>
              </a:lnSpc>
              <a:buClrTx/>
              <a:buSzTx/>
              <a:buFontTx/>
              <a:buNone/>
              <a:defRPr i="1">
                <a:solidFill>
                  <a:srgbClr val="FFFFFF"/>
                </a:solidFill>
              </a:defRPr>
            </a:lvl3pPr>
            <a:lvl4pPr marL="114300" indent="114300" algn="ctr">
              <a:lnSpc>
                <a:spcPct val="100000"/>
              </a:lnSpc>
              <a:buClrTx/>
              <a:buSzTx/>
              <a:buFontTx/>
              <a:buNone/>
              <a:defRPr i="1">
                <a:solidFill>
                  <a:srgbClr val="FFFFFF"/>
                </a:solidFill>
              </a:defRPr>
            </a:lvl4pPr>
            <a:lvl5pPr marL="114300" indent="114300" algn="ctr">
              <a:lnSpc>
                <a:spcPct val="100000"/>
              </a:lnSpc>
              <a:buClrTx/>
              <a:buSzTx/>
              <a:buFontTx/>
              <a:buNone/>
              <a:defRPr i="1">
                <a:solidFill>
                  <a:srgbClr val="FFFFFF"/>
                </a:solidFill>
              </a:defRPr>
            </a:lvl5pPr>
          </a:lstStyle>
          <a:p>
            <a:r>
              <a:t>Click to add presentation subtitle</a:t>
            </a:r>
          </a:p>
          <a:p>
            <a:pPr lvl="1"/>
            <a:endParaRPr/>
          </a:p>
          <a:p>
            <a:pPr lvl="2"/>
            <a:endParaRPr/>
          </a:p>
          <a:p>
            <a:pPr lvl="3"/>
            <a:endParaRPr/>
          </a:p>
          <a:p>
            <a:pPr lvl="4"/>
            <a:endParaRPr/>
          </a:p>
        </p:txBody>
      </p:sp>
      <p:pic>
        <p:nvPicPr>
          <p:cNvPr id="15" name="Google Shape;123;p35" descr="Google Shape;123;p35"/>
          <p:cNvPicPr>
            <a:picLocks noChangeAspect="1"/>
          </p:cNvPicPr>
          <p:nvPr/>
        </p:nvPicPr>
        <p:blipFill>
          <a:blip r:embed="rId3"/>
          <a:stretch>
            <a:fillRect/>
          </a:stretch>
        </p:blipFill>
        <p:spPr>
          <a:xfrm>
            <a:off x="457200" y="457200"/>
            <a:ext cx="2285801" cy="756823"/>
          </a:xfrm>
          <a:prstGeom prst="rect">
            <a:avLst/>
          </a:prstGeom>
          <a:ln w="12700">
            <a:miter lim="400000"/>
          </a:ln>
        </p:spPr>
      </p:pic>
      <p:sp>
        <p:nvSpPr>
          <p:cNvPr id="16" name="Google Shape;34;p12"/>
          <p:cNvSpPr txBox="1">
            <a:spLocks noGrp="1"/>
          </p:cNvSpPr>
          <p:nvPr>
            <p:ph type="body" sz="quarter" idx="21" hasCustomPrompt="1"/>
          </p:nvPr>
        </p:nvSpPr>
        <p:spPr>
          <a:xfrm>
            <a:off x="5624098" y="4166782"/>
            <a:ext cx="3086103" cy="253651"/>
          </a:xfrm>
          <a:prstGeom prst="rect">
            <a:avLst/>
          </a:prstGeom>
        </p:spPr>
        <p:txBody>
          <a:bodyPr anchor="ctr"/>
          <a:lstStyle>
            <a:lvl1pPr marL="0" indent="45261" algn="r" defTabSz="362102">
              <a:buClrTx/>
              <a:buSzTx/>
              <a:buFontTx/>
              <a:buNone/>
              <a:defRPr sz="400" b="1">
                <a:solidFill>
                  <a:srgbClr val="35EFEA"/>
                </a:solidFill>
              </a:defRPr>
            </a:lvl1pPr>
          </a:lstStyle>
          <a:p>
            <a:r>
              <a:t>Click to add your name</a:t>
            </a:r>
          </a:p>
        </p:txBody>
      </p:sp>
      <p:sp>
        <p:nvSpPr>
          <p:cNvPr id="17" name="Google Shape;34;p12"/>
          <p:cNvSpPr txBox="1">
            <a:spLocks noGrp="1"/>
          </p:cNvSpPr>
          <p:nvPr>
            <p:ph type="body" sz="quarter" idx="22" hasCustomPrompt="1"/>
          </p:nvPr>
        </p:nvSpPr>
        <p:spPr>
          <a:xfrm>
            <a:off x="5624098" y="4550535"/>
            <a:ext cx="3086103" cy="253651"/>
          </a:xfrm>
          <a:prstGeom prst="rect">
            <a:avLst/>
          </a:prstGeom>
        </p:spPr>
        <p:txBody>
          <a:bodyPr anchor="ctr"/>
          <a:lstStyle>
            <a:lvl1pPr marL="0" indent="51432" algn="r" defTabSz="411479">
              <a:buClrTx/>
              <a:buSzTx/>
              <a:buFontTx/>
              <a:buNone/>
              <a:defRPr sz="400" i="1">
                <a:solidFill>
                  <a:srgbClr val="35EFEA"/>
                </a:solidFill>
              </a:defRPr>
            </a:lvl1pPr>
          </a:lstStyle>
          <a:p>
            <a:r>
              <a:t>Click to add  date of presentation</a:t>
            </a:r>
          </a:p>
        </p:txBody>
      </p:sp>
      <p:sp>
        <p:nvSpPr>
          <p:cNvPr id="18" name="Slide Number"/>
          <p:cNvSpPr txBox="1">
            <a:spLocks noGrp="1"/>
          </p:cNvSpPr>
          <p:nvPr>
            <p:ph type="sldNum" sz="quarter" idx="2"/>
          </p:nvPr>
        </p:nvSpPr>
        <p:spPr>
          <a:xfrm>
            <a:off x="6279548" y="4635137"/>
            <a:ext cx="273652" cy="264251"/>
          </a:xfrm>
          <a:prstGeom prst="rect">
            <a:avLst/>
          </a:prstGeom>
        </p:spPr>
        <p:txBody>
          <a:bodyPr anchor="ctr"/>
          <a:lstStyle>
            <a:lvl1pPr algn="r">
              <a:defRPr sz="1200" b="0"/>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1_Custom Layout 2 1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5"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FFFFFF"/>
                </a:solidFill>
              </a:defRPr>
            </a:lvl1pPr>
          </a:lstStyle>
          <a:p>
            <a:r>
              <a:t>© 2026 WorldQuant University. All Rights Reserved</a:t>
            </a:r>
          </a:p>
        </p:txBody>
      </p:sp>
      <p:sp>
        <p:nvSpPr>
          <p:cNvPr id="26" name="Click to add “Group #”"/>
          <p:cNvSpPr txBox="1">
            <a:spLocks noGrp="1"/>
          </p:cNvSpPr>
          <p:nvPr>
            <p:ph type="title" hasCustomPrompt="1"/>
          </p:nvPr>
        </p:nvSpPr>
        <p:spPr>
          <a:xfrm>
            <a:off x="236422" y="447416"/>
            <a:ext cx="2306056" cy="1515200"/>
          </a:xfrm>
          <a:prstGeom prst="rect">
            <a:avLst/>
          </a:prstGeom>
        </p:spPr>
        <p:txBody>
          <a:bodyPr anchor="ctr"/>
          <a:lstStyle>
            <a:lvl1pPr algn="ctr">
              <a:defRPr sz="3600"/>
            </a:lvl1pPr>
          </a:lstStyle>
          <a:p>
            <a:r>
              <a:t>Click to add “Group #”</a:t>
            </a:r>
          </a:p>
        </p:txBody>
      </p:sp>
      <p:sp>
        <p:nvSpPr>
          <p:cNvPr id="27" name="Body Level One…"/>
          <p:cNvSpPr txBox="1">
            <a:spLocks noGrp="1"/>
          </p:cNvSpPr>
          <p:nvPr>
            <p:ph type="body" sz="half" idx="1" hasCustomPrompt="1"/>
          </p:nvPr>
        </p:nvSpPr>
        <p:spPr>
          <a:xfrm>
            <a:off x="2676293" y="1516567"/>
            <a:ext cx="5051503" cy="2873040"/>
          </a:xfrm>
          <a:prstGeom prst="rect">
            <a:avLst/>
          </a:prstGeom>
        </p:spPr>
        <p:txBody>
          <a:bodyPr/>
          <a:lstStyle>
            <a:lvl1pPr marL="685800" indent="-571500" algn="ctr">
              <a:lnSpc>
                <a:spcPct val="100000"/>
              </a:lnSpc>
              <a:buSzPts val="3600"/>
              <a:buFont typeface="Arial"/>
              <a:buChar char="❖"/>
              <a:defRPr sz="3600" i="1">
                <a:solidFill>
                  <a:srgbClr val="000000"/>
                </a:solidFill>
              </a:defRPr>
            </a:lvl1pPr>
            <a:lvl2pPr marL="0" indent="0" algn="ctr">
              <a:lnSpc>
                <a:spcPct val="100000"/>
              </a:lnSpc>
              <a:buSzTx/>
              <a:buFont typeface="Arial"/>
              <a:buNone/>
              <a:defRPr sz="3600" i="1">
                <a:solidFill>
                  <a:srgbClr val="000000"/>
                </a:solidFill>
              </a:defRPr>
            </a:lvl2pPr>
            <a:lvl3pPr marL="0" indent="0" algn="ctr">
              <a:lnSpc>
                <a:spcPct val="100000"/>
              </a:lnSpc>
              <a:buSzTx/>
              <a:buFont typeface="Arial"/>
              <a:buNone/>
              <a:defRPr sz="3600" i="1">
                <a:solidFill>
                  <a:srgbClr val="000000"/>
                </a:solidFill>
              </a:defRPr>
            </a:lvl3pPr>
            <a:lvl4pPr marL="0" indent="0" algn="ctr">
              <a:lnSpc>
                <a:spcPct val="100000"/>
              </a:lnSpc>
              <a:buSzTx/>
              <a:buFont typeface="Arial"/>
              <a:buNone/>
              <a:defRPr sz="3600" i="1">
                <a:solidFill>
                  <a:srgbClr val="000000"/>
                </a:solidFill>
              </a:defRPr>
            </a:lvl4pPr>
            <a:lvl5pPr marL="0" indent="0" algn="ctr">
              <a:lnSpc>
                <a:spcPct val="100000"/>
              </a:lnSpc>
              <a:buSzTx/>
              <a:buFont typeface="Arial"/>
              <a:buNone/>
              <a:defRPr sz="3600" i="1">
                <a:solidFill>
                  <a:srgbClr val="000000"/>
                </a:solidFill>
              </a:defRPr>
            </a:lvl5pPr>
          </a:lstStyle>
          <a:p>
            <a:r>
              <a:t>Click to add list of ALL group members…</a:t>
            </a:r>
          </a:p>
          <a:p>
            <a:pPr lvl="1"/>
            <a:endParaRPr/>
          </a:p>
          <a:p>
            <a:pPr lvl="2"/>
            <a:endParaRPr/>
          </a:p>
          <a:p>
            <a:pPr lvl="3"/>
            <a:endParaRPr/>
          </a:p>
          <a:p>
            <a:pPr lvl="4"/>
            <a:endParaRPr/>
          </a:p>
        </p:txBody>
      </p:sp>
      <p:sp>
        <p:nvSpPr>
          <p:cNvPr id="28" name="Slide Number"/>
          <p:cNvSpPr txBox="1">
            <a:spLocks noGrp="1"/>
          </p:cNvSpPr>
          <p:nvPr>
            <p:ph type="sldNum" sz="quarter" idx="2"/>
          </p:nvPr>
        </p:nvSpPr>
        <p:spPr>
          <a:xfrm>
            <a:off x="4375342" y="4487245"/>
            <a:ext cx="393315" cy="380230"/>
          </a:xfrm>
          <a:prstGeom prst="rect">
            <a:avLst/>
          </a:prstGeom>
        </p:spPr>
        <p:txBody>
          <a:bodyPr lIns="91422" tIns="91422" rIns="91422" bIns="91422" anchor="ctr"/>
          <a:lstStyle>
            <a:lvl1pPr algn="ct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1_Title and body">
    <p:spTree>
      <p:nvGrpSpPr>
        <p:cNvPr id="1" name=""/>
        <p:cNvGrpSpPr/>
        <p:nvPr/>
      </p:nvGrpSpPr>
      <p:grpSpPr>
        <a:xfrm>
          <a:off x="0" y="0"/>
          <a:ext cx="0" cy="0"/>
          <a:chOff x="0" y="0"/>
          <a:chExt cx="0" cy="0"/>
        </a:xfrm>
      </p:grpSpPr>
      <p:sp>
        <p:nvSpPr>
          <p:cNvPr id="35" name="Click to add graph/chart title"/>
          <p:cNvSpPr txBox="1">
            <a:spLocks noGrp="1"/>
          </p:cNvSpPr>
          <p:nvPr>
            <p:ph type="title" hasCustomPrompt="1"/>
          </p:nvPr>
        </p:nvSpPr>
        <p:spPr>
          <a:prstGeom prst="rect">
            <a:avLst/>
          </a:prstGeom>
        </p:spPr>
        <p:txBody>
          <a:bodyPr/>
          <a:lstStyle/>
          <a:p>
            <a:r>
              <a:t>Click to add graph/chart title</a:t>
            </a:r>
          </a:p>
        </p:txBody>
      </p:sp>
      <p:sp>
        <p:nvSpPr>
          <p:cNvPr id="36" name="Body Level One…"/>
          <p:cNvSpPr txBox="1">
            <a:spLocks noGrp="1"/>
          </p:cNvSpPr>
          <p:nvPr>
            <p:ph type="body" sz="quarter" idx="1" hasCustomPrompt="1"/>
          </p:nvPr>
        </p:nvSpPr>
        <p:spPr>
          <a:xfrm>
            <a:off x="2313876" y="2139361"/>
            <a:ext cx="4516247" cy="1868692"/>
          </a:xfrm>
          <a:prstGeom prst="rect">
            <a:avLst/>
          </a:prstGeom>
        </p:spPr>
        <p:txBody>
          <a:bodyPr anchor="ctr"/>
          <a:lstStyle>
            <a:lvl1pPr marL="114300" indent="0" algn="ctr">
              <a:lnSpc>
                <a:spcPct val="100000"/>
              </a:lnSpc>
              <a:buClrTx/>
              <a:buSzTx/>
              <a:buFontTx/>
              <a:buNone/>
              <a:defRPr i="1">
                <a:solidFill>
                  <a:srgbClr val="000000"/>
                </a:solidFill>
              </a:defRPr>
            </a:lvl1pPr>
            <a:lvl2pPr marL="114300" indent="114300" algn="ctr">
              <a:lnSpc>
                <a:spcPct val="100000"/>
              </a:lnSpc>
              <a:buClrTx/>
              <a:buSzTx/>
              <a:buFontTx/>
              <a:buNone/>
              <a:defRPr i="1">
                <a:solidFill>
                  <a:srgbClr val="000000"/>
                </a:solidFill>
              </a:defRPr>
            </a:lvl2pPr>
            <a:lvl3pPr marL="114300" indent="114300" algn="ctr">
              <a:lnSpc>
                <a:spcPct val="100000"/>
              </a:lnSpc>
              <a:buClrTx/>
              <a:buSzTx/>
              <a:buFontTx/>
              <a:buNone/>
              <a:defRPr i="1">
                <a:solidFill>
                  <a:srgbClr val="000000"/>
                </a:solidFill>
              </a:defRPr>
            </a:lvl3pPr>
            <a:lvl4pPr marL="114300" indent="114300" algn="ctr">
              <a:lnSpc>
                <a:spcPct val="100000"/>
              </a:lnSpc>
              <a:buClrTx/>
              <a:buSzTx/>
              <a:buFontTx/>
              <a:buNone/>
              <a:defRPr i="1">
                <a:solidFill>
                  <a:srgbClr val="000000"/>
                </a:solidFill>
              </a:defRPr>
            </a:lvl4pPr>
            <a:lvl5pPr marL="114300" indent="114300" algn="ctr">
              <a:lnSpc>
                <a:spcPct val="100000"/>
              </a:lnSpc>
              <a:buClrTx/>
              <a:buSzTx/>
              <a:buFontTx/>
              <a:buNone/>
              <a:defRPr i="1">
                <a:solidFill>
                  <a:srgbClr val="000000"/>
                </a:solidFill>
              </a:defRPr>
            </a:lvl5pPr>
          </a:lstStyle>
          <a:p>
            <a:r>
              <a:t>Paste a copy of your Government Issued Photo ID HERE</a:t>
            </a:r>
          </a:p>
          <a:p>
            <a:pPr lvl="1"/>
            <a:endParaRPr/>
          </a:p>
          <a:p>
            <a:pPr lvl="2"/>
            <a:endParaRPr/>
          </a:p>
          <a:p>
            <a:pPr lvl="3"/>
            <a:endParaRPr/>
          </a:p>
          <a:p>
            <a:pPr lvl="4"/>
            <a:endParaRPr/>
          </a:p>
        </p:txBody>
      </p:sp>
      <p:sp>
        <p:nvSpPr>
          <p:cNvPr id="37" name="Slide Number"/>
          <p:cNvSpPr txBox="1">
            <a:spLocks noGrp="1"/>
          </p:cNvSpPr>
          <p:nvPr>
            <p:ph type="sldNum" sz="quarter" idx="2"/>
          </p:nvPr>
        </p:nvSpPr>
        <p:spPr>
          <a:xfrm>
            <a:off x="8487432" y="4406000"/>
            <a:ext cx="301905" cy="28882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
        <p:cNvGrpSpPr/>
        <p:nvPr/>
      </p:nvGrpSpPr>
      <p:grpSpPr>
        <a:xfrm>
          <a:off x="0" y="0"/>
          <a:ext cx="0" cy="0"/>
          <a:chOff x="0" y="0"/>
          <a:chExt cx="0" cy="0"/>
        </a:xfrm>
      </p:grpSpPr>
      <p:sp>
        <p:nvSpPr>
          <p:cNvPr id="44" name="Click to add slide title"/>
          <p:cNvSpPr txBox="1">
            <a:spLocks noGrp="1"/>
          </p:cNvSpPr>
          <p:nvPr>
            <p:ph type="title" hasCustomPrompt="1"/>
          </p:nvPr>
        </p:nvSpPr>
        <p:spPr>
          <a:prstGeom prst="rect">
            <a:avLst/>
          </a:prstGeom>
        </p:spPr>
        <p:txBody>
          <a:bodyPr/>
          <a:lstStyle/>
          <a:p>
            <a:r>
              <a:t>Click to add slide title</a:t>
            </a:r>
          </a:p>
        </p:txBody>
      </p:sp>
      <p:sp>
        <p:nvSpPr>
          <p:cNvPr id="4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1_Custom Layout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746759" y="1217188"/>
            <a:ext cx="6987542" cy="3113511"/>
          </a:xfrm>
          <a:prstGeom prst="rect">
            <a:avLst/>
          </a:prstGeom>
        </p:spPr>
        <p:txBody>
          <a:bodyPr/>
          <a:lstStyle>
            <a:lvl1pPr>
              <a:buFont typeface="Arial"/>
              <a:buChar char="❖"/>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54" name="Click to add slide title"/>
          <p:cNvSpPr txBox="1">
            <a:spLocks noGrp="1"/>
          </p:cNvSpPr>
          <p:nvPr>
            <p:ph type="title" hasCustomPrompt="1"/>
          </p:nvPr>
        </p:nvSpPr>
        <p:spPr>
          <a:xfrm>
            <a:off x="311698" y="400800"/>
            <a:ext cx="8520604" cy="572701"/>
          </a:xfrm>
          <a:prstGeom prst="rect">
            <a:avLst/>
          </a:prstGeom>
        </p:spPr>
        <p:txBody>
          <a:bodyPr/>
          <a:lstStyle/>
          <a:p>
            <a:r>
              <a:t>Click to add slide title</a:t>
            </a:r>
          </a:p>
        </p:txBody>
      </p:sp>
      <p:sp>
        <p:nvSpPr>
          <p:cNvPr id="55" name="Slide Number"/>
          <p:cNvSpPr txBox="1">
            <a:spLocks noGrp="1"/>
          </p:cNvSpPr>
          <p:nvPr>
            <p:ph type="sldNum" sz="quarter" idx="2"/>
          </p:nvPr>
        </p:nvSpPr>
        <p:spPr>
          <a:xfrm>
            <a:off x="8505466" y="4396982"/>
            <a:ext cx="301904" cy="28882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Custom Layout 2 1 1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2"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FFFFFF"/>
                </a:solidFill>
              </a:defRPr>
            </a:lvl1pPr>
          </a:lstStyle>
          <a:p>
            <a:r>
              <a:t>© 2026 WorldQuant University. All Rights Reserved</a:t>
            </a:r>
          </a:p>
        </p:txBody>
      </p:sp>
      <p:pic>
        <p:nvPicPr>
          <p:cNvPr id="63" name="Google Shape;123;p35" descr="Google Shape;123;p35"/>
          <p:cNvPicPr>
            <a:picLocks noChangeAspect="1"/>
          </p:cNvPicPr>
          <p:nvPr/>
        </p:nvPicPr>
        <p:blipFill>
          <a:blip r:embed="rId3"/>
          <a:stretch>
            <a:fillRect/>
          </a:stretch>
        </p:blipFill>
        <p:spPr>
          <a:xfrm>
            <a:off x="6126479" y="365758"/>
            <a:ext cx="2693630" cy="902477"/>
          </a:xfrm>
          <a:prstGeom prst="rect">
            <a:avLst/>
          </a:prstGeom>
          <a:ln w="12700">
            <a:miter lim="400000"/>
          </a:ln>
        </p:spPr>
      </p:pic>
      <p:sp>
        <p:nvSpPr>
          <p:cNvPr id="64" name="Click to add graph/chart title"/>
          <p:cNvSpPr txBox="1">
            <a:spLocks noGrp="1"/>
          </p:cNvSpPr>
          <p:nvPr>
            <p:ph type="title" hasCustomPrompt="1"/>
          </p:nvPr>
        </p:nvSpPr>
        <p:spPr>
          <a:xfrm>
            <a:off x="365758" y="609595"/>
            <a:ext cx="5449417" cy="572703"/>
          </a:xfrm>
          <a:prstGeom prst="rect">
            <a:avLst/>
          </a:prstGeom>
        </p:spPr>
        <p:txBody>
          <a:bodyPr/>
          <a:lstStyle/>
          <a:p>
            <a:r>
              <a:t>Click to add graph/chart title</a:t>
            </a:r>
          </a:p>
        </p:txBody>
      </p:sp>
      <p:sp>
        <p:nvSpPr>
          <p:cNvPr id="65" name="Body Level One…"/>
          <p:cNvSpPr txBox="1">
            <a:spLocks noGrp="1"/>
          </p:cNvSpPr>
          <p:nvPr>
            <p:ph type="body" sz="quarter" idx="1" hasCustomPrompt="1"/>
          </p:nvPr>
        </p:nvSpPr>
        <p:spPr>
          <a:xfrm>
            <a:off x="2044330" y="3915059"/>
            <a:ext cx="5055340" cy="257626"/>
          </a:xfrm>
          <a:prstGeom prst="rect">
            <a:avLst/>
          </a:prstGeom>
        </p:spPr>
        <p:txBody>
          <a:bodyPr anchor="ctr"/>
          <a:lstStyle>
            <a:lvl1pPr marL="0" indent="114300" algn="ctr">
              <a:buClrTx/>
              <a:buSzTx/>
              <a:buFontTx/>
              <a:buNone/>
              <a:defRPr sz="1200" b="1" i="1"/>
            </a:lvl1pPr>
            <a:lvl2pPr marL="1097642" indent="-272142" algn="ctr">
              <a:buClrTx/>
              <a:buSzPts val="1200"/>
              <a:buFontTx/>
              <a:defRPr sz="1200" b="1" i="1"/>
            </a:lvl2pPr>
            <a:lvl3pPr marL="1554842" indent="-272142" algn="ctr">
              <a:buClrTx/>
              <a:buSzPts val="1200"/>
              <a:buFontTx/>
              <a:defRPr sz="1200" b="1" i="1"/>
            </a:lvl3pPr>
            <a:lvl4pPr marL="2012040" indent="-272141" algn="ctr">
              <a:buClrTx/>
              <a:buSzPts val="1200"/>
              <a:buFontTx/>
              <a:defRPr sz="1200" b="1" i="1"/>
            </a:lvl4pPr>
            <a:lvl5pPr marL="2469240" indent="-272140" algn="ctr">
              <a:buClrTx/>
              <a:buSzPts val="1200"/>
              <a:buFontTx/>
              <a:defRPr sz="1200" b="1" i="1"/>
            </a:lvl5pPr>
          </a:lstStyle>
          <a:p>
            <a:r>
              <a:t>Click to add description</a:t>
            </a:r>
          </a:p>
          <a:p>
            <a:pPr lvl="1"/>
            <a:endParaRPr/>
          </a:p>
          <a:p>
            <a:pPr lvl="2"/>
            <a:endParaRPr/>
          </a:p>
          <a:p>
            <a:pPr lvl="3"/>
            <a:endParaRPr/>
          </a:p>
          <a:p>
            <a:pPr lvl="4"/>
            <a:endParaRPr/>
          </a:p>
        </p:txBody>
      </p:sp>
      <p:sp>
        <p:nvSpPr>
          <p:cNvPr id="66" name="Slide Number"/>
          <p:cNvSpPr txBox="1">
            <a:spLocks noGrp="1"/>
          </p:cNvSpPr>
          <p:nvPr>
            <p:ph type="sldNum" sz="quarter" idx="2"/>
          </p:nvPr>
        </p:nvSpPr>
        <p:spPr>
          <a:xfrm>
            <a:off x="4375342" y="4487245"/>
            <a:ext cx="393315" cy="380230"/>
          </a:xfrm>
          <a:prstGeom prst="rect">
            <a:avLst/>
          </a:prstGeom>
        </p:spPr>
        <p:txBody>
          <a:bodyPr lIns="91422" tIns="91422" rIns="91422" bIns="91422" anchor="ctr"/>
          <a:lstStyle>
            <a:lvl1pPr algn="ct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1_Custom Layout 2 1 1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3"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FFFFFF"/>
                </a:solidFill>
              </a:defRPr>
            </a:lvl1pPr>
          </a:lstStyle>
          <a:p>
            <a:r>
              <a:t>© 2026 WorldQuant University. All Rights Reserved</a:t>
            </a:r>
          </a:p>
        </p:txBody>
      </p:sp>
      <p:pic>
        <p:nvPicPr>
          <p:cNvPr id="74" name="Google Shape;123;p35" descr="Google Shape;123;p35"/>
          <p:cNvPicPr>
            <a:picLocks noChangeAspect="1"/>
          </p:cNvPicPr>
          <p:nvPr/>
        </p:nvPicPr>
        <p:blipFill>
          <a:blip r:embed="rId3"/>
          <a:stretch>
            <a:fillRect/>
          </a:stretch>
        </p:blipFill>
        <p:spPr>
          <a:xfrm>
            <a:off x="6126479" y="365758"/>
            <a:ext cx="2693630" cy="902477"/>
          </a:xfrm>
          <a:prstGeom prst="rect">
            <a:avLst/>
          </a:prstGeom>
          <a:ln w="12700">
            <a:miter lim="400000"/>
          </a:ln>
        </p:spPr>
      </p:pic>
      <p:sp>
        <p:nvSpPr>
          <p:cNvPr id="75" name="Click to add closing statement, reminder, or thank you note"/>
          <p:cNvSpPr txBox="1">
            <a:spLocks noGrp="1"/>
          </p:cNvSpPr>
          <p:nvPr>
            <p:ph type="title" hasCustomPrompt="1"/>
          </p:nvPr>
        </p:nvSpPr>
        <p:spPr>
          <a:xfrm>
            <a:off x="1166157" y="1444968"/>
            <a:ext cx="6811686" cy="2253564"/>
          </a:xfrm>
          <a:prstGeom prst="rect">
            <a:avLst/>
          </a:prstGeom>
        </p:spPr>
        <p:txBody>
          <a:bodyPr anchor="ctr"/>
          <a:lstStyle>
            <a:lvl1pPr algn="ctr">
              <a:defRPr sz="3600"/>
            </a:lvl1pPr>
          </a:lstStyle>
          <a:p>
            <a:r>
              <a:t>Click to add closing statement, reminder, or thank you note</a:t>
            </a:r>
          </a:p>
        </p:txBody>
      </p:sp>
      <p:sp>
        <p:nvSpPr>
          <p:cNvPr id="76" name="Slide Number"/>
          <p:cNvSpPr txBox="1">
            <a:spLocks noGrp="1"/>
          </p:cNvSpPr>
          <p:nvPr>
            <p:ph type="sldNum" sz="quarter" idx="2"/>
          </p:nvPr>
        </p:nvSpPr>
        <p:spPr>
          <a:xfrm>
            <a:off x="4375342" y="4487245"/>
            <a:ext cx="393315" cy="380230"/>
          </a:xfrm>
          <a:prstGeom prst="rect">
            <a:avLst/>
          </a:prstGeom>
        </p:spPr>
        <p:txBody>
          <a:bodyPr lIns="91422" tIns="91422" rIns="91422" bIns="91422" anchor="ctr"/>
          <a:lstStyle>
            <a:lvl1pPr algn="ct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Blank">
    <p:bg>
      <p:bgPr>
        <a:solidFill>
          <a:srgbClr val="FFFFFF"/>
        </a:solidFill>
        <a:effectLst/>
      </p:bgPr>
    </p:bg>
    <p:spTree>
      <p:nvGrpSpPr>
        <p:cNvPr id="1" name=""/>
        <p:cNvGrpSpPr/>
        <p:nvPr/>
      </p:nvGrpSpPr>
      <p:grpSpPr>
        <a:xfrm>
          <a:off x="0" y="0"/>
          <a:ext cx="0" cy="0"/>
          <a:chOff x="0" y="0"/>
          <a:chExt cx="0" cy="0"/>
        </a:xfrm>
      </p:grpSpPr>
      <p:sp>
        <p:nvSpPr>
          <p:cNvPr id="83" name="Slide Number"/>
          <p:cNvSpPr txBox="1">
            <a:spLocks noGrp="1"/>
          </p:cNvSpPr>
          <p:nvPr>
            <p:ph type="sldNum" sz="quarter" idx="2"/>
          </p:nvPr>
        </p:nvSpPr>
        <p:spPr>
          <a:xfrm>
            <a:off x="7460960" y="4812658"/>
            <a:ext cx="197141" cy="183053"/>
          </a:xfrm>
          <a:prstGeom prst="rect">
            <a:avLst/>
          </a:prstGeom>
        </p:spPr>
        <p:txBody>
          <a:bodyPr lIns="34289" tIns="34289" rIns="34289" bIns="34289" anchor="ctr"/>
          <a:lstStyle>
            <a:lvl1pPr algn="r" defTabSz="342900">
              <a:defRPr sz="900" b="0">
                <a:solidFill>
                  <a:srgbClr val="888888"/>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1_Custom Layout 2 1 1 2 1">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0"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FFFFFF"/>
                </a:solidFill>
              </a:defRPr>
            </a:lvl1pPr>
          </a:lstStyle>
          <a:p>
            <a:r>
              <a:t>© 2026 WorldQuant University. All Rights Reserved</a:t>
            </a:r>
          </a:p>
        </p:txBody>
      </p:sp>
      <p:sp>
        <p:nvSpPr>
          <p:cNvPr id="91" name="Click to add presentation title"/>
          <p:cNvSpPr txBox="1">
            <a:spLocks noGrp="1"/>
          </p:cNvSpPr>
          <p:nvPr>
            <p:ph type="title" hasCustomPrompt="1"/>
          </p:nvPr>
        </p:nvSpPr>
        <p:spPr>
          <a:xfrm>
            <a:off x="989748" y="1608256"/>
            <a:ext cx="7164493" cy="1542991"/>
          </a:xfrm>
          <a:prstGeom prst="rect">
            <a:avLst/>
          </a:prstGeom>
        </p:spPr>
        <p:txBody>
          <a:bodyPr anchor="ctr"/>
          <a:lstStyle>
            <a:lvl1pPr algn="ctr">
              <a:defRPr sz="3600">
                <a:solidFill>
                  <a:srgbClr val="FFFFFF"/>
                </a:solidFill>
              </a:defRPr>
            </a:lvl1pPr>
          </a:lstStyle>
          <a:p>
            <a:r>
              <a:t>Click to add presentation title</a:t>
            </a:r>
          </a:p>
        </p:txBody>
      </p:sp>
      <p:sp>
        <p:nvSpPr>
          <p:cNvPr id="92" name="Body Level One…"/>
          <p:cNvSpPr txBox="1">
            <a:spLocks noGrp="1"/>
          </p:cNvSpPr>
          <p:nvPr>
            <p:ph type="body" sz="quarter" idx="1" hasCustomPrompt="1"/>
          </p:nvPr>
        </p:nvSpPr>
        <p:spPr>
          <a:xfrm>
            <a:off x="1590668" y="3303889"/>
            <a:ext cx="5962656" cy="393603"/>
          </a:xfrm>
          <a:prstGeom prst="rect">
            <a:avLst/>
          </a:prstGeom>
        </p:spPr>
        <p:txBody>
          <a:bodyPr anchor="ctr"/>
          <a:lstStyle>
            <a:lvl1pPr marL="114300" indent="0" algn="ctr">
              <a:lnSpc>
                <a:spcPct val="100000"/>
              </a:lnSpc>
              <a:buClrTx/>
              <a:buSzTx/>
              <a:buFontTx/>
              <a:buNone/>
              <a:defRPr i="1">
                <a:solidFill>
                  <a:srgbClr val="FFFFFF"/>
                </a:solidFill>
              </a:defRPr>
            </a:lvl1pPr>
            <a:lvl2pPr marL="114300" indent="114300" algn="ctr">
              <a:lnSpc>
                <a:spcPct val="100000"/>
              </a:lnSpc>
              <a:buClrTx/>
              <a:buSzTx/>
              <a:buFontTx/>
              <a:buNone/>
              <a:defRPr i="1">
                <a:solidFill>
                  <a:srgbClr val="FFFFFF"/>
                </a:solidFill>
              </a:defRPr>
            </a:lvl2pPr>
            <a:lvl3pPr marL="114300" indent="114300" algn="ctr">
              <a:lnSpc>
                <a:spcPct val="100000"/>
              </a:lnSpc>
              <a:buClrTx/>
              <a:buSzTx/>
              <a:buFontTx/>
              <a:buNone/>
              <a:defRPr i="1">
                <a:solidFill>
                  <a:srgbClr val="FFFFFF"/>
                </a:solidFill>
              </a:defRPr>
            </a:lvl3pPr>
            <a:lvl4pPr marL="114300" indent="114300" algn="ctr">
              <a:lnSpc>
                <a:spcPct val="100000"/>
              </a:lnSpc>
              <a:buClrTx/>
              <a:buSzTx/>
              <a:buFontTx/>
              <a:buNone/>
              <a:defRPr i="1">
                <a:solidFill>
                  <a:srgbClr val="FFFFFF"/>
                </a:solidFill>
              </a:defRPr>
            </a:lvl4pPr>
            <a:lvl5pPr marL="114300" indent="114300" algn="ctr">
              <a:lnSpc>
                <a:spcPct val="100000"/>
              </a:lnSpc>
              <a:buClrTx/>
              <a:buSzTx/>
              <a:buFontTx/>
              <a:buNone/>
              <a:defRPr i="1">
                <a:solidFill>
                  <a:srgbClr val="FFFFFF"/>
                </a:solidFill>
              </a:defRPr>
            </a:lvl5pPr>
          </a:lstStyle>
          <a:p>
            <a:r>
              <a:t>Click to add presentation subtitle</a:t>
            </a:r>
          </a:p>
          <a:p>
            <a:pPr lvl="1"/>
            <a:endParaRPr/>
          </a:p>
          <a:p>
            <a:pPr lvl="2"/>
            <a:endParaRPr/>
          </a:p>
          <a:p>
            <a:pPr lvl="3"/>
            <a:endParaRPr/>
          </a:p>
          <a:p>
            <a:pPr lvl="4"/>
            <a:endParaRPr/>
          </a:p>
        </p:txBody>
      </p:sp>
      <p:pic>
        <p:nvPicPr>
          <p:cNvPr id="93" name="Google Shape;123;p35" descr="Google Shape;123;p35"/>
          <p:cNvPicPr>
            <a:picLocks noChangeAspect="1"/>
          </p:cNvPicPr>
          <p:nvPr/>
        </p:nvPicPr>
        <p:blipFill>
          <a:blip r:embed="rId3"/>
          <a:stretch>
            <a:fillRect/>
          </a:stretch>
        </p:blipFill>
        <p:spPr>
          <a:xfrm>
            <a:off x="457200" y="457200"/>
            <a:ext cx="2285801" cy="756823"/>
          </a:xfrm>
          <a:prstGeom prst="rect">
            <a:avLst/>
          </a:prstGeom>
          <a:ln w="12700">
            <a:miter lim="400000"/>
          </a:ln>
        </p:spPr>
      </p:pic>
      <p:sp>
        <p:nvSpPr>
          <p:cNvPr id="94" name="Google Shape;34;p12"/>
          <p:cNvSpPr txBox="1">
            <a:spLocks noGrp="1"/>
          </p:cNvSpPr>
          <p:nvPr>
            <p:ph type="body" sz="quarter" idx="21" hasCustomPrompt="1"/>
          </p:nvPr>
        </p:nvSpPr>
        <p:spPr>
          <a:xfrm>
            <a:off x="5624098" y="4166782"/>
            <a:ext cx="3086103" cy="253651"/>
          </a:xfrm>
          <a:prstGeom prst="rect">
            <a:avLst/>
          </a:prstGeom>
        </p:spPr>
        <p:txBody>
          <a:bodyPr anchor="ctr"/>
          <a:lstStyle>
            <a:lvl1pPr marL="0" indent="45261" algn="r" defTabSz="362102">
              <a:buClrTx/>
              <a:buSzTx/>
              <a:buFontTx/>
              <a:buNone/>
              <a:defRPr sz="400" b="1">
                <a:solidFill>
                  <a:srgbClr val="35EFEA"/>
                </a:solidFill>
              </a:defRPr>
            </a:lvl1pPr>
          </a:lstStyle>
          <a:p>
            <a:r>
              <a:t>Click to add your name</a:t>
            </a:r>
          </a:p>
        </p:txBody>
      </p:sp>
      <p:sp>
        <p:nvSpPr>
          <p:cNvPr id="95" name="Google Shape;34;p12"/>
          <p:cNvSpPr txBox="1">
            <a:spLocks noGrp="1"/>
          </p:cNvSpPr>
          <p:nvPr>
            <p:ph type="body" sz="quarter" idx="22" hasCustomPrompt="1"/>
          </p:nvPr>
        </p:nvSpPr>
        <p:spPr>
          <a:xfrm>
            <a:off x="5624098" y="4550535"/>
            <a:ext cx="3086103" cy="253651"/>
          </a:xfrm>
          <a:prstGeom prst="rect">
            <a:avLst/>
          </a:prstGeom>
        </p:spPr>
        <p:txBody>
          <a:bodyPr anchor="ctr"/>
          <a:lstStyle>
            <a:lvl1pPr marL="0" indent="51432" algn="r" defTabSz="411479">
              <a:buClrTx/>
              <a:buSzTx/>
              <a:buFontTx/>
              <a:buNone/>
              <a:defRPr sz="400" i="1">
                <a:solidFill>
                  <a:srgbClr val="35EFEA"/>
                </a:solidFill>
              </a:defRPr>
            </a:lvl1pPr>
          </a:lstStyle>
          <a:p>
            <a:r>
              <a:t>Click to add  date of presentation</a:t>
            </a:r>
          </a:p>
        </p:txBody>
      </p:sp>
      <p:sp>
        <p:nvSpPr>
          <p:cNvPr id="96" name="Slide Number"/>
          <p:cNvSpPr txBox="1">
            <a:spLocks noGrp="1"/>
          </p:cNvSpPr>
          <p:nvPr>
            <p:ph type="sldNum" sz="quarter" idx="2"/>
          </p:nvPr>
        </p:nvSpPr>
        <p:spPr>
          <a:xfrm>
            <a:off x="6279548" y="4635137"/>
            <a:ext cx="273652" cy="264251"/>
          </a:xfrm>
          <a:prstGeom prst="rect">
            <a:avLst/>
          </a:prstGeom>
        </p:spPr>
        <p:txBody>
          <a:bodyPr anchor="ctr"/>
          <a:lstStyle>
            <a:lvl1pPr algn="r">
              <a:defRPr sz="1200" b="0"/>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1"/>
          <a:srcRect/>
          <a:stretch>
            <a:fillRect/>
          </a:stretch>
        </a:blipFill>
        <a:effectLst/>
      </p:bgPr>
    </p:bg>
    <p:spTree>
      <p:nvGrpSpPr>
        <p:cNvPr id="1" name=""/>
        <p:cNvGrpSpPr/>
        <p:nvPr/>
      </p:nvGrpSpPr>
      <p:grpSpPr>
        <a:xfrm>
          <a:off x="0" y="0"/>
          <a:ext cx="0" cy="0"/>
          <a:chOff x="0" y="0"/>
          <a:chExt cx="0" cy="0"/>
        </a:xfrm>
      </p:grpSpPr>
      <p:sp>
        <p:nvSpPr>
          <p:cNvPr id="2" name="Footer Placeholder 1"/>
          <p:cNvSpPr txBox="1"/>
          <p:nvPr/>
        </p:nvSpPr>
        <p:spPr>
          <a:xfrm>
            <a:off x="3074667" y="4916344"/>
            <a:ext cx="2994663" cy="214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900">
                <a:solidFill>
                  <a:srgbClr val="1F1749"/>
                </a:solidFill>
              </a:defRPr>
            </a:lvl1pPr>
          </a:lstStyle>
          <a:p>
            <a:r>
              <a:t>© 2026 WorldQuant University. All Rights Reserved</a:t>
            </a:r>
          </a:p>
        </p:txBody>
      </p:sp>
      <p:sp>
        <p:nvSpPr>
          <p:cNvPr id="3" name="Click to add slide title"/>
          <p:cNvSpPr txBox="1">
            <a:spLocks noGrp="1"/>
          </p:cNvSpPr>
          <p:nvPr>
            <p:ph type="title" hasCustomPrompt="1"/>
          </p:nvPr>
        </p:nvSpPr>
        <p:spPr>
          <a:xfrm>
            <a:off x="365758" y="609595"/>
            <a:ext cx="8520604" cy="5727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ormAutofit/>
          </a:bodyPr>
          <a:lstStyle/>
          <a:p>
            <a:r>
              <a:t>Click to add slide title</a:t>
            </a:r>
          </a:p>
        </p:txBody>
      </p:sp>
      <p:sp>
        <p:nvSpPr>
          <p:cNvPr id="4" name="Body Level One…"/>
          <p:cNvSpPr txBox="1">
            <a:spLocks noGrp="1"/>
          </p:cNvSpPr>
          <p:nvPr>
            <p:ph type="body" idx="1"/>
          </p:nvPr>
        </p:nvSpPr>
        <p:spPr>
          <a:xfrm>
            <a:off x="365758" y="1354320"/>
            <a:ext cx="8520601" cy="2954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8478414" y="4396982"/>
            <a:ext cx="301905" cy="288820"/>
          </a:xfrm>
          <a:prstGeom prst="rect">
            <a:avLst/>
          </a:prstGeom>
          <a:ln w="12700">
            <a:miter lim="400000"/>
          </a:ln>
        </p:spPr>
        <p:txBody>
          <a:bodyPr wrap="none" lIns="45718" tIns="45718" rIns="45718" bIns="45718">
            <a:spAutoFit/>
          </a:bodyPr>
          <a:lstStyle>
            <a:lvl1pPr>
              <a:defRPr b="1"/>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F1749"/>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1pPr>
      <a:lvl2pPr marL="1050469" marR="0" indent="-453571"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2pPr>
      <a:lvl3pPr marL="15076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3pPr>
      <a:lvl4pPr marL="19648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4pPr>
      <a:lvl5pPr marL="24220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5pPr>
      <a:lvl6pPr marL="2879270" marR="0" indent="-453570"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6pPr>
      <a:lvl7pPr marL="33364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7pPr>
      <a:lvl8pPr marL="37936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8pPr>
      <a:lvl9pPr marL="4250869" marR="0" indent="-453569" algn="l" defTabSz="914400" rtl="0" latinLnBrk="0">
        <a:lnSpc>
          <a:spcPct val="115000"/>
        </a:lnSpc>
        <a:spcBef>
          <a:spcPts val="0"/>
        </a:spcBef>
        <a:spcAft>
          <a:spcPts val="0"/>
        </a:spcAft>
        <a:buClr>
          <a:srgbClr val="423A6D"/>
        </a:buClr>
        <a:buSzPts val="2000"/>
        <a:buFont typeface="Helvetica"/>
        <a:buChar char="■"/>
        <a:tabLst/>
        <a:defRPr sz="2000" b="0" i="0" u="none" strike="noStrike" cap="none" spc="0" baseline="0">
          <a:solidFill>
            <a:srgbClr val="1F1749"/>
          </a:solidFill>
          <a:uFillTx/>
          <a:latin typeface="+mj-lt"/>
          <a:ea typeface="+mj-ea"/>
          <a:cs typeface="+mj-cs"/>
          <a:sym typeface="Arial"/>
        </a:defRPr>
      </a:lvl9pPr>
    </p:bodyStyle>
    <p:otherStyle>
      <a:lvl1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1400" b="1"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lide Number Placeholder 1"/>
          <p:cNvSpPr txBox="1">
            <a:spLocks noGrp="1"/>
          </p:cNvSpPr>
          <p:nvPr>
            <p:ph type="sldNum" sz="quarter" idx="4294967295"/>
          </p:nvPr>
        </p:nvSpPr>
        <p:spPr>
          <a:xfrm>
            <a:off x="4424781" y="4487243"/>
            <a:ext cx="294431" cy="38023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chor="ctr"/>
          <a:lstStyle>
            <a:lvl1pPr algn="ctr">
              <a:defRPr>
                <a:solidFill>
                  <a:srgbClr val="FFFFFF"/>
                </a:solidFill>
              </a:defRPr>
            </a:lvl1pPr>
          </a:lstStyle>
          <a:p>
            <a:fld id="{86CB4B4D-7CA3-9044-876B-883B54F8677D}" type="slidenum">
              <a:rPr/>
              <a:t>1</a:t>
            </a:fld>
            <a:endParaRPr/>
          </a:p>
        </p:txBody>
      </p:sp>
      <p:sp>
        <p:nvSpPr>
          <p:cNvPr id="106" name="Title 2"/>
          <p:cNvSpPr txBox="1">
            <a:spLocks noGrp="1"/>
          </p:cNvSpPr>
          <p:nvPr>
            <p:ph type="title"/>
          </p:nvPr>
        </p:nvSpPr>
        <p:spPr>
          <a:xfrm>
            <a:off x="21585" y="92041"/>
            <a:ext cx="1877337" cy="596133"/>
          </a:xfrm>
          <a:prstGeom prst="rect">
            <a:avLst/>
          </a:prstGeom>
        </p:spPr>
        <p:txBody>
          <a:bodyPr/>
          <a:lstStyle>
            <a:lvl1pPr>
              <a:defRPr sz="2000">
                <a:solidFill>
                  <a:srgbClr val="FFFFFF"/>
                </a:solidFill>
              </a:defRPr>
            </a:lvl1pPr>
          </a:lstStyle>
          <a:p>
            <a:r>
              <a:t>Group 14074</a:t>
            </a:r>
          </a:p>
        </p:txBody>
      </p:sp>
      <p:sp>
        <p:nvSpPr>
          <p:cNvPr id="107" name="Subtitle 3"/>
          <p:cNvSpPr txBox="1">
            <a:spLocks noGrp="1"/>
          </p:cNvSpPr>
          <p:nvPr>
            <p:ph type="body" sz="half" idx="1"/>
          </p:nvPr>
        </p:nvSpPr>
        <p:spPr>
          <a:xfrm>
            <a:off x="2390973" y="1457699"/>
            <a:ext cx="4686694" cy="2228102"/>
          </a:xfrm>
          <a:prstGeom prst="rect">
            <a:avLst/>
          </a:prstGeom>
        </p:spPr>
        <p:txBody>
          <a:bodyPr anchor="ctr"/>
          <a:lstStyle/>
          <a:p>
            <a:pPr marL="616914" indent="-504748" algn="l" defTabSz="807597">
              <a:lnSpc>
                <a:spcPct val="120000"/>
              </a:lnSpc>
              <a:buSzPts val="1900"/>
              <a:defRPr sz="1919" b="1" i="0">
                <a:solidFill>
                  <a:srgbClr val="FFFFFF"/>
                </a:solidFill>
              </a:defRPr>
            </a:pPr>
            <a:r>
              <a:t>Taoufiq OUEDRAOGO  </a:t>
            </a:r>
            <a:r>
              <a:rPr b="0"/>
              <a:t> </a:t>
            </a:r>
            <a:r>
              <a:rPr b="0" i="1" u="sng"/>
              <a:t>taoufiq.ouedraogo@outlook.com</a:t>
            </a:r>
            <a:r>
              <a:rPr b="0"/>
              <a:t>      </a:t>
            </a:r>
          </a:p>
          <a:p>
            <a:pPr marL="616914" indent="-504748" algn="l" defTabSz="807597">
              <a:lnSpc>
                <a:spcPct val="120000"/>
              </a:lnSpc>
              <a:buSzPts val="1900"/>
              <a:defRPr sz="1919" i="0">
                <a:solidFill>
                  <a:srgbClr val="FFFFFF"/>
                </a:solidFill>
              </a:defRPr>
            </a:pPr>
            <a:endParaRPr b="0"/>
          </a:p>
          <a:p>
            <a:pPr marL="616914" indent="-504748" algn="l" defTabSz="807597">
              <a:lnSpc>
                <a:spcPct val="120000"/>
              </a:lnSpc>
              <a:buSzPts val="1900"/>
              <a:defRPr sz="1919" i="0">
                <a:solidFill>
                  <a:srgbClr val="FFFFFF"/>
                </a:solidFill>
              </a:defRPr>
            </a:pPr>
            <a:endParaRPr b="0"/>
          </a:p>
          <a:p>
            <a:pPr marL="616914" indent="-504748" algn="l" defTabSz="807597">
              <a:lnSpc>
                <a:spcPct val="120000"/>
              </a:lnSpc>
              <a:buSzPts val="1900"/>
              <a:defRPr sz="1919" b="1" i="0">
                <a:solidFill>
                  <a:srgbClr val="FFFFFF"/>
                </a:solidFill>
              </a:defRPr>
            </a:pPr>
            <a:r>
              <a:t>Wickliff Siriga OGARI  </a:t>
            </a:r>
            <a:r>
              <a:rPr b="0"/>
              <a:t> </a:t>
            </a:r>
            <a:r>
              <a:rPr b="0" i="1" u="sng"/>
              <a:t>wycliffeogari@gmail.com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9"/>
          <p:cNvSpPr txBox="1">
            <a:spLocks noGrp="1"/>
          </p:cNvSpPr>
          <p:nvPr>
            <p:ph type="sldNum" sz="quarter" idx="4294967295"/>
          </p:nvPr>
        </p:nvSpPr>
        <p:spPr>
          <a:xfrm>
            <a:off x="8487432" y="4406000"/>
            <a:ext cx="203021" cy="28882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112"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Government Issued Photo ID</a:t>
            </a:r>
          </a:p>
        </p:txBody>
      </p:sp>
      <p:grpSp>
        <p:nvGrpSpPr>
          <p:cNvPr id="117" name="Group"/>
          <p:cNvGrpSpPr/>
          <p:nvPr/>
        </p:nvGrpSpPr>
        <p:grpSpPr>
          <a:xfrm>
            <a:off x="225365" y="1377482"/>
            <a:ext cx="2341799" cy="3619755"/>
            <a:chOff x="0" y="0"/>
            <a:chExt cx="2341798" cy="3619754"/>
          </a:xfrm>
        </p:grpSpPr>
        <p:pic>
          <p:nvPicPr>
            <p:cNvPr id="113" name="Image" descr="Image"/>
            <p:cNvPicPr>
              <a:picLocks noChangeAspect="1"/>
            </p:cNvPicPr>
            <p:nvPr/>
          </p:nvPicPr>
          <p:blipFill>
            <a:blip r:embed="rId3"/>
            <a:srcRect l="11767" t="12454" r="54480" b="50151"/>
            <a:stretch>
              <a:fillRect/>
            </a:stretch>
          </p:blipFill>
          <p:spPr>
            <a:xfrm>
              <a:off x="0" y="0"/>
              <a:ext cx="2341799" cy="3357478"/>
            </a:xfrm>
            <a:prstGeom prst="rect">
              <a:avLst/>
            </a:prstGeom>
            <a:ln w="12700" cap="flat">
              <a:noFill/>
              <a:miter lim="400000"/>
            </a:ln>
            <a:effectLst/>
          </p:spPr>
        </p:pic>
        <p:grpSp>
          <p:nvGrpSpPr>
            <p:cNvPr id="116" name="Group"/>
            <p:cNvGrpSpPr/>
            <p:nvPr/>
          </p:nvGrpSpPr>
          <p:grpSpPr>
            <a:xfrm>
              <a:off x="851239" y="3231275"/>
              <a:ext cx="410880" cy="388480"/>
              <a:chOff x="0" y="0"/>
              <a:chExt cx="410878" cy="388479"/>
            </a:xfrm>
          </p:grpSpPr>
          <p:sp>
            <p:nvSpPr>
              <p:cNvPr id="114" name="Oval"/>
              <p:cNvSpPr/>
              <p:nvPr/>
            </p:nvSpPr>
            <p:spPr>
              <a:xfrm>
                <a:off x="-1" y="20230"/>
                <a:ext cx="410880" cy="358035"/>
              </a:xfrm>
              <a:prstGeom prst="ellipse">
                <a:avLst/>
              </a:prstGeom>
              <a:noFill/>
              <a:ln w="38100" cap="flat">
                <a:solidFill>
                  <a:srgbClr val="F31413"/>
                </a:solidFill>
                <a:prstDash val="solid"/>
                <a:round/>
              </a:ln>
              <a:effectLst>
                <a:outerShdw blurRad="38100" dist="23000" dir="5400000" rotWithShape="0">
                  <a:srgbClr val="000000">
                    <a:alpha val="35000"/>
                  </a:srgbClr>
                </a:outerShdw>
              </a:effectLst>
            </p:spPr>
            <p:txBody>
              <a:bodyPr wrap="square" lIns="45718" tIns="45718" rIns="45718" bIns="45718" numCol="1" anchor="ctr">
                <a:noAutofit/>
              </a:bodyPr>
              <a:lstStyle/>
              <a:p>
                <a:endParaRPr/>
              </a:p>
            </p:txBody>
          </p:sp>
          <p:sp>
            <p:nvSpPr>
              <p:cNvPr id="115" name="1"/>
              <p:cNvSpPr txBox="1"/>
              <p:nvPr/>
            </p:nvSpPr>
            <p:spPr>
              <a:xfrm>
                <a:off x="75129" y="0"/>
                <a:ext cx="260618" cy="3884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noAutofit/>
              </a:bodyPr>
              <a:lstStyle>
                <a:lvl1pPr>
                  <a:defRPr sz="2000" b="1"/>
                </a:lvl1pPr>
              </a:lstStyle>
              <a:p>
                <a:r>
                  <a:t>1</a:t>
                </a:r>
              </a:p>
            </p:txBody>
          </p:sp>
        </p:grpSp>
      </p:grpSp>
      <p:grpSp>
        <p:nvGrpSpPr>
          <p:cNvPr id="122" name="Group"/>
          <p:cNvGrpSpPr/>
          <p:nvPr/>
        </p:nvGrpSpPr>
        <p:grpSpPr>
          <a:xfrm>
            <a:off x="5607483" y="889969"/>
            <a:ext cx="2562690" cy="3931622"/>
            <a:chOff x="0" y="0"/>
            <a:chExt cx="2562689" cy="3931620"/>
          </a:xfrm>
        </p:grpSpPr>
        <p:pic>
          <p:nvPicPr>
            <p:cNvPr id="118" name="Image" descr="Image"/>
            <p:cNvPicPr>
              <a:picLocks noChangeAspect="1"/>
            </p:cNvPicPr>
            <p:nvPr/>
          </p:nvPicPr>
          <p:blipFill>
            <a:blip r:embed="rId3"/>
            <a:srcRect l="11031" t="49739" r="50620" b="7869"/>
            <a:stretch>
              <a:fillRect/>
            </a:stretch>
          </p:blipFill>
          <p:spPr>
            <a:xfrm>
              <a:off x="0" y="0"/>
              <a:ext cx="2562690" cy="3666117"/>
            </a:xfrm>
            <a:prstGeom prst="rect">
              <a:avLst/>
            </a:prstGeom>
            <a:ln w="12700" cap="flat">
              <a:noFill/>
              <a:miter lim="400000"/>
            </a:ln>
            <a:effectLst/>
          </p:spPr>
        </p:pic>
        <p:grpSp>
          <p:nvGrpSpPr>
            <p:cNvPr id="121" name="Group"/>
            <p:cNvGrpSpPr/>
            <p:nvPr/>
          </p:nvGrpSpPr>
          <p:grpSpPr>
            <a:xfrm>
              <a:off x="1171967" y="3545633"/>
              <a:ext cx="419270" cy="385988"/>
              <a:chOff x="0" y="0"/>
              <a:chExt cx="419268" cy="385987"/>
            </a:xfrm>
          </p:grpSpPr>
          <p:sp>
            <p:nvSpPr>
              <p:cNvPr id="119" name="Oval"/>
              <p:cNvSpPr/>
              <p:nvPr/>
            </p:nvSpPr>
            <p:spPr>
              <a:xfrm>
                <a:off x="0" y="20643"/>
                <a:ext cx="419269" cy="365345"/>
              </a:xfrm>
              <a:prstGeom prst="ellipse">
                <a:avLst/>
              </a:prstGeom>
              <a:noFill/>
              <a:ln w="38100" cap="flat">
                <a:solidFill>
                  <a:srgbClr val="F31413"/>
                </a:solidFill>
                <a:prstDash val="solid"/>
                <a:round/>
              </a:ln>
              <a:effectLst>
                <a:outerShdw blurRad="38100" dist="23000" dir="5400000" rotWithShape="0">
                  <a:srgbClr val="000000">
                    <a:alpha val="35000"/>
                  </a:srgbClr>
                </a:outerShdw>
              </a:effectLst>
            </p:spPr>
            <p:txBody>
              <a:bodyPr wrap="square" lIns="45718" tIns="45718" rIns="45718" bIns="45718" numCol="1" anchor="ctr">
                <a:noAutofit/>
              </a:bodyPr>
              <a:lstStyle/>
              <a:p>
                <a:endParaRPr/>
              </a:p>
            </p:txBody>
          </p:sp>
          <p:sp>
            <p:nvSpPr>
              <p:cNvPr id="120" name="3"/>
              <p:cNvSpPr txBox="1"/>
              <p:nvPr/>
            </p:nvSpPr>
            <p:spPr>
              <a:xfrm>
                <a:off x="76664" y="-1"/>
                <a:ext cx="265941" cy="36565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noAutofit/>
              </a:bodyPr>
              <a:lstStyle>
                <a:lvl1pPr>
                  <a:defRPr sz="2000" b="1"/>
                </a:lvl1pPr>
              </a:lstStyle>
              <a:p>
                <a:r>
                  <a:t>3</a:t>
                </a:r>
              </a:p>
            </p:txBody>
          </p:sp>
        </p:grpSp>
      </p:grpSp>
      <p:grpSp>
        <p:nvGrpSpPr>
          <p:cNvPr id="127" name="Group"/>
          <p:cNvGrpSpPr/>
          <p:nvPr/>
        </p:nvGrpSpPr>
        <p:grpSpPr>
          <a:xfrm>
            <a:off x="3013700" y="1396978"/>
            <a:ext cx="2257693" cy="3514568"/>
            <a:chOff x="0" y="0"/>
            <a:chExt cx="2257692" cy="3514567"/>
          </a:xfrm>
        </p:grpSpPr>
        <p:pic>
          <p:nvPicPr>
            <p:cNvPr id="123" name="Image" descr="Image"/>
            <p:cNvPicPr>
              <a:picLocks noChangeAspect="1"/>
            </p:cNvPicPr>
            <p:nvPr/>
          </p:nvPicPr>
          <p:blipFill>
            <a:blip r:embed="rId3"/>
            <a:srcRect l="45612" t="12454" r="20697" b="50151"/>
            <a:stretch>
              <a:fillRect/>
            </a:stretch>
          </p:blipFill>
          <p:spPr>
            <a:xfrm>
              <a:off x="0" y="0"/>
              <a:ext cx="2257693" cy="3242940"/>
            </a:xfrm>
            <a:prstGeom prst="rect">
              <a:avLst/>
            </a:prstGeom>
            <a:ln w="12700" cap="flat">
              <a:noFill/>
              <a:miter lim="400000"/>
            </a:ln>
            <a:effectLst/>
          </p:spPr>
        </p:pic>
        <p:grpSp>
          <p:nvGrpSpPr>
            <p:cNvPr id="126" name="Group"/>
            <p:cNvGrpSpPr/>
            <p:nvPr/>
          </p:nvGrpSpPr>
          <p:grpSpPr>
            <a:xfrm>
              <a:off x="930479" y="3149207"/>
              <a:ext cx="396863" cy="365361"/>
              <a:chOff x="0" y="0"/>
              <a:chExt cx="396862" cy="365360"/>
            </a:xfrm>
          </p:grpSpPr>
          <p:sp>
            <p:nvSpPr>
              <p:cNvPr id="124" name="Oval"/>
              <p:cNvSpPr/>
              <p:nvPr/>
            </p:nvSpPr>
            <p:spPr>
              <a:xfrm>
                <a:off x="-1" y="19540"/>
                <a:ext cx="396864" cy="345821"/>
              </a:xfrm>
              <a:prstGeom prst="ellipse">
                <a:avLst/>
              </a:prstGeom>
              <a:noFill/>
              <a:ln w="38100" cap="flat">
                <a:solidFill>
                  <a:srgbClr val="F31413"/>
                </a:solidFill>
                <a:prstDash val="solid"/>
                <a:round/>
              </a:ln>
              <a:effectLst>
                <a:outerShdw blurRad="38100" dist="23000" dir="5400000" rotWithShape="0">
                  <a:srgbClr val="000000">
                    <a:alpha val="35000"/>
                  </a:srgbClr>
                </a:outerShdw>
              </a:effectLst>
            </p:spPr>
            <p:txBody>
              <a:bodyPr wrap="square" lIns="45718" tIns="45718" rIns="45718" bIns="45718" numCol="1" anchor="ctr">
                <a:noAutofit/>
              </a:bodyPr>
              <a:lstStyle/>
              <a:p>
                <a:endParaRPr/>
              </a:p>
            </p:txBody>
          </p:sp>
          <p:sp>
            <p:nvSpPr>
              <p:cNvPr id="125" name="2"/>
              <p:cNvSpPr/>
              <p:nvPr/>
            </p:nvSpPr>
            <p:spPr>
              <a:xfrm>
                <a:off x="72566" y="0"/>
                <a:ext cx="25172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000" b="1"/>
                </a:lvl1pPr>
              </a:lstStyle>
              <a:p>
                <a:r>
                  <a:t>2</a:t>
                </a:r>
              </a:p>
            </p:txBody>
          </p:sp>
        </p:gr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
          <p:cNvSpPr txBox="1">
            <a:spLocks noGrp="1"/>
          </p:cNvSpPr>
          <p:nvPr>
            <p:ph type="title"/>
          </p:nvPr>
        </p:nvSpPr>
        <p:spPr>
          <a:prstGeom prst="rect">
            <a:avLst/>
          </a:prstGeom>
        </p:spPr>
        <p:txBody>
          <a:bodyPr/>
          <a:lstStyle>
            <a:lvl1pPr>
              <a:tabLst>
                <a:tab pos="177800" algn="l"/>
                <a:tab pos="355600" algn="l"/>
                <a:tab pos="533400" algn="l"/>
                <a:tab pos="723900" algn="l"/>
                <a:tab pos="901700" algn="l"/>
                <a:tab pos="1079500" algn="l"/>
                <a:tab pos="1257300" algn="l"/>
                <a:tab pos="1447800" algn="l"/>
                <a:tab pos="1625600" algn="l"/>
                <a:tab pos="1803400" algn="l"/>
                <a:tab pos="1993900" algn="l"/>
                <a:tab pos="2171700" algn="l"/>
              </a:tabLst>
              <a:defRPr sz="3000" b="0">
                <a:latin typeface="Arial Black"/>
                <a:ea typeface="Arial Black"/>
                <a:cs typeface="Arial Black"/>
                <a:sym typeface="Arial Black"/>
              </a:defRPr>
            </a:lvl1pPr>
          </a:lstStyle>
          <a:p>
            <a:r>
              <a:t>Systematic Credit Risk Modeling under Macroeconomic Regimes</a:t>
            </a:r>
          </a:p>
        </p:txBody>
      </p:sp>
      <p:sp>
        <p:nvSpPr>
          <p:cNvPr id="132" name="Subtitle 2"/>
          <p:cNvSpPr txBox="1">
            <a:spLocks noGrp="1"/>
          </p:cNvSpPr>
          <p:nvPr>
            <p:ph type="body" sz="quarter" idx="1"/>
          </p:nvPr>
        </p:nvSpPr>
        <p:spPr>
          <a:xfrm>
            <a:off x="1590666" y="3303889"/>
            <a:ext cx="5962658" cy="393603"/>
          </a:xfrm>
          <a:prstGeom prst="rect">
            <a:avLst/>
          </a:prstGeom>
        </p:spPr>
        <p:txBody>
          <a:bodyPr/>
          <a:lstStyle>
            <a:lvl1pPr marL="0">
              <a:defRPr sz="1400" i="0">
                <a:latin typeface="Calibri"/>
                <a:ea typeface="Calibri"/>
                <a:cs typeface="Calibri"/>
                <a:sym typeface="Calibri"/>
              </a:defRPr>
            </a:lvl1pPr>
          </a:lstStyle>
          <a:p>
            <a:r>
              <a:t>MScFE Capstone Project  -  WorldQuant University</a:t>
            </a:r>
          </a:p>
        </p:txBody>
      </p:sp>
      <p:sp>
        <p:nvSpPr>
          <p:cNvPr id="133" name="Text Placeholder 3"/>
          <p:cNvSpPr txBox="1">
            <a:spLocks noGrp="1"/>
          </p:cNvSpPr>
          <p:nvPr>
            <p:ph type="body" idx="21"/>
          </p:nvPr>
        </p:nvSpPr>
        <p:spPr>
          <a:xfrm>
            <a:off x="5624098" y="4245230"/>
            <a:ext cx="3086103" cy="47145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indent="53434" defTabSz="427481">
              <a:defRPr sz="935">
                <a:solidFill>
                  <a:srgbClr val="CDCDCD"/>
                </a:solidFill>
              </a:defRPr>
            </a:pPr>
            <a:r>
              <a:t>Taoufiq OUEDRAOGO</a:t>
            </a:r>
          </a:p>
          <a:p>
            <a:pPr indent="53434" defTabSz="427481">
              <a:defRPr sz="935" b="0">
                <a:solidFill>
                  <a:srgbClr val="CDCDCD"/>
                </a:solidFill>
              </a:defRPr>
            </a:pPr>
            <a:r>
              <a:t>June 2026</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Box 5"/>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38"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Project Goal</a:t>
            </a:r>
          </a:p>
        </p:txBody>
      </p:sp>
      <p:sp>
        <p:nvSpPr>
          <p:cNvPr id="139" name="Text Placeholder 2"/>
          <p:cNvSpPr txBox="1">
            <a:spLocks noGrp="1"/>
          </p:cNvSpPr>
          <p:nvPr>
            <p:ph type="body" sz="quarter" idx="1"/>
          </p:nvPr>
        </p:nvSpPr>
        <p:spPr>
          <a:xfrm>
            <a:off x="365758" y="1402277"/>
            <a:ext cx="8520601" cy="473296"/>
          </a:xfrm>
          <a:prstGeom prst="rect">
            <a:avLst/>
          </a:prstGeom>
        </p:spPr>
        <p:txBody>
          <a:bodyPr/>
          <a:lstStyle>
            <a:lvl1pPr marL="160420" indent="-160420" defTabSz="12700">
              <a:lnSpc>
                <a:spcPct val="200000"/>
              </a:lnSpc>
              <a:buClrTx/>
              <a:buSzPct val="100000"/>
              <a:buFont typeface="Helvetica Neue"/>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00000"/>
                </a:solidFill>
              </a:defRPr>
            </a:lvl1pPr>
          </a:lstStyle>
          <a:p>
            <a:r>
              <a:t>   Build credit risk model that enhances probability of default (PD) with:</a:t>
            </a:r>
          </a:p>
        </p:txBody>
      </p:sp>
      <p:sp>
        <p:nvSpPr>
          <p:cNvPr id="140" name="Text Placeholder 2"/>
          <p:cNvSpPr txBox="1"/>
          <p:nvPr/>
        </p:nvSpPr>
        <p:spPr>
          <a:xfrm>
            <a:off x="365759" y="3539485"/>
            <a:ext cx="7901273" cy="5727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ormAutofit/>
          </a:bodyPr>
          <a:lstStyle>
            <a:lvl1pPr marL="160420" indent="-160420" defTabSz="12700">
              <a:lnSpc>
                <a:spcPct val="200000"/>
              </a:lnSpc>
              <a:buSzPct val="100000"/>
              <a:buFont typeface="Helvetica Neue"/>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vl1pPr>
          </a:lstStyle>
          <a:p>
            <a:r>
              <a:t>   Check whether macroeconomic regimes improve accuracy during stress periods</a:t>
            </a:r>
          </a:p>
        </p:txBody>
      </p:sp>
      <p:sp>
        <p:nvSpPr>
          <p:cNvPr id="141" name="Text Placeholder 2"/>
          <p:cNvSpPr txBox="1"/>
          <p:nvPr/>
        </p:nvSpPr>
        <p:spPr>
          <a:xfrm>
            <a:off x="392812" y="1894766"/>
            <a:ext cx="5286505" cy="13539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ormAutofit/>
          </a:bodyPr>
          <a:lstStyle/>
          <a:p>
            <a:pPr marL="721894" lvl="1" indent="-213894" defTabSz="12700">
              <a:lnSpc>
                <a:spcPct val="200000"/>
              </a:lnSpc>
              <a:buSzPct val="100000"/>
              <a:buAutoNum type="arabicParenBoth"/>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pPr>
            <a:r>
              <a:t>  Borrower-level financial characteristics</a:t>
            </a:r>
          </a:p>
          <a:p>
            <a:pPr marL="721894" lvl="1" indent="-213894" defTabSz="12700">
              <a:lnSpc>
                <a:spcPct val="200000"/>
              </a:lnSpc>
              <a:buSzPct val="100000"/>
              <a:buAutoNum type="arabicParenBoth"/>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pPr>
            <a:r>
              <a:t>   Macroeconomic conditions</a:t>
            </a:r>
          </a:p>
          <a:p>
            <a:pPr marL="721894" lvl="1" indent="-213894" defTabSz="12700">
              <a:lnSpc>
                <a:spcPct val="200000"/>
              </a:lnSpc>
              <a:buSzPct val="100000"/>
              <a:buAutoNum type="arabicParenBoth"/>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pPr>
            <a:r>
              <a:t>   Latent economic regimes inferred from data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39"/>
                                        </p:tgtEl>
                                        <p:attrNameLst>
                                          <p:attrName>style.visibility</p:attrName>
                                        </p:attrNameLst>
                                      </p:cBhvr>
                                      <p:to>
                                        <p:strVal val="visible"/>
                                      </p:to>
                                    </p:set>
                                    <p:animEffect transition="in" filter="wipe(left)">
                                      <p:cBhvr>
                                        <p:cTn id="7" dur="1000"/>
                                        <p:tgtEl>
                                          <p:spTgt spid="1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141"/>
                                        </p:tgtEl>
                                        <p:attrNameLst>
                                          <p:attrName>style.visibility</p:attrName>
                                        </p:attrNameLst>
                                      </p:cBhvr>
                                      <p:to>
                                        <p:strVal val="visible"/>
                                      </p:to>
                                    </p:set>
                                    <p:animEffect transition="in" filter="wipe(left)">
                                      <p:cBhvr>
                                        <p:cTn id="12" dur="1000"/>
                                        <p:tgtEl>
                                          <p:spTgt spid="1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140"/>
                                        </p:tgtEl>
                                        <p:attrNameLst>
                                          <p:attrName>style.visibility</p:attrName>
                                        </p:attrNameLst>
                                      </p:cBhvr>
                                      <p:to>
                                        <p:strVal val="visible"/>
                                      </p:to>
                                    </p:set>
                                    <p:animEffect transition="in" filter="wipe(left)">
                                      <p:cBhvr>
                                        <p:cTn id="17" dur="10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1" animBg="1" advAuto="0"/>
      <p:bldP spid="140" grpId="3" animBg="1" advAuto="0"/>
      <p:bldP spid="141" grpId="2"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_- visual selection (3).png" descr="_- visual selection (3).png"/>
          <p:cNvPicPr>
            <a:picLocks noChangeAspect="1"/>
          </p:cNvPicPr>
          <p:nvPr/>
        </p:nvPicPr>
        <p:blipFill>
          <a:blip r:embed="rId3"/>
          <a:srcRect l="8932" t="15086" r="6854" b="6335"/>
          <a:stretch>
            <a:fillRect/>
          </a:stretch>
        </p:blipFill>
        <p:spPr>
          <a:xfrm>
            <a:off x="2030775" y="1231704"/>
            <a:ext cx="4986609" cy="3888578"/>
          </a:xfrm>
          <a:prstGeom prst="rect">
            <a:avLst/>
          </a:prstGeom>
          <a:ln w="12700">
            <a:miter lim="400000"/>
          </a:ln>
        </p:spPr>
      </p:pic>
      <p:sp>
        <p:nvSpPr>
          <p:cNvPr id="146" name="TextBox 5"/>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147" name="Title 1"/>
          <p:cNvSpPr txBox="1">
            <a:spLocks noGrp="1"/>
          </p:cNvSpPr>
          <p:nvPr>
            <p:ph type="title"/>
          </p:nvPr>
        </p:nvSpPr>
        <p:spPr>
          <a:xfrm>
            <a:off x="365759" y="609595"/>
            <a:ext cx="8520602" cy="572703"/>
          </a:xfrm>
          <a:prstGeom prst="rect">
            <a:avLst/>
          </a:prstGeom>
        </p:spPr>
        <p:txBody>
          <a:bodyPr/>
          <a:lstStyle>
            <a:lvl1pPr>
              <a:defRPr sz="2300"/>
            </a:lvl1pPr>
          </a:lstStyle>
          <a:p>
            <a:r>
              <a:t>Project Importance - Credit Risk: A Complex Challenge</a:t>
            </a:r>
          </a:p>
        </p:txBody>
      </p:sp>
      <p:sp>
        <p:nvSpPr>
          <p:cNvPr id="148" name="Rounded Rectangle"/>
          <p:cNvSpPr/>
          <p:nvPr/>
        </p:nvSpPr>
        <p:spPr>
          <a:xfrm>
            <a:off x="1758962" y="3760349"/>
            <a:ext cx="1553111" cy="660436"/>
          </a:xfrm>
          <a:prstGeom prst="roundRect">
            <a:avLst>
              <a:gd name="adj" fmla="val 28845"/>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149" name="Rounded Rectangle"/>
          <p:cNvSpPr/>
          <p:nvPr/>
        </p:nvSpPr>
        <p:spPr>
          <a:xfrm>
            <a:off x="3007579" y="4361187"/>
            <a:ext cx="1553110" cy="660435"/>
          </a:xfrm>
          <a:prstGeom prst="roundRect">
            <a:avLst>
              <a:gd name="adj" fmla="val 28845"/>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150" name="Rounded Rectangle"/>
          <p:cNvSpPr/>
          <p:nvPr/>
        </p:nvSpPr>
        <p:spPr>
          <a:xfrm>
            <a:off x="4237418" y="3760349"/>
            <a:ext cx="1553111" cy="660436"/>
          </a:xfrm>
          <a:prstGeom prst="roundRect">
            <a:avLst>
              <a:gd name="adj" fmla="val 28845"/>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151" name="Rounded Rectangle"/>
          <p:cNvSpPr/>
          <p:nvPr/>
        </p:nvSpPr>
        <p:spPr>
          <a:xfrm>
            <a:off x="5575482" y="4431859"/>
            <a:ext cx="1553111" cy="660435"/>
          </a:xfrm>
          <a:prstGeom prst="roundRect">
            <a:avLst>
              <a:gd name="adj" fmla="val 28845"/>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48"/>
                                        </p:tgtEl>
                                        <p:attrNameLst>
                                          <p:attrName>style.visibility</p:attrName>
                                        </p:attrNameLst>
                                      </p:cBhvr>
                                      <p:to>
                                        <p:strVal val="visible"/>
                                      </p:to>
                                    </p:set>
                                    <p:animEffect transition="in" filter="wipe(left)">
                                      <p:cBhvr>
                                        <p:cTn id="7" dur="1000"/>
                                        <p:tgtEl>
                                          <p:spTgt spid="148"/>
                                        </p:tgtEl>
                                      </p:cBhvr>
                                    </p:animEffect>
                                  </p:childTnLst>
                                </p:cTn>
                              </p:par>
                            </p:childTnLst>
                          </p:cTn>
                        </p:par>
                        <p:par>
                          <p:cTn id="8" fill="hold">
                            <p:stCondLst>
                              <p:cond delay="1000"/>
                            </p:stCondLst>
                            <p:childTnLst>
                              <p:par>
                                <p:cTn id="9" presetID="22" presetClass="entr" presetSubtype="8" fill="hold" grpId="2" nodeType="afterEffect">
                                  <p:stCondLst>
                                    <p:cond delay="0"/>
                                  </p:stCondLst>
                                  <p:iterate>
                                    <p:tmAbs val="0"/>
                                  </p:iterate>
                                  <p:childTnLst>
                                    <p:set>
                                      <p:cBhvr>
                                        <p:cTn id="10" fill="hold"/>
                                        <p:tgtEl>
                                          <p:spTgt spid="149"/>
                                        </p:tgtEl>
                                        <p:attrNameLst>
                                          <p:attrName>style.visibility</p:attrName>
                                        </p:attrNameLst>
                                      </p:cBhvr>
                                      <p:to>
                                        <p:strVal val="visible"/>
                                      </p:to>
                                    </p:set>
                                    <p:animEffect transition="in" filter="wipe(left)">
                                      <p:cBhvr>
                                        <p:cTn id="11" dur="1000"/>
                                        <p:tgtEl>
                                          <p:spTgt spid="14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3" nodeType="clickEffect">
                                  <p:stCondLst>
                                    <p:cond delay="0"/>
                                  </p:stCondLst>
                                  <p:iterate>
                                    <p:tmAbs val="0"/>
                                  </p:iterate>
                                  <p:childTnLst>
                                    <p:set>
                                      <p:cBhvr>
                                        <p:cTn id="15" fill="hold"/>
                                        <p:tgtEl>
                                          <p:spTgt spid="150"/>
                                        </p:tgtEl>
                                        <p:attrNameLst>
                                          <p:attrName>style.visibility</p:attrName>
                                        </p:attrNameLst>
                                      </p:cBhvr>
                                      <p:to>
                                        <p:strVal val="visible"/>
                                      </p:to>
                                    </p:set>
                                    <p:animEffect transition="in" filter="wipe(left)">
                                      <p:cBhvr>
                                        <p:cTn id="16" dur="1000"/>
                                        <p:tgtEl>
                                          <p:spTgt spid="150"/>
                                        </p:tgtEl>
                                      </p:cBhvr>
                                    </p:animEffect>
                                  </p:childTnLst>
                                </p:cTn>
                              </p:par>
                            </p:childTnLst>
                          </p:cTn>
                        </p:par>
                        <p:par>
                          <p:cTn id="17" fill="hold">
                            <p:stCondLst>
                              <p:cond delay="1000"/>
                            </p:stCondLst>
                            <p:childTnLst>
                              <p:par>
                                <p:cTn id="18" presetID="22" presetClass="entr" presetSubtype="8" fill="hold" grpId="4" nodeType="afterEffect">
                                  <p:stCondLst>
                                    <p:cond delay="0"/>
                                  </p:stCondLst>
                                  <p:iterate>
                                    <p:tmAbs val="0"/>
                                  </p:iterate>
                                  <p:childTnLst>
                                    <p:set>
                                      <p:cBhvr>
                                        <p:cTn id="19" fill="hold"/>
                                        <p:tgtEl>
                                          <p:spTgt spid="151"/>
                                        </p:tgtEl>
                                        <p:attrNameLst>
                                          <p:attrName>style.visibility</p:attrName>
                                        </p:attrNameLst>
                                      </p:cBhvr>
                                      <p:to>
                                        <p:strVal val="visible"/>
                                      </p:to>
                                    </p:set>
                                    <p:animEffect transition="in" filter="wipe(left)">
                                      <p:cBhvr>
                                        <p:cTn id="20"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1" animBg="1" advAuto="0"/>
      <p:bldP spid="149" grpId="2" animBg="1" advAuto="0"/>
      <p:bldP spid="150" grpId="3" animBg="1" advAuto="0"/>
      <p:bldP spid="151" grpId="4"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Box 5"/>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156" name="Title 1"/>
          <p:cNvSpPr txBox="1">
            <a:spLocks noGrp="1"/>
          </p:cNvSpPr>
          <p:nvPr>
            <p:ph type="title"/>
          </p:nvPr>
        </p:nvSpPr>
        <p:spPr>
          <a:xfrm>
            <a:off x="368300" y="609600"/>
            <a:ext cx="8520601" cy="572701"/>
          </a:xfrm>
          <a:prstGeom prst="rect">
            <a:avLst/>
          </a:prstGeom>
        </p:spPr>
        <p:txBody>
          <a:bodyPr/>
          <a:lstStyle>
            <a:lvl1pPr defTabSz="877822">
              <a:defRPr sz="2600"/>
            </a:lvl1pPr>
          </a:lstStyle>
          <a:p>
            <a:r>
              <a:t>Literature Review</a:t>
            </a:r>
          </a:p>
        </p:txBody>
      </p:sp>
      <p:grpSp>
        <p:nvGrpSpPr>
          <p:cNvPr id="161" name="Group"/>
          <p:cNvGrpSpPr/>
          <p:nvPr/>
        </p:nvGrpSpPr>
        <p:grpSpPr>
          <a:xfrm>
            <a:off x="287389" y="1367607"/>
            <a:ext cx="4113460" cy="1581861"/>
            <a:chOff x="-1" y="0"/>
            <a:chExt cx="4113458" cy="1581859"/>
          </a:xfrm>
        </p:grpSpPr>
        <p:sp>
          <p:nvSpPr>
            <p:cNvPr id="157" name="Shape 3"/>
            <p:cNvSpPr/>
            <p:nvPr/>
          </p:nvSpPr>
          <p:spPr>
            <a:xfrm>
              <a:off x="-2" y="-1"/>
              <a:ext cx="4113460" cy="1581861"/>
            </a:xfrm>
            <a:prstGeom prst="rect">
              <a:avLst/>
            </a:prstGeom>
            <a:solidFill>
              <a:srgbClr val="FFFFFF"/>
            </a:solidFill>
            <a:ln w="12700" cap="flat">
              <a:solidFill>
                <a:srgbClr val="D8E3EE"/>
              </a:solidFill>
              <a:prstDash val="solid"/>
              <a:round/>
            </a:ln>
            <a:effectLst>
              <a:outerShdw blurRad="381000" dist="114300" rotWithShape="0">
                <a:srgbClr val="000000">
                  <a:alpha val="75000"/>
                </a:srgbClr>
              </a:outerShdw>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58" name="Shape 4"/>
            <p:cNvSpPr/>
            <p:nvPr/>
          </p:nvSpPr>
          <p:spPr>
            <a:xfrm>
              <a:off x="-1" y="-1"/>
              <a:ext cx="58445" cy="1581861"/>
            </a:xfrm>
            <a:prstGeom prst="rect">
              <a:avLst/>
            </a:prstGeom>
            <a:solidFill>
              <a:srgbClr val="1E1746"/>
            </a:solidFill>
            <a:ln w="12700" cap="flat">
              <a:noFill/>
              <a:miter lim="400000"/>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59" name="Text 5"/>
            <p:cNvSpPr txBox="1"/>
            <p:nvPr/>
          </p:nvSpPr>
          <p:spPr>
            <a:xfrm>
              <a:off x="166978" y="124187"/>
              <a:ext cx="3423069" cy="3200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300">
                  <a:solidFill>
                    <a:schemeClr val="accent2">
                      <a:lumOff val="-2588"/>
                    </a:schemeClr>
                  </a:solidFill>
                  <a:latin typeface="Arial Black"/>
                  <a:ea typeface="Arial Black"/>
                  <a:cs typeface="Arial Black"/>
                  <a:sym typeface="Arial Black"/>
                </a:defRPr>
              </a:lvl1pPr>
            </a:lstStyle>
            <a:p>
              <a:r>
                <a:t>Traditional Models</a:t>
              </a:r>
            </a:p>
          </p:txBody>
        </p:sp>
        <p:sp>
          <p:nvSpPr>
            <p:cNvPr id="160" name="Text 6"/>
            <p:cNvSpPr txBox="1"/>
            <p:nvPr/>
          </p:nvSpPr>
          <p:spPr>
            <a:xfrm>
              <a:off x="166978" y="419289"/>
              <a:ext cx="3828554" cy="9754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a:defRPr sz="1200"/>
              </a:pPr>
              <a:r>
                <a:t>assume stable relationships over time + struggle during economic shifts</a:t>
              </a:r>
            </a:p>
            <a:p>
              <a:pPr>
                <a:defRPr sz="1200"/>
              </a:pPr>
              <a:endParaRPr/>
            </a:p>
            <a:p>
              <a:pPr marL="228599" indent="-228599" defTabSz="12700">
                <a:buSzPct val="100000"/>
                <a:buChar char="•"/>
                <a:defRPr sz="1200"/>
              </a:pPr>
              <a:r>
                <a:t>Altman (1968): Z-score for bankruptcy prediction</a:t>
              </a:r>
            </a:p>
            <a:p>
              <a:pPr marL="228599" indent="-228599" defTabSz="12700">
                <a:buSzPct val="100000"/>
                <a:buChar char="•"/>
                <a:defRPr sz="1200"/>
              </a:pPr>
              <a:r>
                <a:t>Merton (1974): structural model of credit risk</a:t>
              </a:r>
            </a:p>
          </p:txBody>
        </p:sp>
      </p:grpSp>
      <p:grpSp>
        <p:nvGrpSpPr>
          <p:cNvPr id="166" name="Group"/>
          <p:cNvGrpSpPr/>
          <p:nvPr/>
        </p:nvGrpSpPr>
        <p:grpSpPr>
          <a:xfrm>
            <a:off x="4631532" y="1294074"/>
            <a:ext cx="4338278" cy="1728930"/>
            <a:chOff x="-1" y="0"/>
            <a:chExt cx="4338277" cy="1728928"/>
          </a:xfrm>
        </p:grpSpPr>
        <p:sp>
          <p:nvSpPr>
            <p:cNvPr id="162" name="Shape 3"/>
            <p:cNvSpPr/>
            <p:nvPr/>
          </p:nvSpPr>
          <p:spPr>
            <a:xfrm>
              <a:off x="-2" y="0"/>
              <a:ext cx="4338278" cy="1728929"/>
            </a:xfrm>
            <a:prstGeom prst="rect">
              <a:avLst/>
            </a:prstGeom>
            <a:solidFill>
              <a:srgbClr val="FFFFFF"/>
            </a:solidFill>
            <a:ln w="12700" cap="flat">
              <a:solidFill>
                <a:srgbClr val="D8E3EE"/>
              </a:solidFill>
              <a:prstDash val="solid"/>
              <a:round/>
            </a:ln>
            <a:effectLst>
              <a:outerShdw blurRad="381000" dist="114300" rotWithShape="0">
                <a:srgbClr val="000000">
                  <a:alpha val="75000"/>
                </a:srgbClr>
              </a:outerShdw>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63" name="Shape 4"/>
            <p:cNvSpPr/>
            <p:nvPr/>
          </p:nvSpPr>
          <p:spPr>
            <a:xfrm>
              <a:off x="-1" y="0"/>
              <a:ext cx="61639" cy="1728929"/>
            </a:xfrm>
            <a:prstGeom prst="rect">
              <a:avLst/>
            </a:prstGeom>
            <a:solidFill>
              <a:srgbClr val="1E1746"/>
            </a:solidFill>
            <a:ln w="12700" cap="flat">
              <a:noFill/>
              <a:miter lim="400000"/>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64" name="Text 5"/>
            <p:cNvSpPr txBox="1"/>
            <p:nvPr/>
          </p:nvSpPr>
          <p:spPr>
            <a:xfrm>
              <a:off x="176104" y="111002"/>
              <a:ext cx="3610157" cy="3200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300">
                  <a:solidFill>
                    <a:schemeClr val="accent2">
                      <a:lumOff val="-2588"/>
                    </a:schemeClr>
                  </a:solidFill>
                  <a:latin typeface="Arial Black"/>
                  <a:ea typeface="Arial Black"/>
                  <a:cs typeface="Arial Black"/>
                  <a:sym typeface="Arial Black"/>
                </a:defRPr>
              </a:lvl1pPr>
            </a:lstStyle>
            <a:p>
              <a:r>
                <a:t>ML in Credit Risk</a:t>
              </a:r>
            </a:p>
          </p:txBody>
        </p:sp>
        <p:sp>
          <p:nvSpPr>
            <p:cNvPr id="165" name="Text 6"/>
            <p:cNvSpPr txBox="1"/>
            <p:nvPr/>
          </p:nvSpPr>
          <p:spPr>
            <a:xfrm>
              <a:off x="150235" y="457884"/>
              <a:ext cx="4037803" cy="1153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a:defRPr sz="1200"/>
              </a:pPr>
              <a:r>
                <a:t>improve predictive power but often ignore economic structure</a:t>
              </a:r>
            </a:p>
            <a:p>
              <a:pPr>
                <a:defRPr sz="1200"/>
              </a:pPr>
              <a:endParaRPr/>
            </a:p>
            <a:p>
              <a:pPr marL="228599" indent="-228599" defTabSz="12700">
                <a:buSzPct val="100000"/>
                <a:buChar char="•"/>
                <a:defRPr sz="1200"/>
              </a:pPr>
              <a:r>
                <a:t>Lessmann et al. (2015): ML models improve accuracy</a:t>
              </a:r>
            </a:p>
            <a:p>
              <a:pPr marL="228599" indent="-228599" defTabSz="12700">
                <a:buSzPct val="100000"/>
                <a:buChar char="•"/>
                <a:defRPr sz="1200"/>
              </a:pPr>
              <a:r>
                <a:t>Brown &amp; Mues (2012): boosting methods handle feature interactions better</a:t>
              </a:r>
            </a:p>
          </p:txBody>
        </p:sp>
      </p:grpSp>
      <p:grpSp>
        <p:nvGrpSpPr>
          <p:cNvPr id="171" name="Group"/>
          <p:cNvGrpSpPr/>
          <p:nvPr/>
        </p:nvGrpSpPr>
        <p:grpSpPr>
          <a:xfrm>
            <a:off x="2440122" y="3156055"/>
            <a:ext cx="4485243" cy="1581860"/>
            <a:chOff x="-1" y="0"/>
            <a:chExt cx="4485242" cy="1581859"/>
          </a:xfrm>
        </p:grpSpPr>
        <p:sp>
          <p:nvSpPr>
            <p:cNvPr id="167" name="Shape 3"/>
            <p:cNvSpPr/>
            <p:nvPr/>
          </p:nvSpPr>
          <p:spPr>
            <a:xfrm>
              <a:off x="-2" y="-1"/>
              <a:ext cx="4485243" cy="1581861"/>
            </a:xfrm>
            <a:prstGeom prst="rect">
              <a:avLst/>
            </a:prstGeom>
            <a:solidFill>
              <a:srgbClr val="FFFFFF"/>
            </a:solidFill>
            <a:ln w="12700" cap="flat">
              <a:solidFill>
                <a:srgbClr val="D8E3EE"/>
              </a:solidFill>
              <a:prstDash val="solid"/>
              <a:round/>
            </a:ln>
            <a:effectLst>
              <a:outerShdw blurRad="381000" dist="114300" rotWithShape="0">
                <a:srgbClr val="000000">
                  <a:alpha val="75000"/>
                </a:srgbClr>
              </a:outerShdw>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68" name="Shape 4"/>
            <p:cNvSpPr/>
            <p:nvPr/>
          </p:nvSpPr>
          <p:spPr>
            <a:xfrm>
              <a:off x="-2" y="-1"/>
              <a:ext cx="63727" cy="1581861"/>
            </a:xfrm>
            <a:prstGeom prst="rect">
              <a:avLst/>
            </a:prstGeom>
            <a:solidFill>
              <a:srgbClr val="1E1746"/>
            </a:solidFill>
            <a:ln w="12700" cap="flat">
              <a:noFill/>
              <a:miter lim="400000"/>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169" name="Text 5"/>
            <p:cNvSpPr txBox="1"/>
            <p:nvPr/>
          </p:nvSpPr>
          <p:spPr>
            <a:xfrm>
              <a:off x="182068" y="119050"/>
              <a:ext cx="3732457" cy="3200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300">
                  <a:solidFill>
                    <a:schemeClr val="accent2">
                      <a:lumOff val="-2588"/>
                    </a:schemeClr>
                  </a:solidFill>
                  <a:latin typeface="Arial Black"/>
                  <a:ea typeface="Arial Black"/>
                  <a:cs typeface="Arial Black"/>
                  <a:sym typeface="Arial Black"/>
                </a:defRPr>
              </a:lvl1pPr>
            </a:lstStyle>
            <a:p>
              <a:r>
                <a:t>Macro Conditioning</a:t>
              </a:r>
            </a:p>
          </p:txBody>
        </p:sp>
        <p:sp>
          <p:nvSpPr>
            <p:cNvPr id="170" name="Text 6"/>
            <p:cNvSpPr txBox="1"/>
            <p:nvPr/>
          </p:nvSpPr>
          <p:spPr>
            <a:xfrm>
              <a:off x="182069" y="419288"/>
              <a:ext cx="4174588" cy="9754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a:defRPr sz="1200"/>
              </a:pPr>
              <a:r>
                <a:t>improve default prediction, but often in a limited way</a:t>
              </a:r>
            </a:p>
            <a:p>
              <a:pPr>
                <a:defRPr sz="1200"/>
              </a:pPr>
              <a:endParaRPr/>
            </a:p>
            <a:p>
              <a:pPr marL="228599" indent="-228599" defTabSz="12700">
                <a:buSzPct val="100000"/>
                <a:buChar char="•"/>
                <a:defRPr sz="1200"/>
              </a:pPr>
              <a:r>
                <a:t>Wilson (1997): links PD to macro factors </a:t>
              </a:r>
            </a:p>
            <a:p>
              <a:pPr marL="228599" indent="-228599" defTabSz="12700">
                <a:buSzPct val="100000"/>
                <a:buChar char="•"/>
                <a:defRPr sz="1200"/>
              </a:pPr>
              <a:r>
                <a:t>Figlewski et al. (2012): unemployment and macro variables affect default rates</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61"/>
                                        </p:tgtEl>
                                        <p:attrNameLst>
                                          <p:attrName>style.visibility</p:attrName>
                                        </p:attrNameLst>
                                      </p:cBhvr>
                                      <p:to>
                                        <p:strVal val="visible"/>
                                      </p:to>
                                    </p:set>
                                    <p:animEffect transition="in" filter="wipe(left)">
                                      <p:cBhvr>
                                        <p:cTn id="7" dur="1000"/>
                                        <p:tgtEl>
                                          <p:spTgt spid="1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166"/>
                                        </p:tgtEl>
                                        <p:attrNameLst>
                                          <p:attrName>style.visibility</p:attrName>
                                        </p:attrNameLst>
                                      </p:cBhvr>
                                      <p:to>
                                        <p:strVal val="visible"/>
                                      </p:to>
                                    </p:set>
                                    <p:animEffect transition="in" filter="wipe(left)">
                                      <p:cBhvr>
                                        <p:cTn id="12" dur="1000"/>
                                        <p:tgtEl>
                                          <p:spTgt spid="1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171"/>
                                        </p:tgtEl>
                                        <p:attrNameLst>
                                          <p:attrName>style.visibility</p:attrName>
                                        </p:attrNameLst>
                                      </p:cBhvr>
                                      <p:to>
                                        <p:strVal val="visible"/>
                                      </p:to>
                                    </p:set>
                                    <p:animEffect transition="in" filter="wipe(left)">
                                      <p:cBhvr>
                                        <p:cTn id="17" dur="10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1" animBg="1" advAuto="0"/>
      <p:bldP spid="166" grpId="2" animBg="1" advAuto="0"/>
      <p:bldP spid="171" grpId="3"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Contribution</a:t>
            </a:r>
          </a:p>
        </p:txBody>
      </p:sp>
      <p:sp>
        <p:nvSpPr>
          <p:cNvPr id="176" name="TextBox 5"/>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grpSp>
        <p:nvGrpSpPr>
          <p:cNvPr id="184" name="Group"/>
          <p:cNvGrpSpPr/>
          <p:nvPr/>
        </p:nvGrpSpPr>
        <p:grpSpPr>
          <a:xfrm>
            <a:off x="1526371" y="1054830"/>
            <a:ext cx="6468981" cy="3700234"/>
            <a:chOff x="0" y="0"/>
            <a:chExt cx="6468979" cy="3700233"/>
          </a:xfrm>
        </p:grpSpPr>
        <p:sp>
          <p:nvSpPr>
            <p:cNvPr id="177" name="Rectangle"/>
            <p:cNvSpPr/>
            <p:nvPr/>
          </p:nvSpPr>
          <p:spPr>
            <a:xfrm>
              <a:off x="3452026" y="1432548"/>
              <a:ext cx="2853884"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pic>
          <p:nvPicPr>
            <p:cNvPr id="178" name="_- visual selection.png" descr="_- visual selection.png"/>
            <p:cNvPicPr>
              <a:picLocks noChangeAspect="1"/>
            </p:cNvPicPr>
            <p:nvPr/>
          </p:nvPicPr>
          <p:blipFill>
            <a:blip r:embed="rId3"/>
            <a:srcRect l="2450" t="3599" r="2449" b="9347"/>
            <a:stretch>
              <a:fillRect/>
            </a:stretch>
          </p:blipFill>
          <p:spPr>
            <a:xfrm>
              <a:off x="0" y="0"/>
              <a:ext cx="6468980" cy="3700234"/>
            </a:xfrm>
            <a:prstGeom prst="rect">
              <a:avLst/>
            </a:prstGeom>
            <a:ln w="12700" cap="flat">
              <a:noFill/>
              <a:miter lim="400000"/>
            </a:ln>
            <a:effectLst/>
          </p:spPr>
        </p:pic>
        <p:sp>
          <p:nvSpPr>
            <p:cNvPr id="179" name="Rectangle"/>
            <p:cNvSpPr/>
            <p:nvPr/>
          </p:nvSpPr>
          <p:spPr>
            <a:xfrm>
              <a:off x="116159" y="18615"/>
              <a:ext cx="6236749"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0" name="Rectangle"/>
            <p:cNvSpPr/>
            <p:nvPr/>
          </p:nvSpPr>
          <p:spPr>
            <a:xfrm>
              <a:off x="3646761" y="1991348"/>
              <a:ext cx="2780792" cy="1402494"/>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1" name="Rectangle"/>
            <p:cNvSpPr/>
            <p:nvPr/>
          </p:nvSpPr>
          <p:spPr>
            <a:xfrm>
              <a:off x="2249761" y="1293245"/>
              <a:ext cx="2853883"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2" name="Rectangle"/>
            <p:cNvSpPr/>
            <p:nvPr/>
          </p:nvSpPr>
          <p:spPr>
            <a:xfrm>
              <a:off x="3578133" y="1432548"/>
              <a:ext cx="2336523"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3" name="Rectangle"/>
            <p:cNvSpPr/>
            <p:nvPr/>
          </p:nvSpPr>
          <p:spPr>
            <a:xfrm>
              <a:off x="6243" y="2156846"/>
              <a:ext cx="2929535"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grpSp>
        <p:nvGrpSpPr>
          <p:cNvPr id="191" name="Group"/>
          <p:cNvGrpSpPr/>
          <p:nvPr/>
        </p:nvGrpSpPr>
        <p:grpSpPr>
          <a:xfrm>
            <a:off x="1526371" y="1054830"/>
            <a:ext cx="6468981" cy="3700234"/>
            <a:chOff x="0" y="0"/>
            <a:chExt cx="6468979" cy="3700233"/>
          </a:xfrm>
        </p:grpSpPr>
        <p:sp>
          <p:nvSpPr>
            <p:cNvPr id="185" name="Rectangle"/>
            <p:cNvSpPr/>
            <p:nvPr/>
          </p:nvSpPr>
          <p:spPr>
            <a:xfrm>
              <a:off x="3452026" y="1432548"/>
              <a:ext cx="2853884"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pic>
          <p:nvPicPr>
            <p:cNvPr id="186" name="_- visual selection.png" descr="_- visual selection.png"/>
            <p:cNvPicPr>
              <a:picLocks noChangeAspect="1"/>
            </p:cNvPicPr>
            <p:nvPr/>
          </p:nvPicPr>
          <p:blipFill>
            <a:blip r:embed="rId3"/>
            <a:srcRect l="2450" t="3599" r="2449" b="9347"/>
            <a:stretch>
              <a:fillRect/>
            </a:stretch>
          </p:blipFill>
          <p:spPr>
            <a:xfrm>
              <a:off x="0" y="0"/>
              <a:ext cx="6468980" cy="3700234"/>
            </a:xfrm>
            <a:prstGeom prst="rect">
              <a:avLst/>
            </a:prstGeom>
            <a:ln w="12700" cap="flat">
              <a:noFill/>
              <a:miter lim="400000"/>
            </a:ln>
            <a:effectLst/>
          </p:spPr>
        </p:pic>
        <p:sp>
          <p:nvSpPr>
            <p:cNvPr id="187" name="Rectangle"/>
            <p:cNvSpPr/>
            <p:nvPr/>
          </p:nvSpPr>
          <p:spPr>
            <a:xfrm>
              <a:off x="116159" y="18615"/>
              <a:ext cx="6236749"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8" name="Rectangle"/>
            <p:cNvSpPr/>
            <p:nvPr/>
          </p:nvSpPr>
          <p:spPr>
            <a:xfrm>
              <a:off x="3646761" y="1991348"/>
              <a:ext cx="2780792" cy="1402494"/>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89" name="Rectangle"/>
            <p:cNvSpPr/>
            <p:nvPr/>
          </p:nvSpPr>
          <p:spPr>
            <a:xfrm>
              <a:off x="2249761" y="1293245"/>
              <a:ext cx="2853883"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90" name="Rectangle"/>
            <p:cNvSpPr/>
            <p:nvPr/>
          </p:nvSpPr>
          <p:spPr>
            <a:xfrm>
              <a:off x="3578133" y="1432548"/>
              <a:ext cx="2336523" cy="1402493"/>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grpSp>
        <p:nvGrpSpPr>
          <p:cNvPr id="196" name="Group"/>
          <p:cNvGrpSpPr/>
          <p:nvPr/>
        </p:nvGrpSpPr>
        <p:grpSpPr>
          <a:xfrm>
            <a:off x="1526371" y="1054830"/>
            <a:ext cx="6468981" cy="3700234"/>
            <a:chOff x="0" y="0"/>
            <a:chExt cx="6468979" cy="3700233"/>
          </a:xfrm>
        </p:grpSpPr>
        <p:pic>
          <p:nvPicPr>
            <p:cNvPr id="192" name="_- visual selection.png" descr="_- visual selection.png"/>
            <p:cNvPicPr>
              <a:picLocks noChangeAspect="1"/>
            </p:cNvPicPr>
            <p:nvPr/>
          </p:nvPicPr>
          <p:blipFill>
            <a:blip r:embed="rId3"/>
            <a:srcRect l="2450" t="3599" r="2449" b="9347"/>
            <a:stretch>
              <a:fillRect/>
            </a:stretch>
          </p:blipFill>
          <p:spPr>
            <a:xfrm>
              <a:off x="0" y="0"/>
              <a:ext cx="6468980" cy="3700234"/>
            </a:xfrm>
            <a:prstGeom prst="rect">
              <a:avLst/>
            </a:prstGeom>
            <a:ln w="12700" cap="flat">
              <a:noFill/>
              <a:miter lim="400000"/>
            </a:ln>
            <a:effectLst/>
          </p:spPr>
        </p:pic>
        <p:sp>
          <p:nvSpPr>
            <p:cNvPr id="193" name="Rectangle"/>
            <p:cNvSpPr/>
            <p:nvPr/>
          </p:nvSpPr>
          <p:spPr>
            <a:xfrm>
              <a:off x="2704646" y="10930"/>
              <a:ext cx="3343460" cy="2088075"/>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94" name="Rectangle"/>
            <p:cNvSpPr/>
            <p:nvPr/>
          </p:nvSpPr>
          <p:spPr>
            <a:xfrm>
              <a:off x="3111542" y="320091"/>
              <a:ext cx="3131299"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95" name="Rectangle"/>
            <p:cNvSpPr/>
            <p:nvPr/>
          </p:nvSpPr>
          <p:spPr>
            <a:xfrm>
              <a:off x="3647059" y="1110816"/>
              <a:ext cx="2794421"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grpSp>
        <p:nvGrpSpPr>
          <p:cNvPr id="201" name="Group"/>
          <p:cNvGrpSpPr/>
          <p:nvPr/>
        </p:nvGrpSpPr>
        <p:grpSpPr>
          <a:xfrm>
            <a:off x="1526371" y="1054830"/>
            <a:ext cx="6468981" cy="3700234"/>
            <a:chOff x="0" y="0"/>
            <a:chExt cx="6468979" cy="3700233"/>
          </a:xfrm>
        </p:grpSpPr>
        <p:pic>
          <p:nvPicPr>
            <p:cNvPr id="197" name="_- visual selection.png" descr="_- visual selection.png"/>
            <p:cNvPicPr>
              <a:picLocks noChangeAspect="1"/>
            </p:cNvPicPr>
            <p:nvPr/>
          </p:nvPicPr>
          <p:blipFill>
            <a:blip r:embed="rId3"/>
            <a:srcRect l="2450" t="3599" r="2449" b="9347"/>
            <a:stretch>
              <a:fillRect/>
            </a:stretch>
          </p:blipFill>
          <p:spPr>
            <a:xfrm>
              <a:off x="0" y="0"/>
              <a:ext cx="6468980" cy="3700234"/>
            </a:xfrm>
            <a:prstGeom prst="rect">
              <a:avLst/>
            </a:prstGeom>
            <a:ln w="12700" cap="flat">
              <a:noFill/>
              <a:miter lim="400000"/>
            </a:ln>
            <a:effectLst/>
          </p:spPr>
        </p:pic>
        <p:sp>
          <p:nvSpPr>
            <p:cNvPr id="198" name="Rectangle"/>
            <p:cNvSpPr/>
            <p:nvPr/>
          </p:nvSpPr>
          <p:spPr>
            <a:xfrm>
              <a:off x="4036062" y="18615"/>
              <a:ext cx="2316846"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199" name="Rectangle"/>
            <p:cNvSpPr/>
            <p:nvPr/>
          </p:nvSpPr>
          <p:spPr>
            <a:xfrm>
              <a:off x="3833957" y="1076948"/>
              <a:ext cx="2596333" cy="2393656"/>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200" name="Rectangle"/>
            <p:cNvSpPr/>
            <p:nvPr/>
          </p:nvSpPr>
          <p:spPr>
            <a:xfrm>
              <a:off x="3551940" y="2044108"/>
              <a:ext cx="1742633" cy="1231762"/>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grpSp>
        <p:nvGrpSpPr>
          <p:cNvPr id="205" name="Group"/>
          <p:cNvGrpSpPr/>
          <p:nvPr/>
        </p:nvGrpSpPr>
        <p:grpSpPr>
          <a:xfrm>
            <a:off x="1526371" y="1054830"/>
            <a:ext cx="6468981" cy="3700234"/>
            <a:chOff x="0" y="0"/>
            <a:chExt cx="6468979" cy="3700233"/>
          </a:xfrm>
        </p:grpSpPr>
        <p:pic>
          <p:nvPicPr>
            <p:cNvPr id="202" name="_- visual selection.png" descr="_- visual selection.png"/>
            <p:cNvPicPr>
              <a:picLocks noChangeAspect="1"/>
            </p:cNvPicPr>
            <p:nvPr/>
          </p:nvPicPr>
          <p:blipFill>
            <a:blip r:embed="rId3"/>
            <a:srcRect l="2450" t="3599" r="2449" b="9347"/>
            <a:stretch>
              <a:fillRect/>
            </a:stretch>
          </p:blipFill>
          <p:spPr>
            <a:xfrm>
              <a:off x="0" y="0"/>
              <a:ext cx="6468980" cy="3700234"/>
            </a:xfrm>
            <a:prstGeom prst="rect">
              <a:avLst/>
            </a:prstGeom>
            <a:ln w="12700" cap="flat">
              <a:noFill/>
              <a:miter lim="400000"/>
            </a:ln>
            <a:effectLst/>
          </p:spPr>
        </p:pic>
        <p:sp>
          <p:nvSpPr>
            <p:cNvPr id="203" name="Rectangle"/>
            <p:cNvSpPr/>
            <p:nvPr/>
          </p:nvSpPr>
          <p:spPr>
            <a:xfrm>
              <a:off x="3686812" y="2708074"/>
              <a:ext cx="2749869" cy="787932"/>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sp>
          <p:nvSpPr>
            <p:cNvPr id="204" name="Rectangle"/>
            <p:cNvSpPr/>
            <p:nvPr/>
          </p:nvSpPr>
          <p:spPr>
            <a:xfrm>
              <a:off x="4371783" y="2361139"/>
              <a:ext cx="2014990" cy="720000"/>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pic>
        <p:nvPicPr>
          <p:cNvPr id="206" name="_- visual selection.png" descr="_- visual selection.png"/>
          <p:cNvPicPr>
            <a:picLocks noChangeAspect="1"/>
          </p:cNvPicPr>
          <p:nvPr/>
        </p:nvPicPr>
        <p:blipFill>
          <a:blip r:embed="rId3"/>
          <a:srcRect l="2450" t="3599" r="2449" b="9347"/>
          <a:stretch>
            <a:fillRect/>
          </a:stretch>
        </p:blipFill>
        <p:spPr>
          <a:xfrm>
            <a:off x="1526371" y="1054830"/>
            <a:ext cx="6468981" cy="3700234"/>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91"/>
                                        </p:tgtEl>
                                        <p:attrNameLst>
                                          <p:attrName>style.visibility</p:attrName>
                                        </p:attrNameLst>
                                      </p:cBhvr>
                                      <p:to>
                                        <p:strVal val="visible"/>
                                      </p:to>
                                    </p:set>
                                    <p:animEffect transition="in" filter="wipe(left)">
                                      <p:cBhvr>
                                        <p:cTn id="7" dur="1000"/>
                                        <p:tgtEl>
                                          <p:spTgt spid="1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196"/>
                                        </p:tgtEl>
                                        <p:attrNameLst>
                                          <p:attrName>style.visibility</p:attrName>
                                        </p:attrNameLst>
                                      </p:cBhvr>
                                      <p:to>
                                        <p:strVal val="visible"/>
                                      </p:to>
                                    </p:set>
                                    <p:animEffect transition="in" filter="wipe(left)">
                                      <p:cBhvr>
                                        <p:cTn id="12" dur="1000"/>
                                        <p:tgtEl>
                                          <p:spTgt spid="1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201"/>
                                        </p:tgtEl>
                                        <p:attrNameLst>
                                          <p:attrName>style.visibility</p:attrName>
                                        </p:attrNameLst>
                                      </p:cBhvr>
                                      <p:to>
                                        <p:strVal val="visible"/>
                                      </p:to>
                                    </p:set>
                                    <p:animEffect transition="in" filter="wipe(left)">
                                      <p:cBhvr>
                                        <p:cTn id="17" dur="1000"/>
                                        <p:tgtEl>
                                          <p:spTgt spid="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4" nodeType="clickEffect">
                                  <p:stCondLst>
                                    <p:cond delay="0"/>
                                  </p:stCondLst>
                                  <p:iterate>
                                    <p:tmAbs val="0"/>
                                  </p:iterate>
                                  <p:childTnLst>
                                    <p:set>
                                      <p:cBhvr>
                                        <p:cTn id="21" fill="hold"/>
                                        <p:tgtEl>
                                          <p:spTgt spid="205"/>
                                        </p:tgtEl>
                                        <p:attrNameLst>
                                          <p:attrName>style.visibility</p:attrName>
                                        </p:attrNameLst>
                                      </p:cBhvr>
                                      <p:to>
                                        <p:strVal val="visible"/>
                                      </p:to>
                                    </p:set>
                                    <p:animEffect transition="in" filter="wipe(left)">
                                      <p:cBhvr>
                                        <p:cTn id="22" dur="1000"/>
                                        <p:tgtEl>
                                          <p:spTgt spid="2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5" nodeType="clickEffect">
                                  <p:stCondLst>
                                    <p:cond delay="0"/>
                                  </p:stCondLst>
                                  <p:iterate>
                                    <p:tmAbs val="0"/>
                                  </p:iterate>
                                  <p:childTnLst>
                                    <p:set>
                                      <p:cBhvr>
                                        <p:cTn id="26" fill="hold"/>
                                        <p:tgtEl>
                                          <p:spTgt spid="206"/>
                                        </p:tgtEl>
                                        <p:attrNameLst>
                                          <p:attrName>style.visibility</p:attrName>
                                        </p:attrNameLst>
                                      </p:cBhvr>
                                      <p:to>
                                        <p:strVal val="visible"/>
                                      </p:to>
                                    </p:set>
                                    <p:animEffect transition="in" filter="wipe(left)">
                                      <p:cBhvr>
                                        <p:cTn id="27" dur="10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1" animBg="1" advAuto="0"/>
      <p:bldP spid="196" grpId="2" animBg="1" advAuto="0"/>
      <p:bldP spid="201" grpId="3" animBg="1" advAuto="0"/>
      <p:bldP spid="205" grpId="4" animBg="1" advAuto="0"/>
      <p:bldP spid="206" grpId="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Rounded Rectangle 7"/>
          <p:cNvSpPr/>
          <p:nvPr/>
        </p:nvSpPr>
        <p:spPr>
          <a:xfrm>
            <a:off x="1822840" y="2365288"/>
            <a:ext cx="153039" cy="10562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13885">
            <a:solidFill>
              <a:srgbClr val="000000"/>
            </a:solidFill>
          </a:ln>
        </p:spPr>
        <p:txBody>
          <a:bodyPr lIns="45718" tIns="45718" rIns="45718" bIns="45718" anchor="ctr"/>
          <a:lstStyle/>
          <a:p>
            <a:pPr algn="ctr" defTabSz="457200">
              <a:defRPr sz="1800">
                <a:latin typeface="Calibri"/>
                <a:ea typeface="Calibri"/>
                <a:cs typeface="Calibri"/>
                <a:sym typeface="Calibri"/>
              </a:defRPr>
            </a:pPr>
            <a:endParaRPr/>
          </a:p>
        </p:txBody>
      </p:sp>
      <p:sp>
        <p:nvSpPr>
          <p:cNvPr id="211" name="Rounded Rectangle 8"/>
          <p:cNvSpPr/>
          <p:nvPr/>
        </p:nvSpPr>
        <p:spPr>
          <a:xfrm>
            <a:off x="1975877" y="2470893"/>
            <a:ext cx="3" cy="238162"/>
          </a:xfrm>
          <a:prstGeom prst="line">
            <a:avLst/>
          </a:prstGeom>
          <a:ln w="13885">
            <a:solidFill>
              <a:srgbClr val="000000"/>
            </a:solidFill>
          </a:ln>
        </p:spPr>
        <p:txBody>
          <a:bodyPr lIns="45718" tIns="45718" rIns="45718" bIns="45718"/>
          <a:lstStyle/>
          <a:p>
            <a:endParaRPr/>
          </a:p>
        </p:txBody>
      </p:sp>
      <p:sp>
        <p:nvSpPr>
          <p:cNvPr id="212" name="Rounded Rectangle 9"/>
          <p:cNvSpPr/>
          <p:nvPr/>
        </p:nvSpPr>
        <p:spPr>
          <a:xfrm>
            <a:off x="1975878" y="2709060"/>
            <a:ext cx="153039" cy="21125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5965"/>
                  <a:pt x="9671" y="10800"/>
                  <a:pt x="21600" y="10800"/>
                </a:cubicBezTo>
                <a:cubicBezTo>
                  <a:pt x="9671" y="10800"/>
                  <a:pt x="0" y="15635"/>
                  <a:pt x="0" y="21600"/>
                </a:cubicBezTo>
              </a:path>
            </a:pathLst>
          </a:custGeom>
          <a:ln w="13885">
            <a:solidFill>
              <a:srgbClr val="000000"/>
            </a:solidFill>
          </a:ln>
        </p:spPr>
        <p:txBody>
          <a:bodyPr lIns="45718" tIns="45718" rIns="45718" bIns="45718" anchor="ctr"/>
          <a:lstStyle/>
          <a:p>
            <a:pPr algn="ctr" defTabSz="457200">
              <a:defRPr sz="1800">
                <a:latin typeface="Calibri"/>
                <a:ea typeface="Calibri"/>
                <a:cs typeface="Calibri"/>
                <a:sym typeface="Calibri"/>
              </a:defRPr>
            </a:pPr>
            <a:endParaRPr/>
          </a:p>
        </p:txBody>
      </p:sp>
      <p:sp>
        <p:nvSpPr>
          <p:cNvPr id="213" name="Rounded Rectangle 10"/>
          <p:cNvSpPr/>
          <p:nvPr/>
        </p:nvSpPr>
        <p:spPr>
          <a:xfrm>
            <a:off x="1975877" y="2920311"/>
            <a:ext cx="3" cy="238162"/>
          </a:xfrm>
          <a:prstGeom prst="line">
            <a:avLst/>
          </a:prstGeom>
          <a:ln w="13885">
            <a:solidFill>
              <a:srgbClr val="000000"/>
            </a:solidFill>
          </a:ln>
        </p:spPr>
        <p:txBody>
          <a:bodyPr lIns="45718" tIns="45718" rIns="45718" bIns="45718"/>
          <a:lstStyle/>
          <a:p>
            <a:endParaRPr/>
          </a:p>
        </p:txBody>
      </p:sp>
      <p:sp>
        <p:nvSpPr>
          <p:cNvPr id="214" name="Rounded Rectangle 11"/>
          <p:cNvSpPr/>
          <p:nvPr/>
        </p:nvSpPr>
        <p:spPr>
          <a:xfrm>
            <a:off x="1822840" y="3158457"/>
            <a:ext cx="153039" cy="10562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1929" y="21600"/>
                  <a:pt x="21600" y="11929"/>
                  <a:pt x="21600" y="0"/>
                </a:cubicBezTo>
              </a:path>
            </a:pathLst>
          </a:custGeom>
          <a:ln w="13885">
            <a:solidFill>
              <a:srgbClr val="000000"/>
            </a:solidFill>
          </a:ln>
        </p:spPr>
        <p:txBody>
          <a:bodyPr lIns="45718" tIns="45718" rIns="45718" bIns="45718" anchor="ctr"/>
          <a:lstStyle/>
          <a:p>
            <a:pPr algn="ctr" defTabSz="457200">
              <a:defRPr sz="1800">
                <a:latin typeface="Calibri"/>
                <a:ea typeface="Calibri"/>
                <a:cs typeface="Calibri"/>
                <a:sym typeface="Calibri"/>
              </a:defRPr>
            </a:pPr>
            <a:endParaRPr/>
          </a:p>
        </p:txBody>
      </p:sp>
      <p:sp>
        <p:nvSpPr>
          <p:cNvPr id="215" name="Rounded Rectangle 24"/>
          <p:cNvSpPr/>
          <p:nvPr/>
        </p:nvSpPr>
        <p:spPr>
          <a:xfrm>
            <a:off x="2128914" y="1241839"/>
            <a:ext cx="1335595" cy="3145698"/>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10800"/>
                </a:lnTo>
                <a:moveTo>
                  <a:pt x="21600" y="0"/>
                </a:moveTo>
                <a:lnTo>
                  <a:pt x="13500" y="0"/>
                </a:lnTo>
                <a:cubicBezTo>
                  <a:pt x="12009" y="0"/>
                  <a:pt x="10800" y="354"/>
                  <a:pt x="10800" y="791"/>
                </a:cubicBezTo>
                <a:lnTo>
                  <a:pt x="10800" y="20809"/>
                </a:lnTo>
                <a:cubicBezTo>
                  <a:pt x="10800" y="21246"/>
                  <a:pt x="12009" y="21600"/>
                  <a:pt x="13500" y="21600"/>
                </a:cubicBezTo>
                <a:lnTo>
                  <a:pt x="21600" y="21600"/>
                </a:lnTo>
                <a:moveTo>
                  <a:pt x="21600" y="7200"/>
                </a:moveTo>
                <a:lnTo>
                  <a:pt x="10800" y="7200"/>
                </a:lnTo>
                <a:moveTo>
                  <a:pt x="21600" y="14400"/>
                </a:moveTo>
                <a:lnTo>
                  <a:pt x="10800" y="14400"/>
                </a:lnTo>
              </a:path>
            </a:pathLst>
          </a:custGeom>
          <a:ln w="13885">
            <a:solidFill>
              <a:srgbClr val="000000"/>
            </a:solidFill>
          </a:ln>
        </p:spPr>
        <p:txBody>
          <a:bodyPr lIns="45718" tIns="45718" rIns="45718" bIns="45718" anchor="ctr"/>
          <a:lstStyle/>
          <a:p>
            <a:pPr algn="ctr" defTabSz="457200">
              <a:defRPr sz="1800">
                <a:latin typeface="Calibri"/>
                <a:ea typeface="Calibri"/>
                <a:cs typeface="Calibri"/>
                <a:sym typeface="Calibri"/>
              </a:defRPr>
            </a:pPr>
            <a:endParaRPr/>
          </a:p>
        </p:txBody>
      </p:sp>
      <p:grpSp>
        <p:nvGrpSpPr>
          <p:cNvPr id="225" name="Group"/>
          <p:cNvGrpSpPr/>
          <p:nvPr/>
        </p:nvGrpSpPr>
        <p:grpSpPr>
          <a:xfrm>
            <a:off x="3458377" y="3108262"/>
            <a:ext cx="3645156" cy="587663"/>
            <a:chOff x="-1" y="0"/>
            <a:chExt cx="3645155" cy="587662"/>
          </a:xfrm>
        </p:grpSpPr>
        <p:sp>
          <p:nvSpPr>
            <p:cNvPr id="216" name="Rounded Rectangle 18"/>
            <p:cNvSpPr/>
            <p:nvPr/>
          </p:nvSpPr>
          <p:spPr>
            <a:xfrm>
              <a:off x="-2" y="65546"/>
              <a:ext cx="1248033" cy="468863"/>
            </a:xfrm>
            <a:custGeom>
              <a:avLst/>
              <a:gdLst/>
              <a:ahLst/>
              <a:cxnLst>
                <a:cxn ang="0">
                  <a:pos x="wd2" y="hd2"/>
                </a:cxn>
                <a:cxn ang="5400000">
                  <a:pos x="wd2" y="hd2"/>
                </a:cxn>
                <a:cxn ang="10800000">
                  <a:pos x="wd2" y="hd2"/>
                </a:cxn>
                <a:cxn ang="16200000">
                  <a:pos x="wd2" y="hd2"/>
                </a:cxn>
              </a:cxnLst>
              <a:rect l="0" t="0" r="r" b="b"/>
              <a:pathLst>
                <a:path w="21600" h="21600" extrusionOk="0">
                  <a:moveTo>
                    <a:pt x="0" y="16577"/>
                  </a:moveTo>
                  <a:cubicBezTo>
                    <a:pt x="0" y="19351"/>
                    <a:pt x="608" y="21600"/>
                    <a:pt x="1358" y="21600"/>
                  </a:cubicBezTo>
                  <a:lnTo>
                    <a:pt x="20242" y="21600"/>
                  </a:lnTo>
                  <a:cubicBezTo>
                    <a:pt x="20992" y="21600"/>
                    <a:pt x="21600" y="19351"/>
                    <a:pt x="21600" y="16577"/>
                  </a:cubicBezTo>
                  <a:lnTo>
                    <a:pt x="21600" y="5023"/>
                  </a:lnTo>
                  <a:cubicBezTo>
                    <a:pt x="21600" y="2249"/>
                    <a:pt x="20992" y="0"/>
                    <a:pt x="20242" y="0"/>
                  </a:cubicBezTo>
                  <a:lnTo>
                    <a:pt x="1358" y="0"/>
                  </a:lnTo>
                  <a:cubicBezTo>
                    <a:pt x="608" y="0"/>
                    <a:pt x="0" y="2249"/>
                    <a:pt x="0" y="5023"/>
                  </a:cubicBezTo>
                  <a:lnTo>
                    <a:pt x="0" y="16577"/>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17" name="Rounded Rectangle 27"/>
            <p:cNvSpPr/>
            <p:nvPr/>
          </p:nvSpPr>
          <p:spPr>
            <a:xfrm>
              <a:off x="1243337" y="124255"/>
              <a:ext cx="799212" cy="35144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10800"/>
                  </a:lnTo>
                  <a:moveTo>
                    <a:pt x="21600" y="0"/>
                  </a:moveTo>
                  <a:lnTo>
                    <a:pt x="18000" y="0"/>
                  </a:lnTo>
                  <a:cubicBezTo>
                    <a:pt x="14024" y="0"/>
                    <a:pt x="10800" y="3171"/>
                    <a:pt x="10800" y="7082"/>
                  </a:cubicBezTo>
                  <a:lnTo>
                    <a:pt x="10800" y="14518"/>
                  </a:lnTo>
                  <a:cubicBezTo>
                    <a:pt x="10800" y="18429"/>
                    <a:pt x="14024" y="21600"/>
                    <a:pt x="18000" y="21600"/>
                  </a:cubicBezTo>
                  <a:lnTo>
                    <a:pt x="21600" y="21600"/>
                  </a:lnTo>
                </a:path>
              </a:pathLst>
            </a:custGeom>
            <a:noFill/>
            <a:ln w="13885" cap="flat">
              <a:solidFill>
                <a:srgbClr val="000000"/>
              </a:solidFill>
              <a:prstDash val="solid"/>
              <a:round/>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grpSp>
          <p:nvGrpSpPr>
            <p:cNvPr id="220" name="Group"/>
            <p:cNvGrpSpPr/>
            <p:nvPr/>
          </p:nvGrpSpPr>
          <p:grpSpPr>
            <a:xfrm>
              <a:off x="2042547" y="-1"/>
              <a:ext cx="950613" cy="236220"/>
              <a:chOff x="0" y="0"/>
              <a:chExt cx="950612" cy="236219"/>
            </a:xfrm>
          </p:grpSpPr>
          <p:sp>
            <p:nvSpPr>
              <p:cNvPr id="218" name="Rounded Rectangle 19"/>
              <p:cNvSpPr/>
              <p:nvPr/>
            </p:nvSpPr>
            <p:spPr>
              <a:xfrm>
                <a:off x="0" y="-1"/>
                <a:ext cx="950613" cy="236220"/>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849" y="21600"/>
                      <a:pt x="1897" y="21600"/>
                    </a:cubicBezTo>
                    <a:lnTo>
                      <a:pt x="19703" y="21600"/>
                    </a:lnTo>
                    <a:cubicBezTo>
                      <a:pt x="20751" y="21600"/>
                      <a:pt x="21600" y="19242"/>
                      <a:pt x="21600" y="16332"/>
                    </a:cubicBezTo>
                    <a:lnTo>
                      <a:pt x="21600" y="5268"/>
                    </a:lnTo>
                    <a:cubicBezTo>
                      <a:pt x="21600" y="2358"/>
                      <a:pt x="20751" y="0"/>
                      <a:pt x="19703" y="0"/>
                    </a:cubicBezTo>
                    <a:lnTo>
                      <a:pt x="1897" y="0"/>
                    </a:lnTo>
                    <a:cubicBezTo>
                      <a:pt x="849"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19" name="TextBox 30"/>
              <p:cNvSpPr txBox="1"/>
              <p:nvPr/>
            </p:nvSpPr>
            <p:spPr>
              <a:xfrm>
                <a:off x="128170" y="50334"/>
                <a:ext cx="687385"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DE58A9"/>
                    </a:solidFill>
                  </a:defRPr>
                </a:lvl1pPr>
              </a:lstStyle>
              <a:p>
                <a:r>
                  <a:t>Clusterized</a:t>
                </a:r>
              </a:p>
            </p:txBody>
          </p:sp>
        </p:grpSp>
        <p:sp>
          <p:nvSpPr>
            <p:cNvPr id="221" name="TextBox 31"/>
            <p:cNvSpPr txBox="1"/>
            <p:nvPr/>
          </p:nvSpPr>
          <p:spPr>
            <a:xfrm>
              <a:off x="95222" y="162353"/>
              <a:ext cx="1057584" cy="2752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b="1">
                  <a:solidFill>
                    <a:srgbClr val="DE58A9"/>
                  </a:solidFill>
                </a:defRPr>
              </a:lvl1pPr>
            </a:lstStyle>
            <a:p>
              <a:r>
                <a:t>Economic Regimes</a:t>
              </a:r>
            </a:p>
          </p:txBody>
        </p:sp>
        <p:grpSp>
          <p:nvGrpSpPr>
            <p:cNvPr id="224" name="Group"/>
            <p:cNvGrpSpPr/>
            <p:nvPr/>
          </p:nvGrpSpPr>
          <p:grpSpPr>
            <a:xfrm>
              <a:off x="2042546" y="351442"/>
              <a:ext cx="1602609" cy="236220"/>
              <a:chOff x="0" y="0"/>
              <a:chExt cx="1602608" cy="236219"/>
            </a:xfrm>
          </p:grpSpPr>
          <p:sp>
            <p:nvSpPr>
              <p:cNvPr id="222" name="Rounded Rectangle 20"/>
              <p:cNvSpPr/>
              <p:nvPr/>
            </p:nvSpPr>
            <p:spPr>
              <a:xfrm>
                <a:off x="-1" y="-1"/>
                <a:ext cx="1602609" cy="236220"/>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441" y="21600"/>
                      <a:pt x="984" y="21600"/>
                    </a:cubicBezTo>
                    <a:lnTo>
                      <a:pt x="20616" y="21600"/>
                    </a:lnTo>
                    <a:cubicBezTo>
                      <a:pt x="21159" y="21600"/>
                      <a:pt x="21600" y="19242"/>
                      <a:pt x="21600" y="16332"/>
                    </a:cubicBezTo>
                    <a:lnTo>
                      <a:pt x="21600" y="5268"/>
                    </a:lnTo>
                    <a:cubicBezTo>
                      <a:pt x="21600" y="2358"/>
                      <a:pt x="21159" y="0"/>
                      <a:pt x="20616" y="0"/>
                    </a:cubicBezTo>
                    <a:lnTo>
                      <a:pt x="984" y="0"/>
                    </a:lnTo>
                    <a:cubicBezTo>
                      <a:pt x="441"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23" name="TextBox 33"/>
              <p:cNvSpPr txBox="1"/>
              <p:nvPr/>
            </p:nvSpPr>
            <p:spPr>
              <a:xfrm>
                <a:off x="64064" y="50334"/>
                <a:ext cx="1474478"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DE58A9"/>
                    </a:solidFill>
                  </a:defRPr>
                </a:lvl1pPr>
              </a:lstStyle>
              <a:p>
                <a:r>
                  <a:t>Macro Indicators proxies</a:t>
                </a:r>
              </a:p>
            </p:txBody>
          </p:sp>
        </p:grpSp>
      </p:grpSp>
      <p:grpSp>
        <p:nvGrpSpPr>
          <p:cNvPr id="233" name="Group"/>
          <p:cNvGrpSpPr/>
          <p:nvPr/>
        </p:nvGrpSpPr>
        <p:grpSpPr>
          <a:xfrm>
            <a:off x="3464506" y="1996575"/>
            <a:ext cx="3425888" cy="587661"/>
            <a:chOff x="-1" y="0"/>
            <a:chExt cx="3425887" cy="587660"/>
          </a:xfrm>
        </p:grpSpPr>
        <p:sp>
          <p:nvSpPr>
            <p:cNvPr id="226" name="Rounded Rectangle 15"/>
            <p:cNvSpPr/>
            <p:nvPr/>
          </p:nvSpPr>
          <p:spPr>
            <a:xfrm>
              <a:off x="-2" y="59542"/>
              <a:ext cx="1239478" cy="468574"/>
            </a:xfrm>
            <a:custGeom>
              <a:avLst/>
              <a:gdLst/>
              <a:ahLst/>
              <a:cxnLst>
                <a:cxn ang="0">
                  <a:pos x="wd2" y="hd2"/>
                </a:cxn>
                <a:cxn ang="5400000">
                  <a:pos x="wd2" y="hd2"/>
                </a:cxn>
                <a:cxn ang="10800000">
                  <a:pos x="wd2" y="hd2"/>
                </a:cxn>
                <a:cxn ang="16200000">
                  <a:pos x="wd2" y="hd2"/>
                </a:cxn>
              </a:cxnLst>
              <a:rect l="0" t="0" r="r" b="b"/>
              <a:pathLst>
                <a:path w="21600" h="21600" extrusionOk="0">
                  <a:moveTo>
                    <a:pt x="0" y="18059"/>
                  </a:moveTo>
                  <a:cubicBezTo>
                    <a:pt x="0" y="20015"/>
                    <a:pt x="679" y="21600"/>
                    <a:pt x="1516" y="21600"/>
                  </a:cubicBezTo>
                  <a:lnTo>
                    <a:pt x="20084" y="21600"/>
                  </a:lnTo>
                  <a:cubicBezTo>
                    <a:pt x="20921" y="21600"/>
                    <a:pt x="21600" y="20015"/>
                    <a:pt x="21600" y="18059"/>
                  </a:cubicBezTo>
                  <a:lnTo>
                    <a:pt x="21600" y="3541"/>
                  </a:lnTo>
                  <a:cubicBezTo>
                    <a:pt x="21600" y="1586"/>
                    <a:pt x="20921" y="0"/>
                    <a:pt x="20084" y="0"/>
                  </a:cubicBezTo>
                  <a:lnTo>
                    <a:pt x="1516" y="0"/>
                  </a:lnTo>
                  <a:cubicBezTo>
                    <a:pt x="679" y="0"/>
                    <a:pt x="0" y="1586"/>
                    <a:pt x="0" y="3541"/>
                  </a:cubicBezTo>
                  <a:lnTo>
                    <a:pt x="0" y="18059"/>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27" name="Rounded Rectangle 16"/>
            <p:cNvSpPr/>
            <p:nvPr/>
          </p:nvSpPr>
          <p:spPr>
            <a:xfrm>
              <a:off x="2086976" y="-1"/>
              <a:ext cx="1069200"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755" y="21600"/>
                    <a:pt x="1686" y="21600"/>
                  </a:cubicBezTo>
                  <a:lnTo>
                    <a:pt x="19914" y="21600"/>
                  </a:lnTo>
                  <a:cubicBezTo>
                    <a:pt x="20845" y="21600"/>
                    <a:pt x="21600" y="19242"/>
                    <a:pt x="21600" y="16332"/>
                  </a:cubicBezTo>
                  <a:lnTo>
                    <a:pt x="21600" y="5268"/>
                  </a:lnTo>
                  <a:cubicBezTo>
                    <a:pt x="21600" y="2358"/>
                    <a:pt x="20845" y="0"/>
                    <a:pt x="19914" y="0"/>
                  </a:cubicBezTo>
                  <a:lnTo>
                    <a:pt x="1686" y="0"/>
                  </a:lnTo>
                  <a:cubicBezTo>
                    <a:pt x="755"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28" name="Rounded Rectangle 17"/>
            <p:cNvSpPr/>
            <p:nvPr/>
          </p:nvSpPr>
          <p:spPr>
            <a:xfrm>
              <a:off x="2086976" y="351443"/>
              <a:ext cx="1338911"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543" y="21600"/>
                    <a:pt x="1213" y="21600"/>
                  </a:cubicBezTo>
                  <a:lnTo>
                    <a:pt x="20387" y="21600"/>
                  </a:lnTo>
                  <a:cubicBezTo>
                    <a:pt x="21057" y="21600"/>
                    <a:pt x="21600" y="19242"/>
                    <a:pt x="21600" y="16332"/>
                  </a:cubicBezTo>
                  <a:lnTo>
                    <a:pt x="21600" y="5268"/>
                  </a:lnTo>
                  <a:cubicBezTo>
                    <a:pt x="21600" y="2358"/>
                    <a:pt x="21057" y="0"/>
                    <a:pt x="20387" y="0"/>
                  </a:cubicBezTo>
                  <a:lnTo>
                    <a:pt x="1213" y="0"/>
                  </a:lnTo>
                  <a:cubicBezTo>
                    <a:pt x="543"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29" name="Rounded Rectangle 26"/>
            <p:cNvSpPr/>
            <p:nvPr/>
          </p:nvSpPr>
          <p:spPr>
            <a:xfrm>
              <a:off x="1232990" y="118107"/>
              <a:ext cx="853989" cy="35144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10800"/>
                  </a:lnTo>
                  <a:moveTo>
                    <a:pt x="21600" y="0"/>
                  </a:moveTo>
                  <a:lnTo>
                    <a:pt x="18000" y="0"/>
                  </a:lnTo>
                  <a:cubicBezTo>
                    <a:pt x="14024" y="0"/>
                    <a:pt x="10800" y="3171"/>
                    <a:pt x="10800" y="7082"/>
                  </a:cubicBezTo>
                  <a:lnTo>
                    <a:pt x="10800" y="14518"/>
                  </a:lnTo>
                  <a:cubicBezTo>
                    <a:pt x="10800" y="18429"/>
                    <a:pt x="14024" y="21600"/>
                    <a:pt x="18000" y="21600"/>
                  </a:cubicBezTo>
                  <a:lnTo>
                    <a:pt x="21600" y="21600"/>
                  </a:lnTo>
                </a:path>
              </a:pathLst>
            </a:custGeom>
            <a:noFill/>
            <a:ln w="13885" cap="flat">
              <a:solidFill>
                <a:srgbClr val="000000"/>
              </a:solidFill>
              <a:prstDash val="solid"/>
              <a:round/>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30" name="TextBox 32"/>
            <p:cNvSpPr txBox="1"/>
            <p:nvPr/>
          </p:nvSpPr>
          <p:spPr>
            <a:xfrm>
              <a:off x="2171458" y="401778"/>
              <a:ext cx="1169947"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E55753"/>
                  </a:solidFill>
                </a:defRPr>
              </a:lvl1pPr>
            </a:lstStyle>
            <a:p>
              <a:r>
                <a:t>Default Risk impact</a:t>
              </a:r>
            </a:p>
          </p:txBody>
        </p:sp>
        <p:sp>
          <p:nvSpPr>
            <p:cNvPr id="231" name="TextBox 34"/>
            <p:cNvSpPr txBox="1"/>
            <p:nvPr/>
          </p:nvSpPr>
          <p:spPr>
            <a:xfrm>
              <a:off x="28942" y="156205"/>
              <a:ext cx="1181588" cy="2752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p>
              <a:pPr algn="ctr" defTabSz="457200">
                <a:defRPr sz="1000" b="1">
                  <a:solidFill>
                    <a:srgbClr val="E55753"/>
                  </a:solidFill>
                </a:defRPr>
              </a:pPr>
              <a:r>
                <a:t>Macroeconomic</a:t>
              </a:r>
            </a:p>
            <a:p>
              <a:pPr algn="ctr" defTabSz="457200">
                <a:defRPr sz="1000" b="1">
                  <a:solidFill>
                    <a:srgbClr val="E55753"/>
                  </a:solidFill>
                </a:defRPr>
              </a:pPr>
              <a:r>
                <a:t>Variables</a:t>
              </a:r>
            </a:p>
          </p:txBody>
        </p:sp>
        <p:sp>
          <p:nvSpPr>
            <p:cNvPr id="232" name="TextBox 36"/>
            <p:cNvSpPr txBox="1"/>
            <p:nvPr/>
          </p:nvSpPr>
          <p:spPr>
            <a:xfrm>
              <a:off x="2224552" y="50334"/>
              <a:ext cx="794047"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E55753"/>
                  </a:solidFill>
                </a:defRPr>
              </a:lvl1pPr>
            </a:lstStyle>
            <a:p>
              <a:r>
                <a:t>Time Lagged</a:t>
              </a:r>
            </a:p>
          </p:txBody>
        </p:sp>
      </p:grpSp>
      <p:grpSp>
        <p:nvGrpSpPr>
          <p:cNvPr id="241" name="Group"/>
          <p:cNvGrpSpPr/>
          <p:nvPr/>
        </p:nvGrpSpPr>
        <p:grpSpPr>
          <a:xfrm>
            <a:off x="3464506" y="948007"/>
            <a:ext cx="3649503" cy="587663"/>
            <a:chOff x="0" y="0"/>
            <a:chExt cx="3649502" cy="587662"/>
          </a:xfrm>
        </p:grpSpPr>
        <p:sp>
          <p:nvSpPr>
            <p:cNvPr id="234" name="Rounded Rectangle 12"/>
            <p:cNvSpPr/>
            <p:nvPr/>
          </p:nvSpPr>
          <p:spPr>
            <a:xfrm>
              <a:off x="-1" y="59542"/>
              <a:ext cx="1467958" cy="468574"/>
            </a:xfrm>
            <a:custGeom>
              <a:avLst/>
              <a:gdLst/>
              <a:ahLst/>
              <a:cxnLst>
                <a:cxn ang="0">
                  <a:pos x="wd2" y="hd2"/>
                </a:cxn>
                <a:cxn ang="5400000">
                  <a:pos x="wd2" y="hd2"/>
                </a:cxn>
                <a:cxn ang="10800000">
                  <a:pos x="wd2" y="hd2"/>
                </a:cxn>
                <a:cxn ang="16200000">
                  <a:pos x="wd2" y="hd2"/>
                </a:cxn>
              </a:cxnLst>
              <a:rect l="0" t="0" r="r" b="b"/>
              <a:pathLst>
                <a:path w="21600" h="21600" extrusionOk="0">
                  <a:moveTo>
                    <a:pt x="0" y="18059"/>
                  </a:moveTo>
                  <a:cubicBezTo>
                    <a:pt x="0" y="20015"/>
                    <a:pt x="589" y="21600"/>
                    <a:pt x="1315" y="21600"/>
                  </a:cubicBezTo>
                  <a:lnTo>
                    <a:pt x="20285" y="21600"/>
                  </a:lnTo>
                  <a:cubicBezTo>
                    <a:pt x="21011" y="21600"/>
                    <a:pt x="21600" y="20015"/>
                    <a:pt x="21600" y="18059"/>
                  </a:cubicBezTo>
                  <a:lnTo>
                    <a:pt x="21600" y="3541"/>
                  </a:lnTo>
                  <a:cubicBezTo>
                    <a:pt x="21600" y="1586"/>
                    <a:pt x="21011" y="0"/>
                    <a:pt x="20285" y="0"/>
                  </a:cubicBezTo>
                  <a:lnTo>
                    <a:pt x="1315" y="0"/>
                  </a:lnTo>
                  <a:cubicBezTo>
                    <a:pt x="589" y="0"/>
                    <a:pt x="0" y="1586"/>
                    <a:pt x="0" y="3541"/>
                  </a:cubicBezTo>
                  <a:lnTo>
                    <a:pt x="0" y="18059"/>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35" name="Rounded Rectangle 13"/>
            <p:cNvSpPr/>
            <p:nvPr/>
          </p:nvSpPr>
          <p:spPr>
            <a:xfrm>
              <a:off x="2328920" y="-1"/>
              <a:ext cx="1320582"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566" y="21600"/>
                    <a:pt x="1264" y="21600"/>
                  </a:cubicBezTo>
                  <a:lnTo>
                    <a:pt x="20336" y="21600"/>
                  </a:lnTo>
                  <a:cubicBezTo>
                    <a:pt x="21034" y="21600"/>
                    <a:pt x="21600" y="19242"/>
                    <a:pt x="21600" y="16332"/>
                  </a:cubicBezTo>
                  <a:lnTo>
                    <a:pt x="21600" y="5268"/>
                  </a:lnTo>
                  <a:cubicBezTo>
                    <a:pt x="21600" y="2358"/>
                    <a:pt x="21034" y="0"/>
                    <a:pt x="20336" y="0"/>
                  </a:cubicBezTo>
                  <a:lnTo>
                    <a:pt x="1264" y="0"/>
                  </a:lnTo>
                  <a:cubicBezTo>
                    <a:pt x="566"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36" name="Rounded Rectangle 14"/>
            <p:cNvSpPr/>
            <p:nvPr/>
          </p:nvSpPr>
          <p:spPr>
            <a:xfrm>
              <a:off x="2328920" y="351444"/>
              <a:ext cx="1224889"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566" y="21600"/>
                    <a:pt x="1264" y="21600"/>
                  </a:cubicBezTo>
                  <a:lnTo>
                    <a:pt x="20336" y="21600"/>
                  </a:lnTo>
                  <a:cubicBezTo>
                    <a:pt x="21034" y="21600"/>
                    <a:pt x="21600" y="19242"/>
                    <a:pt x="21600" y="16332"/>
                  </a:cubicBezTo>
                  <a:lnTo>
                    <a:pt x="21600" y="5268"/>
                  </a:lnTo>
                  <a:cubicBezTo>
                    <a:pt x="21600" y="2358"/>
                    <a:pt x="21034" y="0"/>
                    <a:pt x="20336" y="0"/>
                  </a:cubicBezTo>
                  <a:lnTo>
                    <a:pt x="1264" y="0"/>
                  </a:lnTo>
                  <a:cubicBezTo>
                    <a:pt x="566"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37" name="Rounded Rectangle 25"/>
            <p:cNvSpPr/>
            <p:nvPr/>
          </p:nvSpPr>
          <p:spPr>
            <a:xfrm>
              <a:off x="1459471" y="118108"/>
              <a:ext cx="869452" cy="35144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10800"/>
                  </a:lnTo>
                  <a:moveTo>
                    <a:pt x="21600" y="0"/>
                  </a:moveTo>
                  <a:lnTo>
                    <a:pt x="18000" y="0"/>
                  </a:lnTo>
                  <a:cubicBezTo>
                    <a:pt x="14024" y="0"/>
                    <a:pt x="10800" y="3171"/>
                    <a:pt x="10800" y="7082"/>
                  </a:cubicBezTo>
                  <a:lnTo>
                    <a:pt x="10800" y="14518"/>
                  </a:lnTo>
                  <a:cubicBezTo>
                    <a:pt x="10800" y="18429"/>
                    <a:pt x="14024" y="21600"/>
                    <a:pt x="18000" y="21600"/>
                  </a:cubicBezTo>
                  <a:lnTo>
                    <a:pt x="21600" y="21600"/>
                  </a:lnTo>
                </a:path>
              </a:pathLst>
            </a:custGeom>
            <a:noFill/>
            <a:ln w="13885" cap="flat">
              <a:solidFill>
                <a:srgbClr val="000000"/>
              </a:solidFill>
              <a:prstDash val="solid"/>
              <a:round/>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38" name="TextBox 35"/>
            <p:cNvSpPr txBox="1"/>
            <p:nvPr/>
          </p:nvSpPr>
          <p:spPr>
            <a:xfrm>
              <a:off x="2422700" y="50334"/>
              <a:ext cx="1133021"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DE8431"/>
                  </a:solidFill>
                </a:defRPr>
              </a:lvl1pPr>
            </a:lstStyle>
            <a:p>
              <a:r>
                <a:t>Past Default Rates</a:t>
              </a:r>
            </a:p>
          </p:txBody>
        </p:sp>
        <p:sp>
          <p:nvSpPr>
            <p:cNvPr id="239" name="TextBox 39"/>
            <p:cNvSpPr txBox="1"/>
            <p:nvPr/>
          </p:nvSpPr>
          <p:spPr>
            <a:xfrm>
              <a:off x="2382225" y="401779"/>
              <a:ext cx="1118278"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DE8431"/>
                  </a:solidFill>
                </a:defRPr>
              </a:lvl1pPr>
            </a:lstStyle>
            <a:p>
              <a:r>
                <a:t>Loan Performance</a:t>
              </a:r>
            </a:p>
          </p:txBody>
        </p:sp>
        <p:sp>
          <p:nvSpPr>
            <p:cNvPr id="240" name="TextBox 40"/>
            <p:cNvSpPr txBox="1"/>
            <p:nvPr/>
          </p:nvSpPr>
          <p:spPr>
            <a:xfrm>
              <a:off x="15915" y="156204"/>
              <a:ext cx="1436125" cy="2752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p>
              <a:pPr algn="ctr" defTabSz="457200">
                <a:defRPr sz="1000" b="1">
                  <a:solidFill>
                    <a:srgbClr val="DE8431"/>
                  </a:solidFill>
                </a:defRPr>
              </a:pPr>
              <a:r>
                <a:t>Historical Borrower</a:t>
              </a:r>
            </a:p>
            <a:p>
              <a:pPr algn="ctr" defTabSz="457200">
                <a:defRPr sz="1000" b="1">
                  <a:solidFill>
                    <a:srgbClr val="DE8431"/>
                  </a:solidFill>
                </a:defRPr>
              </a:pPr>
              <a:r>
                <a:t>Behavior</a:t>
              </a:r>
            </a:p>
          </p:txBody>
        </p:sp>
      </p:grpSp>
      <p:grpSp>
        <p:nvGrpSpPr>
          <p:cNvPr id="249" name="Group"/>
          <p:cNvGrpSpPr/>
          <p:nvPr/>
        </p:nvGrpSpPr>
        <p:grpSpPr>
          <a:xfrm>
            <a:off x="3464507" y="4093704"/>
            <a:ext cx="3191119" cy="587662"/>
            <a:chOff x="0" y="0"/>
            <a:chExt cx="3191118" cy="587660"/>
          </a:xfrm>
        </p:grpSpPr>
        <p:sp>
          <p:nvSpPr>
            <p:cNvPr id="242" name="Rounded Rectangle 21"/>
            <p:cNvSpPr/>
            <p:nvPr/>
          </p:nvSpPr>
          <p:spPr>
            <a:xfrm>
              <a:off x="-1" y="59542"/>
              <a:ext cx="1356354" cy="468574"/>
            </a:xfrm>
            <a:custGeom>
              <a:avLst/>
              <a:gdLst/>
              <a:ahLst/>
              <a:cxnLst>
                <a:cxn ang="0">
                  <a:pos x="wd2" y="hd2"/>
                </a:cxn>
                <a:cxn ang="5400000">
                  <a:pos x="wd2" y="hd2"/>
                </a:cxn>
                <a:cxn ang="10800000">
                  <a:pos x="wd2" y="hd2"/>
                </a:cxn>
                <a:cxn ang="16200000">
                  <a:pos x="wd2" y="hd2"/>
                </a:cxn>
              </a:cxnLst>
              <a:rect l="0" t="0" r="r" b="b"/>
              <a:pathLst>
                <a:path w="21600" h="21600" extrusionOk="0">
                  <a:moveTo>
                    <a:pt x="0" y="18059"/>
                  </a:moveTo>
                  <a:cubicBezTo>
                    <a:pt x="0" y="20015"/>
                    <a:pt x="794" y="21600"/>
                    <a:pt x="1772" y="21600"/>
                  </a:cubicBezTo>
                  <a:lnTo>
                    <a:pt x="19828" y="21600"/>
                  </a:lnTo>
                  <a:cubicBezTo>
                    <a:pt x="20806" y="21600"/>
                    <a:pt x="21600" y="20015"/>
                    <a:pt x="21600" y="18059"/>
                  </a:cubicBezTo>
                  <a:lnTo>
                    <a:pt x="21600" y="3541"/>
                  </a:lnTo>
                  <a:cubicBezTo>
                    <a:pt x="21600" y="1586"/>
                    <a:pt x="20806" y="0"/>
                    <a:pt x="19828" y="0"/>
                  </a:cubicBezTo>
                  <a:lnTo>
                    <a:pt x="1772" y="0"/>
                  </a:lnTo>
                  <a:cubicBezTo>
                    <a:pt x="794" y="0"/>
                    <a:pt x="0" y="1586"/>
                    <a:pt x="0" y="3541"/>
                  </a:cubicBezTo>
                  <a:lnTo>
                    <a:pt x="0" y="18059"/>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43" name="Rounded Rectangle 22"/>
            <p:cNvSpPr/>
            <p:nvPr/>
          </p:nvSpPr>
          <p:spPr>
            <a:xfrm>
              <a:off x="1857203" y="-1"/>
              <a:ext cx="1029016"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734" y="21600"/>
                    <a:pt x="1639" y="21600"/>
                  </a:cubicBezTo>
                  <a:lnTo>
                    <a:pt x="19961" y="21600"/>
                  </a:lnTo>
                  <a:cubicBezTo>
                    <a:pt x="20866" y="21600"/>
                    <a:pt x="21600" y="19242"/>
                    <a:pt x="21600" y="16332"/>
                  </a:cubicBezTo>
                  <a:lnTo>
                    <a:pt x="21600" y="5268"/>
                  </a:lnTo>
                  <a:cubicBezTo>
                    <a:pt x="21600" y="2358"/>
                    <a:pt x="20866" y="0"/>
                    <a:pt x="19961" y="0"/>
                  </a:cubicBezTo>
                  <a:lnTo>
                    <a:pt x="1639" y="0"/>
                  </a:lnTo>
                  <a:cubicBezTo>
                    <a:pt x="734"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44" name="Rounded Rectangle 23"/>
            <p:cNvSpPr/>
            <p:nvPr/>
          </p:nvSpPr>
          <p:spPr>
            <a:xfrm>
              <a:off x="1857203" y="351442"/>
              <a:ext cx="1333916" cy="236218"/>
            </a:xfrm>
            <a:custGeom>
              <a:avLst/>
              <a:gdLst/>
              <a:ahLst/>
              <a:cxnLst>
                <a:cxn ang="0">
                  <a:pos x="wd2" y="hd2"/>
                </a:cxn>
                <a:cxn ang="5400000">
                  <a:pos x="wd2" y="hd2"/>
                </a:cxn>
                <a:cxn ang="10800000">
                  <a:pos x="wd2" y="hd2"/>
                </a:cxn>
                <a:cxn ang="16200000">
                  <a:pos x="wd2" y="hd2"/>
                </a:cxn>
              </a:cxnLst>
              <a:rect l="0" t="0" r="r" b="b"/>
              <a:pathLst>
                <a:path w="21600" h="21600" extrusionOk="0">
                  <a:moveTo>
                    <a:pt x="0" y="16332"/>
                  </a:moveTo>
                  <a:cubicBezTo>
                    <a:pt x="0" y="19242"/>
                    <a:pt x="521" y="21600"/>
                    <a:pt x="1165" y="21600"/>
                  </a:cubicBezTo>
                  <a:lnTo>
                    <a:pt x="20435" y="21600"/>
                  </a:lnTo>
                  <a:cubicBezTo>
                    <a:pt x="21079" y="21600"/>
                    <a:pt x="21600" y="19242"/>
                    <a:pt x="21600" y="16332"/>
                  </a:cubicBezTo>
                  <a:lnTo>
                    <a:pt x="21600" y="5268"/>
                  </a:lnTo>
                  <a:cubicBezTo>
                    <a:pt x="21600" y="2358"/>
                    <a:pt x="21079" y="0"/>
                    <a:pt x="20435" y="0"/>
                  </a:cubicBezTo>
                  <a:lnTo>
                    <a:pt x="1165" y="0"/>
                  </a:lnTo>
                  <a:cubicBezTo>
                    <a:pt x="521" y="0"/>
                    <a:pt x="0" y="2358"/>
                    <a:pt x="0" y="5268"/>
                  </a:cubicBezTo>
                  <a:lnTo>
                    <a:pt x="0" y="16332"/>
                  </a:lnTo>
                </a:path>
              </a:pathLst>
            </a:custGeom>
            <a:solidFill>
              <a:srgbClr val="000000">
                <a:alpha val="20000"/>
              </a:srgbClr>
            </a:solidFill>
            <a:ln w="12700" cap="flat">
              <a:noFill/>
              <a:miter lim="400000"/>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45" name="Rounded Rectangle 28"/>
            <p:cNvSpPr/>
            <p:nvPr/>
          </p:nvSpPr>
          <p:spPr>
            <a:xfrm>
              <a:off x="1356353" y="118107"/>
              <a:ext cx="500853" cy="35144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10800"/>
                  </a:lnTo>
                  <a:moveTo>
                    <a:pt x="21600" y="0"/>
                  </a:moveTo>
                  <a:lnTo>
                    <a:pt x="18000" y="0"/>
                  </a:lnTo>
                  <a:cubicBezTo>
                    <a:pt x="14024" y="0"/>
                    <a:pt x="10800" y="3171"/>
                    <a:pt x="10800" y="7082"/>
                  </a:cubicBezTo>
                  <a:lnTo>
                    <a:pt x="10800" y="14518"/>
                  </a:lnTo>
                  <a:cubicBezTo>
                    <a:pt x="10800" y="18429"/>
                    <a:pt x="14024" y="21600"/>
                    <a:pt x="18000" y="21600"/>
                  </a:cubicBezTo>
                  <a:lnTo>
                    <a:pt x="21600" y="21600"/>
                  </a:lnTo>
                </a:path>
              </a:pathLst>
            </a:custGeom>
            <a:noFill/>
            <a:ln w="13885" cap="flat">
              <a:solidFill>
                <a:srgbClr val="000000"/>
              </a:solidFill>
              <a:prstDash val="solid"/>
              <a:round/>
            </a:ln>
            <a:effectLst/>
          </p:spPr>
          <p:txBody>
            <a:bodyPr wrap="square" lIns="45718" tIns="45718" rIns="45718" bIns="45718" numCol="1" anchor="ctr">
              <a:noAutofit/>
            </a:bodyPr>
            <a:lstStyle/>
            <a:p>
              <a:pPr algn="ctr" defTabSz="457200">
                <a:defRPr sz="1800">
                  <a:latin typeface="Calibri"/>
                  <a:ea typeface="Calibri"/>
                  <a:cs typeface="Calibri"/>
                  <a:sym typeface="Calibri"/>
                </a:defRPr>
              </a:pPr>
              <a:endParaRPr/>
            </a:p>
          </p:txBody>
        </p:sp>
        <p:sp>
          <p:nvSpPr>
            <p:cNvPr id="246" name="TextBox 37"/>
            <p:cNvSpPr txBox="1"/>
            <p:nvPr/>
          </p:nvSpPr>
          <p:spPr>
            <a:xfrm>
              <a:off x="1959976" y="50334"/>
              <a:ext cx="823470"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BA5DE5"/>
                  </a:solidFill>
                </a:defRPr>
              </a:lvl1pPr>
            </a:lstStyle>
            <a:p>
              <a:r>
                <a:t>Time-variable</a:t>
              </a:r>
            </a:p>
          </p:txBody>
        </p:sp>
        <p:sp>
          <p:nvSpPr>
            <p:cNvPr id="247" name="TextBox 38"/>
            <p:cNvSpPr txBox="1"/>
            <p:nvPr/>
          </p:nvSpPr>
          <p:spPr>
            <a:xfrm>
              <a:off x="168054" y="156205"/>
              <a:ext cx="1020244" cy="2752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p>
              <a:pPr algn="ctr" defTabSz="457200">
                <a:defRPr sz="1000" b="1">
                  <a:solidFill>
                    <a:srgbClr val="BA5DE5"/>
                  </a:solidFill>
                </a:defRPr>
              </a:pPr>
              <a:r>
                <a:t>Variable</a:t>
              </a:r>
            </a:p>
            <a:p>
              <a:pPr algn="ctr" defTabSz="457200">
                <a:defRPr sz="1000" b="1">
                  <a:solidFill>
                    <a:srgbClr val="BA5DE5"/>
                  </a:solidFill>
                </a:defRPr>
              </a:pPr>
              <a:r>
                <a:t>Relationships</a:t>
              </a:r>
            </a:p>
          </p:txBody>
        </p:sp>
        <p:sp>
          <p:nvSpPr>
            <p:cNvPr id="248" name="TextBox 41"/>
            <p:cNvSpPr txBox="1"/>
            <p:nvPr/>
          </p:nvSpPr>
          <p:spPr>
            <a:xfrm>
              <a:off x="1905622" y="401777"/>
              <a:ext cx="1237076" cy="13554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457200">
                <a:defRPr sz="1000">
                  <a:solidFill>
                    <a:srgbClr val="BA5DE5"/>
                  </a:solidFill>
                </a:defRPr>
              </a:lvl1pPr>
            </a:lstStyle>
            <a:p>
              <a:r>
                <a:t>Learnable from Data</a:t>
              </a:r>
            </a:p>
          </p:txBody>
        </p:sp>
      </p:grpSp>
      <p:sp>
        <p:nvSpPr>
          <p:cNvPr id="250" name="TextBox 5"/>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251" name="Title 1"/>
          <p:cNvSpPr txBox="1">
            <a:spLocks noGrp="1"/>
          </p:cNvSpPr>
          <p:nvPr>
            <p:ph type="title"/>
          </p:nvPr>
        </p:nvSpPr>
        <p:spPr>
          <a:xfrm>
            <a:off x="362512" y="609600"/>
            <a:ext cx="2242337" cy="572701"/>
          </a:xfrm>
          <a:prstGeom prst="rect">
            <a:avLst/>
          </a:prstGeom>
        </p:spPr>
        <p:txBody>
          <a:bodyPr/>
          <a:lstStyle>
            <a:lvl1pPr defTabSz="832102">
              <a:defRPr sz="2500"/>
            </a:lvl1pPr>
          </a:lstStyle>
          <a:p>
            <a:r>
              <a:t>Assumptions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241"/>
                                        </p:tgtEl>
                                        <p:attrNameLst>
                                          <p:attrName>style.visibility</p:attrName>
                                        </p:attrNameLst>
                                      </p:cBhvr>
                                      <p:to>
                                        <p:strVal val="visible"/>
                                      </p:to>
                                    </p:set>
                                    <p:animEffect transition="in" filter="wipe(left)">
                                      <p:cBhvr>
                                        <p:cTn id="7" dur="1000"/>
                                        <p:tgtEl>
                                          <p:spTgt spid="2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233"/>
                                        </p:tgtEl>
                                        <p:attrNameLst>
                                          <p:attrName>style.visibility</p:attrName>
                                        </p:attrNameLst>
                                      </p:cBhvr>
                                      <p:to>
                                        <p:strVal val="visible"/>
                                      </p:to>
                                    </p:set>
                                    <p:animEffect transition="in" filter="wipe(left)">
                                      <p:cBhvr>
                                        <p:cTn id="12" dur="1000"/>
                                        <p:tgtEl>
                                          <p:spTgt spid="2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225"/>
                                        </p:tgtEl>
                                        <p:attrNameLst>
                                          <p:attrName>style.visibility</p:attrName>
                                        </p:attrNameLst>
                                      </p:cBhvr>
                                      <p:to>
                                        <p:strVal val="visible"/>
                                      </p:to>
                                    </p:set>
                                    <p:animEffect transition="in" filter="wipe(left)">
                                      <p:cBhvr>
                                        <p:cTn id="17" dur="1000"/>
                                        <p:tgtEl>
                                          <p:spTgt spid="2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4" nodeType="clickEffect">
                                  <p:stCondLst>
                                    <p:cond delay="0"/>
                                  </p:stCondLst>
                                  <p:iterate>
                                    <p:tmAbs val="0"/>
                                  </p:iterate>
                                  <p:childTnLst>
                                    <p:set>
                                      <p:cBhvr>
                                        <p:cTn id="21" fill="hold"/>
                                        <p:tgtEl>
                                          <p:spTgt spid="249"/>
                                        </p:tgtEl>
                                        <p:attrNameLst>
                                          <p:attrName>style.visibility</p:attrName>
                                        </p:attrNameLst>
                                      </p:cBhvr>
                                      <p:to>
                                        <p:strVal val="visible"/>
                                      </p:to>
                                    </p:set>
                                    <p:animEffect transition="in" filter="wipe(left)">
                                      <p:cBhvr>
                                        <p:cTn id="22" dur="10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3" animBg="1" advAuto="0"/>
      <p:bldP spid="233" grpId="2" animBg="1" advAuto="0"/>
      <p:bldP spid="241" grpId="1" animBg="1" advAuto="0"/>
      <p:bldP spid="249" grpId="4"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Methodology: Data &amp; Frameworks"/>
          <p:cNvSpPr txBox="1">
            <a:spLocks noGrp="1"/>
          </p:cNvSpPr>
          <p:nvPr>
            <p:ph type="title"/>
          </p:nvPr>
        </p:nvSpPr>
        <p:spPr>
          <a:xfrm>
            <a:off x="365759" y="609595"/>
            <a:ext cx="5498633" cy="572703"/>
          </a:xfrm>
          <a:prstGeom prst="rect">
            <a:avLst/>
          </a:prstGeom>
        </p:spPr>
        <p:txBody>
          <a:bodyPr/>
          <a:lstStyle>
            <a:lvl1pPr defTabSz="841247">
              <a:defRPr sz="2500"/>
            </a:lvl1pPr>
          </a:lstStyle>
          <a:p>
            <a:r>
              <a:t>Methodology: Data &amp; Frameworks</a:t>
            </a:r>
          </a:p>
        </p:txBody>
      </p:sp>
      <p:sp>
        <p:nvSpPr>
          <p:cNvPr id="256" name="Slide Number"/>
          <p:cNvSpPr txBox="1">
            <a:spLocks noGrp="1"/>
          </p:cNvSpPr>
          <p:nvPr>
            <p:ph type="sldNum" sz="quarter" idx="4294967295"/>
          </p:nvPr>
        </p:nvSpPr>
        <p:spPr>
          <a:xfrm>
            <a:off x="8478414" y="4396980"/>
            <a:ext cx="203021"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grpSp>
        <p:nvGrpSpPr>
          <p:cNvPr id="266" name="Group"/>
          <p:cNvGrpSpPr/>
          <p:nvPr/>
        </p:nvGrpSpPr>
        <p:grpSpPr>
          <a:xfrm>
            <a:off x="120605" y="1815843"/>
            <a:ext cx="4023366" cy="2254257"/>
            <a:chOff x="0" y="0"/>
            <a:chExt cx="4023364" cy="2254256"/>
          </a:xfrm>
        </p:grpSpPr>
        <p:grpSp>
          <p:nvGrpSpPr>
            <p:cNvPr id="261" name="Group"/>
            <p:cNvGrpSpPr/>
            <p:nvPr/>
          </p:nvGrpSpPr>
          <p:grpSpPr>
            <a:xfrm>
              <a:off x="0" y="-1"/>
              <a:ext cx="4023365" cy="1248416"/>
              <a:chOff x="-1" y="-1"/>
              <a:chExt cx="4023364" cy="1248414"/>
            </a:xfrm>
          </p:grpSpPr>
          <p:sp>
            <p:nvSpPr>
              <p:cNvPr id="257" name="Text 3"/>
              <p:cNvSpPr txBox="1"/>
              <p:nvPr/>
            </p:nvSpPr>
            <p:spPr>
              <a:xfrm>
                <a:off x="1096334" y="-2"/>
                <a:ext cx="1830694" cy="2819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spc="200">
                    <a:solidFill>
                      <a:srgbClr val="2E6DA4"/>
                    </a:solidFill>
                    <a:latin typeface="Arial Black"/>
                    <a:ea typeface="Arial Black"/>
                    <a:cs typeface="Arial Black"/>
                    <a:sym typeface="Arial Black"/>
                  </a:defRPr>
                </a:lvl1pPr>
              </a:lstStyle>
              <a:p>
                <a:r>
                  <a:t>DATA SOURCES</a:t>
                </a:r>
              </a:p>
            </p:txBody>
          </p:sp>
          <p:sp>
            <p:nvSpPr>
              <p:cNvPr id="258" name="Shape 4"/>
              <p:cNvSpPr/>
              <p:nvPr/>
            </p:nvSpPr>
            <p:spPr>
              <a:xfrm>
                <a:off x="-2" y="379730"/>
                <a:ext cx="4023366" cy="868684"/>
              </a:xfrm>
              <a:prstGeom prst="rect">
                <a:avLst/>
              </a:prstGeom>
              <a:solidFill>
                <a:srgbClr val="FFFFFF"/>
              </a:solidFill>
              <a:ln w="12700" cap="flat">
                <a:solidFill>
                  <a:srgbClr val="D8E3EE"/>
                </a:solidFill>
                <a:prstDash val="solid"/>
                <a:round/>
              </a:ln>
              <a:effectLst>
                <a:outerShdw blurRad="101600" dist="38100" dir="8100000" rotWithShape="0">
                  <a:srgbClr val="000000">
                    <a:alpha val="18000"/>
                  </a:srgbClr>
                </a:outerShdw>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259" name="Text 5"/>
              <p:cNvSpPr txBox="1"/>
              <p:nvPr/>
            </p:nvSpPr>
            <p:spPr>
              <a:xfrm>
                <a:off x="182879" y="448770"/>
                <a:ext cx="3657604" cy="2642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200" b="1">
                    <a:solidFill>
                      <a:srgbClr val="0D1B2A"/>
                    </a:solidFill>
                  </a:defRPr>
                </a:lvl1pPr>
              </a:lstStyle>
              <a:p>
                <a:r>
                  <a:t>Lending Club Dataset (Kaggle)</a:t>
                </a:r>
              </a:p>
            </p:txBody>
          </p:sp>
          <p:sp>
            <p:nvSpPr>
              <p:cNvPr id="260" name="Text 6"/>
              <p:cNvSpPr txBox="1"/>
              <p:nvPr/>
            </p:nvSpPr>
            <p:spPr>
              <a:xfrm>
                <a:off x="182879" y="741679"/>
                <a:ext cx="3657604" cy="3916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a:solidFill>
                      <a:srgbClr val="1C2D3E"/>
                    </a:solidFill>
                  </a:defRPr>
                </a:lvl1pPr>
              </a:lstStyle>
              <a:p>
                <a:r>
                  <a:t>500K loans data, with key borrower features (loan grade, income, ratios, …)</a:t>
                </a:r>
              </a:p>
            </p:txBody>
          </p:sp>
        </p:grpSp>
        <p:grpSp>
          <p:nvGrpSpPr>
            <p:cNvPr id="265" name="Group"/>
            <p:cNvGrpSpPr/>
            <p:nvPr/>
          </p:nvGrpSpPr>
          <p:grpSpPr>
            <a:xfrm>
              <a:off x="0" y="1385573"/>
              <a:ext cx="4023365" cy="868684"/>
              <a:chOff x="-1" y="0"/>
              <a:chExt cx="4023364" cy="868683"/>
            </a:xfrm>
          </p:grpSpPr>
          <p:sp>
            <p:nvSpPr>
              <p:cNvPr id="262" name="Shape 7"/>
              <p:cNvSpPr/>
              <p:nvPr/>
            </p:nvSpPr>
            <p:spPr>
              <a:xfrm>
                <a:off x="-2" y="0"/>
                <a:ext cx="4023366" cy="868684"/>
              </a:xfrm>
              <a:prstGeom prst="rect">
                <a:avLst/>
              </a:prstGeom>
              <a:solidFill>
                <a:srgbClr val="FFFFFF"/>
              </a:solidFill>
              <a:ln w="12700" cap="flat">
                <a:solidFill>
                  <a:srgbClr val="D8E3EE"/>
                </a:solidFill>
                <a:prstDash val="solid"/>
                <a:round/>
              </a:ln>
              <a:effectLst>
                <a:outerShdw blurRad="101600" dist="38100" dir="8100000" rotWithShape="0">
                  <a:srgbClr val="000000">
                    <a:alpha val="18000"/>
                  </a:srgbClr>
                </a:outerShdw>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263" name="Text 8"/>
              <p:cNvSpPr txBox="1"/>
              <p:nvPr/>
            </p:nvSpPr>
            <p:spPr>
              <a:xfrm>
                <a:off x="182879" y="69041"/>
                <a:ext cx="3657604" cy="264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200" b="1">
                    <a:solidFill>
                      <a:srgbClr val="0D1B2A"/>
                    </a:solidFill>
                  </a:defRPr>
                </a:lvl1pPr>
              </a:lstStyle>
              <a:p>
                <a:r>
                  <a:t>FRED API</a:t>
                </a:r>
              </a:p>
            </p:txBody>
          </p:sp>
          <p:sp>
            <p:nvSpPr>
              <p:cNvPr id="264" name="Text 9"/>
              <p:cNvSpPr txBox="1"/>
              <p:nvPr/>
            </p:nvSpPr>
            <p:spPr>
              <a:xfrm>
                <a:off x="182879" y="361948"/>
                <a:ext cx="3657604" cy="3916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a:solidFill>
                      <a:srgbClr val="1C2D3E"/>
                    </a:solidFill>
                  </a:defRPr>
                </a:lvl1pPr>
              </a:lstStyle>
              <a:p>
                <a:r>
                  <a:t>Macroeconomic Data (rates, unemployment, inflation, GDP, bond yields, ...)</a:t>
                </a:r>
              </a:p>
            </p:txBody>
          </p:sp>
        </p:grpSp>
      </p:grpSp>
      <p:grpSp>
        <p:nvGrpSpPr>
          <p:cNvPr id="285" name="Group"/>
          <p:cNvGrpSpPr/>
          <p:nvPr/>
        </p:nvGrpSpPr>
        <p:grpSpPr>
          <a:xfrm>
            <a:off x="4468462" y="1151753"/>
            <a:ext cx="4536488" cy="3244989"/>
            <a:chOff x="0" y="0"/>
            <a:chExt cx="4536487" cy="3244987"/>
          </a:xfrm>
        </p:grpSpPr>
        <p:sp>
          <p:nvSpPr>
            <p:cNvPr id="267" name="Text 10"/>
            <p:cNvSpPr txBox="1"/>
            <p:nvPr/>
          </p:nvSpPr>
          <p:spPr>
            <a:xfrm>
              <a:off x="650531" y="0"/>
              <a:ext cx="3254772" cy="2819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spc="200">
                  <a:solidFill>
                    <a:srgbClr val="2E6DA4"/>
                  </a:solidFill>
                  <a:latin typeface="Arial Black"/>
                  <a:ea typeface="Arial Black"/>
                  <a:cs typeface="Arial Black"/>
                  <a:sym typeface="Arial Black"/>
                </a:defRPr>
              </a:lvl1pPr>
            </a:lstStyle>
            <a:p>
              <a:r>
                <a:t>THREE-TIER MODEL HIERARCHY</a:t>
              </a:r>
            </a:p>
          </p:txBody>
        </p:sp>
        <p:sp>
          <p:nvSpPr>
            <p:cNvPr id="268" name="Shape 11"/>
            <p:cNvSpPr/>
            <p:nvPr/>
          </p:nvSpPr>
          <p:spPr>
            <a:xfrm>
              <a:off x="19345" y="392056"/>
              <a:ext cx="4517143" cy="841253"/>
            </a:xfrm>
            <a:prstGeom prst="rect">
              <a:avLst/>
            </a:prstGeom>
            <a:solidFill>
              <a:srgbClr val="3B82A0"/>
            </a:solidFill>
            <a:ln w="12700" cap="flat">
              <a:solidFill>
                <a:srgbClr val="3B82A0"/>
              </a:solidFill>
              <a:prstDash val="solid"/>
              <a:round/>
            </a:ln>
            <a:effectLst>
              <a:outerShdw blurRad="101600" dist="38100" dir="8100000" rotWithShape="0">
                <a:srgbClr val="000000">
                  <a:alpha val="18000"/>
                </a:srgbClr>
              </a:outerShdw>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69" name="Text 12"/>
            <p:cNvSpPr txBox="1"/>
            <p:nvPr/>
          </p:nvSpPr>
          <p:spPr>
            <a:xfrm>
              <a:off x="39556" y="616847"/>
              <a:ext cx="878886" cy="3916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100" b="1">
                  <a:solidFill>
                    <a:srgbClr val="FFFFFF"/>
                  </a:solidFill>
                </a:defRPr>
              </a:lvl1pPr>
            </a:lstStyle>
            <a:p>
              <a:r>
                <a:t>Framework 1</a:t>
              </a:r>
            </a:p>
          </p:txBody>
        </p:sp>
        <p:sp>
          <p:nvSpPr>
            <p:cNvPr id="270" name="Shape 13"/>
            <p:cNvSpPr/>
            <p:nvPr/>
          </p:nvSpPr>
          <p:spPr>
            <a:xfrm>
              <a:off x="924602" y="392056"/>
              <a:ext cx="36579" cy="841253"/>
            </a:xfrm>
            <a:prstGeom prst="rect">
              <a:avLst/>
            </a:prstGeom>
            <a:solidFill>
              <a:srgbClr val="FFFFFF">
                <a:alpha val="40000"/>
              </a:srgbClr>
            </a:solidFill>
            <a:ln w="12700" cap="flat">
              <a:solidFill>
                <a:srgbClr val="FFFFFF">
                  <a:alpha val="40000"/>
                </a:srgbClr>
              </a:solidFill>
              <a:prstDash val="solid"/>
              <a:round/>
            </a:ln>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71" name="Text 14"/>
            <p:cNvSpPr txBox="1"/>
            <p:nvPr/>
          </p:nvSpPr>
          <p:spPr>
            <a:xfrm>
              <a:off x="1061762" y="474813"/>
              <a:ext cx="3337565" cy="264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200" b="1">
                  <a:solidFill>
                    <a:srgbClr val="FFFFFF"/>
                  </a:solidFill>
                </a:defRPr>
              </a:lvl1pPr>
            </a:lstStyle>
            <a:p>
              <a:r>
                <a:t>Baseline</a:t>
              </a:r>
            </a:p>
          </p:txBody>
        </p:sp>
        <p:sp>
          <p:nvSpPr>
            <p:cNvPr id="272" name="Text 15"/>
            <p:cNvSpPr txBox="1"/>
            <p:nvPr/>
          </p:nvSpPr>
          <p:spPr>
            <a:xfrm>
              <a:off x="1061762" y="848495"/>
              <a:ext cx="3337565" cy="2392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a:solidFill>
                    <a:srgbClr val="FFFFFF"/>
                  </a:solidFill>
                </a:defRPr>
              </a:lvl1pPr>
            </a:lstStyle>
            <a:p>
              <a:r>
                <a:t>Borrower features only</a:t>
              </a:r>
            </a:p>
          </p:txBody>
        </p:sp>
        <p:sp>
          <p:nvSpPr>
            <p:cNvPr id="273" name="Shape 16"/>
            <p:cNvSpPr/>
            <p:nvPr/>
          </p:nvSpPr>
          <p:spPr>
            <a:xfrm>
              <a:off x="2250482" y="1233304"/>
              <a:ext cx="54867" cy="164595"/>
            </a:xfrm>
            <a:prstGeom prst="rect">
              <a:avLst/>
            </a:prstGeom>
            <a:solidFill>
              <a:srgbClr val="DF8F45"/>
            </a:solidFill>
            <a:ln w="12700" cap="flat">
              <a:solidFill>
                <a:srgbClr val="DF8F45"/>
              </a:solidFill>
              <a:prstDash val="solid"/>
              <a:round/>
            </a:ln>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74" name="Shape 17"/>
            <p:cNvSpPr/>
            <p:nvPr/>
          </p:nvSpPr>
          <p:spPr>
            <a:xfrm>
              <a:off x="19346" y="1397897"/>
              <a:ext cx="4517141" cy="841251"/>
            </a:xfrm>
            <a:prstGeom prst="rect">
              <a:avLst/>
            </a:prstGeom>
            <a:solidFill>
              <a:srgbClr val="2563A0"/>
            </a:solidFill>
            <a:ln w="12700" cap="flat">
              <a:solidFill>
                <a:srgbClr val="2563A0"/>
              </a:solidFill>
              <a:prstDash val="solid"/>
              <a:round/>
            </a:ln>
            <a:effectLst>
              <a:outerShdw blurRad="101600" dist="38100" dir="8100000" rotWithShape="0">
                <a:srgbClr val="000000">
                  <a:alpha val="18000"/>
                </a:srgbClr>
              </a:outerShdw>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75" name="Text 18"/>
            <p:cNvSpPr txBox="1"/>
            <p:nvPr/>
          </p:nvSpPr>
          <p:spPr>
            <a:xfrm>
              <a:off x="0" y="1622687"/>
              <a:ext cx="878885" cy="3916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100" b="1">
                  <a:solidFill>
                    <a:srgbClr val="FFFFFF"/>
                  </a:solidFill>
                </a:defRPr>
              </a:lvl1pPr>
            </a:lstStyle>
            <a:p>
              <a:r>
                <a:t>Framework 2</a:t>
              </a:r>
            </a:p>
          </p:txBody>
        </p:sp>
        <p:sp>
          <p:nvSpPr>
            <p:cNvPr id="276" name="Shape 19"/>
            <p:cNvSpPr/>
            <p:nvPr/>
          </p:nvSpPr>
          <p:spPr>
            <a:xfrm>
              <a:off x="924602" y="1397897"/>
              <a:ext cx="36579" cy="841251"/>
            </a:xfrm>
            <a:prstGeom prst="rect">
              <a:avLst/>
            </a:prstGeom>
            <a:solidFill>
              <a:srgbClr val="FFFFFF">
                <a:alpha val="40000"/>
              </a:srgbClr>
            </a:solidFill>
            <a:ln w="12700" cap="flat">
              <a:solidFill>
                <a:srgbClr val="FFFFFF">
                  <a:alpha val="40000"/>
                </a:srgbClr>
              </a:solidFill>
              <a:prstDash val="solid"/>
              <a:round/>
            </a:ln>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77" name="Text 20"/>
            <p:cNvSpPr txBox="1"/>
            <p:nvPr/>
          </p:nvSpPr>
          <p:spPr>
            <a:xfrm>
              <a:off x="1061762" y="1488629"/>
              <a:ext cx="3337565" cy="248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200" b="1">
                  <a:solidFill>
                    <a:srgbClr val="FFFFFF"/>
                  </a:solidFill>
                  <a:latin typeface="Calibri"/>
                  <a:ea typeface="Calibri"/>
                  <a:cs typeface="Calibri"/>
                  <a:sym typeface="Calibri"/>
                </a:defRPr>
              </a:lvl1pPr>
            </a:lstStyle>
            <a:p>
              <a:r>
                <a:t>Macro-Augmented</a:t>
              </a:r>
            </a:p>
          </p:txBody>
        </p:sp>
        <p:sp>
          <p:nvSpPr>
            <p:cNvPr id="278" name="Text 21"/>
            <p:cNvSpPr txBox="1"/>
            <p:nvPr/>
          </p:nvSpPr>
          <p:spPr>
            <a:xfrm>
              <a:off x="1061762" y="1854335"/>
              <a:ext cx="3337565" cy="2392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a:solidFill>
                    <a:srgbClr val="FFFFFF"/>
                  </a:solidFill>
                </a:defRPr>
              </a:lvl1pPr>
            </a:lstStyle>
            <a:p>
              <a:r>
                <a:t>Borrower + macroeconomic variables (FRED series)</a:t>
              </a:r>
            </a:p>
          </p:txBody>
        </p:sp>
        <p:sp>
          <p:nvSpPr>
            <p:cNvPr id="279" name="Shape 22"/>
            <p:cNvSpPr/>
            <p:nvPr/>
          </p:nvSpPr>
          <p:spPr>
            <a:xfrm>
              <a:off x="2250482" y="2239143"/>
              <a:ext cx="54867" cy="164595"/>
            </a:xfrm>
            <a:prstGeom prst="rect">
              <a:avLst/>
            </a:prstGeom>
            <a:solidFill>
              <a:srgbClr val="DF8F45"/>
            </a:solidFill>
            <a:ln w="12700" cap="flat">
              <a:solidFill>
                <a:srgbClr val="DF8F45"/>
              </a:solidFill>
              <a:prstDash val="solid"/>
              <a:round/>
            </a:ln>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80" name="Shape 23"/>
            <p:cNvSpPr/>
            <p:nvPr/>
          </p:nvSpPr>
          <p:spPr>
            <a:xfrm>
              <a:off x="19346" y="2403735"/>
              <a:ext cx="4517141" cy="841253"/>
            </a:xfrm>
            <a:prstGeom prst="rect">
              <a:avLst/>
            </a:prstGeom>
            <a:solidFill>
              <a:srgbClr val="2E6DA4"/>
            </a:solidFill>
            <a:ln w="12700" cap="flat">
              <a:solidFill>
                <a:srgbClr val="2E6DA4"/>
              </a:solidFill>
              <a:prstDash val="solid"/>
              <a:round/>
            </a:ln>
            <a:effectLst>
              <a:outerShdw blurRad="101600" dist="38100" dir="8100000" rotWithShape="0">
                <a:srgbClr val="000000">
                  <a:alpha val="18000"/>
                </a:srgbClr>
              </a:outerShdw>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81" name="Text 24"/>
            <p:cNvSpPr txBox="1"/>
            <p:nvPr/>
          </p:nvSpPr>
          <p:spPr>
            <a:xfrm>
              <a:off x="0" y="2628525"/>
              <a:ext cx="878885" cy="3916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100" b="1">
                  <a:solidFill>
                    <a:srgbClr val="FFFFFF"/>
                  </a:solidFill>
                </a:defRPr>
              </a:lvl1pPr>
            </a:lstStyle>
            <a:p>
              <a:r>
                <a:t>Framework 3</a:t>
              </a:r>
            </a:p>
          </p:txBody>
        </p:sp>
        <p:sp>
          <p:nvSpPr>
            <p:cNvPr id="282" name="Shape 25"/>
            <p:cNvSpPr/>
            <p:nvPr/>
          </p:nvSpPr>
          <p:spPr>
            <a:xfrm>
              <a:off x="924602" y="2403735"/>
              <a:ext cx="36579" cy="841253"/>
            </a:xfrm>
            <a:prstGeom prst="rect">
              <a:avLst/>
            </a:prstGeom>
            <a:solidFill>
              <a:srgbClr val="FFFFFF">
                <a:alpha val="40000"/>
              </a:srgbClr>
            </a:solidFill>
            <a:ln w="12700" cap="flat">
              <a:solidFill>
                <a:srgbClr val="FFFFFF">
                  <a:alpha val="40000"/>
                </a:srgbClr>
              </a:solidFill>
              <a:prstDash val="solid"/>
              <a:round/>
            </a:ln>
            <a:effectLst/>
          </p:spPr>
          <p:txBody>
            <a:bodyPr wrap="square" lIns="45718" tIns="45718" rIns="45718" bIns="45718" numCol="1" anchor="t">
              <a:noAutofit/>
            </a:bodyPr>
            <a:lstStyle/>
            <a:p>
              <a:pPr>
                <a:defRPr sz="1100">
                  <a:latin typeface="Calibri"/>
                  <a:ea typeface="Calibri"/>
                  <a:cs typeface="Calibri"/>
                  <a:sym typeface="Calibri"/>
                </a:defRPr>
              </a:pPr>
              <a:endParaRPr/>
            </a:p>
          </p:txBody>
        </p:sp>
        <p:sp>
          <p:nvSpPr>
            <p:cNvPr id="283" name="Text 26"/>
            <p:cNvSpPr txBox="1"/>
            <p:nvPr/>
          </p:nvSpPr>
          <p:spPr>
            <a:xfrm>
              <a:off x="1061762" y="2486493"/>
              <a:ext cx="3337565" cy="264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200" b="1">
                  <a:solidFill>
                    <a:srgbClr val="FFFFFF"/>
                  </a:solidFill>
                </a:defRPr>
              </a:lvl1pPr>
            </a:lstStyle>
            <a:p>
              <a:r>
                <a:t>Regime-Dependent </a:t>
              </a:r>
            </a:p>
          </p:txBody>
        </p:sp>
        <p:sp>
          <p:nvSpPr>
            <p:cNvPr id="284" name="Text 27"/>
            <p:cNvSpPr txBox="1"/>
            <p:nvPr/>
          </p:nvSpPr>
          <p:spPr>
            <a:xfrm>
              <a:off x="1061762" y="2860175"/>
              <a:ext cx="3337565" cy="2392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sz="1100">
                  <a:solidFill>
                    <a:srgbClr val="FFFFFF"/>
                  </a:solidFill>
                </a:defRPr>
              </a:lvl1pPr>
            </a:lstStyle>
            <a:p>
              <a:r>
                <a:t>Borrower + Macro + Latent Regime</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266"/>
                                        </p:tgtEl>
                                        <p:attrNameLst>
                                          <p:attrName>style.visibility</p:attrName>
                                        </p:attrNameLst>
                                      </p:cBhvr>
                                      <p:to>
                                        <p:strVal val="visible"/>
                                      </p:to>
                                    </p:set>
                                    <p:animEffect transition="in" filter="wipe(left)">
                                      <p:cBhvr>
                                        <p:cTn id="7" dur="1000"/>
                                        <p:tgtEl>
                                          <p:spTgt spid="2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285"/>
                                        </p:tgtEl>
                                        <p:attrNameLst>
                                          <p:attrName>style.visibility</p:attrName>
                                        </p:attrNameLst>
                                      </p:cBhvr>
                                      <p:to>
                                        <p:strVal val="visible"/>
                                      </p:to>
                                    </p:set>
                                    <p:animEffect transition="in" filter="wipe(left)">
                                      <p:cBhvr>
                                        <p:cTn id="12"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1" animBg="1" advAuto="0"/>
      <p:bldP spid="285"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290" name="Title 1"/>
          <p:cNvSpPr txBox="1">
            <a:spLocks noGrp="1"/>
          </p:cNvSpPr>
          <p:nvPr>
            <p:ph type="title"/>
          </p:nvPr>
        </p:nvSpPr>
        <p:spPr>
          <a:xfrm>
            <a:off x="365758" y="617345"/>
            <a:ext cx="3616850" cy="572704"/>
          </a:xfrm>
          <a:prstGeom prst="rect">
            <a:avLst/>
          </a:prstGeom>
        </p:spPr>
        <p:txBody>
          <a:bodyPr/>
          <a:lstStyle>
            <a:lvl1pPr defTabSz="850391">
              <a:defRPr sz="2600"/>
            </a:lvl1pPr>
          </a:lstStyle>
          <a:p>
            <a:r>
              <a:t>Choice of Technology</a:t>
            </a:r>
          </a:p>
        </p:txBody>
      </p:sp>
      <p:sp>
        <p:nvSpPr>
          <p:cNvPr id="291" name="Rounded Rectangle 2"/>
          <p:cNvSpPr/>
          <p:nvPr/>
        </p:nvSpPr>
        <p:spPr>
          <a:xfrm>
            <a:off x="2783682" y="3456778"/>
            <a:ext cx="3798538" cy="1439976"/>
          </a:xfrm>
          <a:custGeom>
            <a:avLst/>
            <a:gdLst/>
            <a:ahLst/>
            <a:cxnLst>
              <a:cxn ang="0">
                <a:pos x="wd2" y="hd2"/>
              </a:cxn>
              <a:cxn ang="5400000">
                <a:pos x="wd2" y="hd2"/>
              </a:cxn>
              <a:cxn ang="10800000">
                <a:pos x="wd2" y="hd2"/>
              </a:cxn>
              <a:cxn ang="16200000">
                <a:pos x="wd2" y="hd2"/>
              </a:cxn>
            </a:cxnLst>
            <a:rect l="0" t="0" r="r" b="b"/>
            <a:pathLst>
              <a:path w="21600" h="21600" extrusionOk="0">
                <a:moveTo>
                  <a:pt x="7782" y="18585"/>
                </a:moveTo>
                <a:lnTo>
                  <a:pt x="9454" y="20675"/>
                </a:lnTo>
                <a:lnTo>
                  <a:pt x="9463" y="20663"/>
                </a:lnTo>
                <a:lnTo>
                  <a:pt x="21350" y="5655"/>
                </a:lnTo>
                <a:lnTo>
                  <a:pt x="21576" y="3721"/>
                </a:lnTo>
                <a:lnTo>
                  <a:pt x="21600" y="3515"/>
                </a:lnTo>
                <a:lnTo>
                  <a:pt x="21559" y="3186"/>
                </a:lnTo>
                <a:lnTo>
                  <a:pt x="21350" y="1499"/>
                </a:lnTo>
                <a:lnTo>
                  <a:pt x="20147" y="0"/>
                </a:lnTo>
                <a:cubicBezTo>
                  <a:pt x="20085" y="345"/>
                  <a:pt x="19908" y="632"/>
                  <a:pt x="19672" y="791"/>
                </a:cubicBezTo>
                <a:lnTo>
                  <a:pt x="19672" y="1622"/>
                </a:lnTo>
                <a:cubicBezTo>
                  <a:pt x="19640" y="1869"/>
                  <a:pt x="19406" y="1910"/>
                  <a:pt x="19344" y="1663"/>
                </a:cubicBezTo>
                <a:lnTo>
                  <a:pt x="19344" y="917"/>
                </a:lnTo>
                <a:cubicBezTo>
                  <a:pt x="19313" y="921"/>
                  <a:pt x="19282" y="923"/>
                  <a:pt x="19250" y="923"/>
                </a:cubicBezTo>
                <a:cubicBezTo>
                  <a:pt x="19201" y="923"/>
                  <a:pt x="19157" y="917"/>
                  <a:pt x="19141" y="914"/>
                </a:cubicBezTo>
                <a:lnTo>
                  <a:pt x="19141" y="2157"/>
                </a:lnTo>
                <a:cubicBezTo>
                  <a:pt x="19016" y="2487"/>
                  <a:pt x="18829" y="2322"/>
                  <a:pt x="18784" y="2157"/>
                </a:cubicBezTo>
                <a:lnTo>
                  <a:pt x="18784" y="948"/>
                </a:lnTo>
                <a:cubicBezTo>
                  <a:pt x="18745" y="982"/>
                  <a:pt x="18708" y="1019"/>
                  <a:pt x="18673" y="1060"/>
                </a:cubicBezTo>
                <a:lnTo>
                  <a:pt x="18673" y="1622"/>
                </a:lnTo>
                <a:cubicBezTo>
                  <a:pt x="18673" y="1939"/>
                  <a:pt x="18578" y="2227"/>
                  <a:pt x="18423" y="2441"/>
                </a:cubicBezTo>
                <a:cubicBezTo>
                  <a:pt x="18351" y="2539"/>
                  <a:pt x="18267" y="2621"/>
                  <a:pt x="18174" y="2684"/>
                </a:cubicBezTo>
                <a:lnTo>
                  <a:pt x="18174" y="3515"/>
                </a:lnTo>
                <a:cubicBezTo>
                  <a:pt x="18143" y="3762"/>
                  <a:pt x="17909" y="3803"/>
                  <a:pt x="17846" y="3557"/>
                </a:cubicBezTo>
                <a:lnTo>
                  <a:pt x="17846" y="2810"/>
                </a:lnTo>
                <a:cubicBezTo>
                  <a:pt x="17816" y="2814"/>
                  <a:pt x="17784" y="2816"/>
                  <a:pt x="17753" y="2816"/>
                </a:cubicBezTo>
                <a:cubicBezTo>
                  <a:pt x="17715" y="2816"/>
                  <a:pt x="17664" y="2810"/>
                  <a:pt x="17644" y="2807"/>
                </a:cubicBezTo>
                <a:lnTo>
                  <a:pt x="17644" y="4050"/>
                </a:lnTo>
                <a:cubicBezTo>
                  <a:pt x="17519" y="4380"/>
                  <a:pt x="17332" y="4215"/>
                  <a:pt x="17286" y="4050"/>
                </a:cubicBezTo>
                <a:lnTo>
                  <a:pt x="17286" y="2815"/>
                </a:lnTo>
                <a:cubicBezTo>
                  <a:pt x="17223" y="2865"/>
                  <a:pt x="17165" y="2924"/>
                  <a:pt x="17113" y="2992"/>
                </a:cubicBezTo>
                <a:lnTo>
                  <a:pt x="17113" y="3598"/>
                </a:lnTo>
                <a:cubicBezTo>
                  <a:pt x="17113" y="3887"/>
                  <a:pt x="17034" y="4153"/>
                  <a:pt x="16901" y="4359"/>
                </a:cubicBezTo>
                <a:cubicBezTo>
                  <a:pt x="16823" y="4483"/>
                  <a:pt x="16725" y="4585"/>
                  <a:pt x="16614" y="4659"/>
                </a:cubicBezTo>
                <a:lnTo>
                  <a:pt x="16614" y="5491"/>
                </a:lnTo>
                <a:cubicBezTo>
                  <a:pt x="16583" y="5738"/>
                  <a:pt x="16349" y="5779"/>
                  <a:pt x="16287" y="5532"/>
                </a:cubicBezTo>
                <a:lnTo>
                  <a:pt x="16287" y="4785"/>
                </a:lnTo>
                <a:cubicBezTo>
                  <a:pt x="16256" y="4789"/>
                  <a:pt x="16225" y="4791"/>
                  <a:pt x="16193" y="4791"/>
                </a:cubicBezTo>
                <a:cubicBezTo>
                  <a:pt x="16168" y="4791"/>
                  <a:pt x="16110" y="4785"/>
                  <a:pt x="16084" y="4783"/>
                </a:cubicBezTo>
                <a:lnTo>
                  <a:pt x="16084" y="6026"/>
                </a:lnTo>
                <a:cubicBezTo>
                  <a:pt x="15959" y="6355"/>
                  <a:pt x="15772" y="6190"/>
                  <a:pt x="15726" y="6026"/>
                </a:cubicBezTo>
                <a:lnTo>
                  <a:pt x="15726" y="4734"/>
                </a:lnTo>
                <a:cubicBezTo>
                  <a:pt x="15687" y="4768"/>
                  <a:pt x="15650" y="4805"/>
                  <a:pt x="15616" y="4846"/>
                </a:cubicBezTo>
                <a:lnTo>
                  <a:pt x="15616" y="5408"/>
                </a:lnTo>
                <a:cubicBezTo>
                  <a:pt x="15616" y="5725"/>
                  <a:pt x="15520" y="6013"/>
                  <a:pt x="15365" y="6227"/>
                </a:cubicBezTo>
                <a:cubicBezTo>
                  <a:pt x="15294" y="6325"/>
                  <a:pt x="15210" y="6407"/>
                  <a:pt x="15117" y="6470"/>
                </a:cubicBezTo>
                <a:lnTo>
                  <a:pt x="15117" y="7301"/>
                </a:lnTo>
                <a:cubicBezTo>
                  <a:pt x="15085" y="7548"/>
                  <a:pt x="14851" y="7589"/>
                  <a:pt x="14789" y="7342"/>
                </a:cubicBezTo>
                <a:lnTo>
                  <a:pt x="14789" y="6596"/>
                </a:lnTo>
                <a:cubicBezTo>
                  <a:pt x="14758" y="6600"/>
                  <a:pt x="14727" y="6602"/>
                  <a:pt x="14695" y="6602"/>
                </a:cubicBezTo>
                <a:cubicBezTo>
                  <a:pt x="14658" y="6601"/>
                  <a:pt x="14607" y="6596"/>
                  <a:pt x="14586" y="6593"/>
                </a:cubicBezTo>
                <a:lnTo>
                  <a:pt x="14586" y="7836"/>
                </a:lnTo>
                <a:cubicBezTo>
                  <a:pt x="14461" y="8165"/>
                  <a:pt x="14274" y="8001"/>
                  <a:pt x="14229" y="7836"/>
                </a:cubicBezTo>
                <a:lnTo>
                  <a:pt x="14229" y="6601"/>
                </a:lnTo>
                <a:cubicBezTo>
                  <a:pt x="14190" y="6632"/>
                  <a:pt x="14153" y="6666"/>
                  <a:pt x="14118" y="6704"/>
                </a:cubicBezTo>
                <a:lnTo>
                  <a:pt x="14118" y="7301"/>
                </a:lnTo>
                <a:cubicBezTo>
                  <a:pt x="14118" y="7633"/>
                  <a:pt x="14014" y="7933"/>
                  <a:pt x="13845" y="8149"/>
                </a:cubicBezTo>
                <a:cubicBezTo>
                  <a:pt x="13779" y="8235"/>
                  <a:pt x="13703" y="8307"/>
                  <a:pt x="13619" y="8363"/>
                </a:cubicBezTo>
                <a:lnTo>
                  <a:pt x="13619" y="9194"/>
                </a:lnTo>
                <a:cubicBezTo>
                  <a:pt x="13588" y="9441"/>
                  <a:pt x="13354" y="9482"/>
                  <a:pt x="13291" y="9235"/>
                </a:cubicBezTo>
                <a:lnTo>
                  <a:pt x="13291" y="8488"/>
                </a:lnTo>
                <a:cubicBezTo>
                  <a:pt x="13261" y="8493"/>
                  <a:pt x="13229" y="8495"/>
                  <a:pt x="13198" y="8495"/>
                </a:cubicBezTo>
                <a:cubicBezTo>
                  <a:pt x="13173" y="8495"/>
                  <a:pt x="13115" y="8489"/>
                  <a:pt x="13089" y="8486"/>
                </a:cubicBezTo>
                <a:lnTo>
                  <a:pt x="13089" y="9729"/>
                </a:lnTo>
                <a:cubicBezTo>
                  <a:pt x="12964" y="10058"/>
                  <a:pt x="12777" y="9894"/>
                  <a:pt x="12731" y="9729"/>
                </a:cubicBezTo>
                <a:lnTo>
                  <a:pt x="12731" y="8471"/>
                </a:lnTo>
                <a:cubicBezTo>
                  <a:pt x="12669" y="8515"/>
                  <a:pt x="12611" y="8569"/>
                  <a:pt x="12558" y="8632"/>
                </a:cubicBezTo>
                <a:lnTo>
                  <a:pt x="12558" y="9277"/>
                </a:lnTo>
                <a:cubicBezTo>
                  <a:pt x="12558" y="9581"/>
                  <a:pt x="12470" y="9859"/>
                  <a:pt x="12325" y="10070"/>
                </a:cubicBezTo>
                <a:cubicBezTo>
                  <a:pt x="12250" y="10179"/>
                  <a:pt x="12160" y="10270"/>
                  <a:pt x="12059" y="10338"/>
                </a:cubicBezTo>
                <a:lnTo>
                  <a:pt x="12059" y="11169"/>
                </a:lnTo>
                <a:cubicBezTo>
                  <a:pt x="12028" y="11416"/>
                  <a:pt x="11794" y="11457"/>
                  <a:pt x="11731" y="11211"/>
                </a:cubicBezTo>
                <a:lnTo>
                  <a:pt x="11731" y="10464"/>
                </a:lnTo>
                <a:cubicBezTo>
                  <a:pt x="11701" y="10468"/>
                  <a:pt x="11669" y="10470"/>
                  <a:pt x="11638" y="10470"/>
                </a:cubicBezTo>
                <a:cubicBezTo>
                  <a:pt x="11600" y="10470"/>
                  <a:pt x="11549" y="10464"/>
                  <a:pt x="11529" y="10462"/>
                </a:cubicBezTo>
                <a:lnTo>
                  <a:pt x="11529" y="11704"/>
                </a:lnTo>
                <a:cubicBezTo>
                  <a:pt x="11404" y="12034"/>
                  <a:pt x="11217" y="11869"/>
                  <a:pt x="11171" y="11704"/>
                </a:cubicBezTo>
                <a:lnTo>
                  <a:pt x="11171" y="10305"/>
                </a:lnTo>
                <a:cubicBezTo>
                  <a:pt x="11130" y="10274"/>
                  <a:pt x="11090" y="10238"/>
                  <a:pt x="11053" y="10198"/>
                </a:cubicBezTo>
                <a:lnTo>
                  <a:pt x="7785" y="14297"/>
                </a:lnTo>
                <a:lnTo>
                  <a:pt x="7590" y="15449"/>
                </a:lnTo>
                <a:lnTo>
                  <a:pt x="7535" y="15778"/>
                </a:lnTo>
                <a:lnTo>
                  <a:pt x="7557" y="16025"/>
                </a:lnTo>
                <a:lnTo>
                  <a:pt x="7710" y="17766"/>
                </a:lnTo>
                <a:lnTo>
                  <a:pt x="6992" y="18646"/>
                </a:lnTo>
                <a:cubicBezTo>
                  <a:pt x="6577" y="19156"/>
                  <a:pt x="6096" y="19136"/>
                  <a:pt x="5686" y="18596"/>
                </a:cubicBezTo>
                <a:cubicBezTo>
                  <a:pt x="5372" y="18181"/>
                  <a:pt x="5000" y="17691"/>
                  <a:pt x="4674" y="17262"/>
                </a:cubicBezTo>
                <a:cubicBezTo>
                  <a:pt x="4165" y="16591"/>
                  <a:pt x="3569" y="16568"/>
                  <a:pt x="3052" y="17199"/>
                </a:cubicBezTo>
                <a:lnTo>
                  <a:pt x="93" y="20812"/>
                </a:lnTo>
                <a:lnTo>
                  <a:pt x="88" y="20817"/>
                </a:lnTo>
                <a:cubicBezTo>
                  <a:pt x="37" y="20884"/>
                  <a:pt x="0" y="21026"/>
                  <a:pt x="0" y="21188"/>
                </a:cubicBezTo>
                <a:cubicBezTo>
                  <a:pt x="0" y="21416"/>
                  <a:pt x="70" y="21600"/>
                  <a:pt x="156" y="21600"/>
                </a:cubicBezTo>
                <a:cubicBezTo>
                  <a:pt x="180" y="21600"/>
                  <a:pt x="203" y="21586"/>
                  <a:pt x="223" y="21560"/>
                </a:cubicBezTo>
                <a:lnTo>
                  <a:pt x="3213" y="17906"/>
                </a:lnTo>
                <a:cubicBezTo>
                  <a:pt x="3628" y="17400"/>
                  <a:pt x="4107" y="17420"/>
                  <a:pt x="4515" y="17961"/>
                </a:cubicBezTo>
                <a:lnTo>
                  <a:pt x="5521" y="19294"/>
                </a:lnTo>
                <a:cubicBezTo>
                  <a:pt x="6032" y="19972"/>
                  <a:pt x="6633" y="19996"/>
                  <a:pt x="7152" y="19359"/>
                </a:cubicBezTo>
                <a:cubicBezTo>
                  <a:pt x="7428" y="19019"/>
                  <a:pt x="7691" y="18697"/>
                  <a:pt x="7782" y="18585"/>
                </a:cubicBezTo>
                <a:moveTo>
                  <a:pt x="88" y="20817"/>
                </a:moveTo>
                <a:lnTo>
                  <a:pt x="93" y="20812"/>
                </a:lnTo>
                <a:cubicBezTo>
                  <a:pt x="91" y="20814"/>
                  <a:pt x="90" y="20816"/>
                  <a:pt x="88" y="20817"/>
                </a:cubicBezTo>
              </a:path>
            </a:pathLst>
          </a:custGeom>
          <a:solidFill>
            <a:srgbClr val="1F1749"/>
          </a:solidFill>
          <a:ln w="12700">
            <a:miter lim="400000"/>
          </a:ln>
        </p:spPr>
        <p:txBody>
          <a:bodyPr lIns="45718" tIns="45718" rIns="45718" bIns="45718" anchor="ctr"/>
          <a:lstStyle/>
          <a:p>
            <a:pPr algn="ctr" defTabSz="342900">
              <a:defRPr sz="1200">
                <a:latin typeface="Calibri"/>
                <a:ea typeface="Calibri"/>
                <a:cs typeface="Calibri"/>
                <a:sym typeface="Calibri"/>
              </a:defRPr>
            </a:pPr>
            <a:endParaRPr/>
          </a:p>
        </p:txBody>
      </p:sp>
      <p:sp>
        <p:nvSpPr>
          <p:cNvPr id="292" name="Rounded Rectangle 3"/>
          <p:cNvSpPr/>
          <p:nvPr/>
        </p:nvSpPr>
        <p:spPr>
          <a:xfrm>
            <a:off x="2783682" y="3456778"/>
            <a:ext cx="3798539" cy="1439974"/>
          </a:xfrm>
          <a:custGeom>
            <a:avLst/>
            <a:gdLst/>
            <a:ahLst/>
            <a:cxnLst>
              <a:cxn ang="0">
                <a:pos x="wd2" y="hd2"/>
              </a:cxn>
              <a:cxn ang="5400000">
                <a:pos x="wd2" y="hd2"/>
              </a:cxn>
              <a:cxn ang="10800000">
                <a:pos x="wd2" y="hd2"/>
              </a:cxn>
              <a:cxn ang="16200000">
                <a:pos x="wd2" y="hd2"/>
              </a:cxn>
            </a:cxnLst>
            <a:rect l="0" t="0" r="r" b="b"/>
            <a:pathLst>
              <a:path w="21600" h="21600" extrusionOk="0">
                <a:moveTo>
                  <a:pt x="11622" y="11869"/>
                </a:moveTo>
                <a:cubicBezTo>
                  <a:pt x="11890" y="11869"/>
                  <a:pt x="12131" y="12028"/>
                  <a:pt x="12296" y="12281"/>
                </a:cubicBezTo>
                <a:cubicBezTo>
                  <a:pt x="12189" y="12444"/>
                  <a:pt x="12050" y="12569"/>
                  <a:pt x="11892" y="12636"/>
                </a:cubicBezTo>
                <a:cubicBezTo>
                  <a:pt x="11876" y="12643"/>
                  <a:pt x="11860" y="12649"/>
                  <a:pt x="11844" y="12655"/>
                </a:cubicBezTo>
                <a:cubicBezTo>
                  <a:pt x="11822" y="12662"/>
                  <a:pt x="11799" y="12669"/>
                  <a:pt x="11777" y="12674"/>
                </a:cubicBezTo>
                <a:cubicBezTo>
                  <a:pt x="11726" y="12686"/>
                  <a:pt x="11675" y="12692"/>
                  <a:pt x="11622" y="12692"/>
                </a:cubicBezTo>
                <a:cubicBezTo>
                  <a:pt x="11560" y="12692"/>
                  <a:pt x="11499" y="12683"/>
                  <a:pt x="11440" y="12667"/>
                </a:cubicBezTo>
                <a:cubicBezTo>
                  <a:pt x="11414" y="12660"/>
                  <a:pt x="11389" y="12651"/>
                  <a:pt x="11364" y="12641"/>
                </a:cubicBezTo>
                <a:cubicBezTo>
                  <a:pt x="11340" y="12631"/>
                  <a:pt x="11317" y="12621"/>
                  <a:pt x="11295" y="12609"/>
                </a:cubicBezTo>
                <a:cubicBezTo>
                  <a:pt x="11161" y="12538"/>
                  <a:pt x="11042" y="12424"/>
                  <a:pt x="10948" y="12281"/>
                </a:cubicBezTo>
                <a:cubicBezTo>
                  <a:pt x="11113" y="12028"/>
                  <a:pt x="11354" y="11869"/>
                  <a:pt x="11622" y="11869"/>
                </a:cubicBezTo>
                <a:close/>
                <a:moveTo>
                  <a:pt x="11622" y="12281"/>
                </a:moveTo>
                <a:cubicBezTo>
                  <a:pt x="11519" y="12281"/>
                  <a:pt x="11435" y="12391"/>
                  <a:pt x="11435" y="12527"/>
                </a:cubicBezTo>
                <a:cubicBezTo>
                  <a:pt x="11435" y="12583"/>
                  <a:pt x="11449" y="12634"/>
                  <a:pt x="11472" y="12675"/>
                </a:cubicBezTo>
                <a:cubicBezTo>
                  <a:pt x="11521" y="12686"/>
                  <a:pt x="11571" y="12692"/>
                  <a:pt x="11622" y="12692"/>
                </a:cubicBezTo>
                <a:cubicBezTo>
                  <a:pt x="11673" y="12692"/>
                  <a:pt x="11723" y="12686"/>
                  <a:pt x="11772" y="12675"/>
                </a:cubicBezTo>
                <a:cubicBezTo>
                  <a:pt x="11796" y="12634"/>
                  <a:pt x="11809" y="12583"/>
                  <a:pt x="11809" y="12527"/>
                </a:cubicBezTo>
                <a:cubicBezTo>
                  <a:pt x="11809" y="12391"/>
                  <a:pt x="11726" y="12281"/>
                  <a:pt x="11622" y="12281"/>
                </a:cubicBezTo>
                <a:close/>
                <a:moveTo>
                  <a:pt x="13151" y="9976"/>
                </a:moveTo>
                <a:cubicBezTo>
                  <a:pt x="13419" y="9976"/>
                  <a:pt x="13660" y="10135"/>
                  <a:pt x="13825" y="10388"/>
                </a:cubicBezTo>
                <a:cubicBezTo>
                  <a:pt x="13718" y="10550"/>
                  <a:pt x="13581" y="10674"/>
                  <a:pt x="13424" y="10742"/>
                </a:cubicBezTo>
                <a:cubicBezTo>
                  <a:pt x="13408" y="10749"/>
                  <a:pt x="13392" y="10755"/>
                  <a:pt x="13375" y="10761"/>
                </a:cubicBezTo>
                <a:cubicBezTo>
                  <a:pt x="13352" y="10769"/>
                  <a:pt x="13329" y="10776"/>
                  <a:pt x="13306" y="10781"/>
                </a:cubicBezTo>
                <a:cubicBezTo>
                  <a:pt x="13256" y="10793"/>
                  <a:pt x="13204" y="10799"/>
                  <a:pt x="13151" y="10799"/>
                </a:cubicBezTo>
                <a:cubicBezTo>
                  <a:pt x="13088" y="10799"/>
                  <a:pt x="13027" y="10790"/>
                  <a:pt x="12969" y="10774"/>
                </a:cubicBezTo>
                <a:cubicBezTo>
                  <a:pt x="12944" y="10767"/>
                  <a:pt x="12920" y="10759"/>
                  <a:pt x="12897" y="10750"/>
                </a:cubicBezTo>
                <a:cubicBezTo>
                  <a:pt x="12881" y="10743"/>
                  <a:pt x="12865" y="10737"/>
                  <a:pt x="12850" y="10729"/>
                </a:cubicBezTo>
                <a:cubicBezTo>
                  <a:pt x="12705" y="10659"/>
                  <a:pt x="12577" y="10541"/>
                  <a:pt x="12477" y="10388"/>
                </a:cubicBezTo>
                <a:cubicBezTo>
                  <a:pt x="12642" y="10135"/>
                  <a:pt x="12883" y="9976"/>
                  <a:pt x="13151" y="9976"/>
                </a:cubicBezTo>
                <a:close/>
                <a:moveTo>
                  <a:pt x="13151" y="10388"/>
                </a:moveTo>
                <a:cubicBezTo>
                  <a:pt x="13048" y="10388"/>
                  <a:pt x="12964" y="10498"/>
                  <a:pt x="12964" y="10635"/>
                </a:cubicBezTo>
                <a:cubicBezTo>
                  <a:pt x="12964" y="10690"/>
                  <a:pt x="12978" y="10741"/>
                  <a:pt x="13001" y="10782"/>
                </a:cubicBezTo>
                <a:cubicBezTo>
                  <a:pt x="13050" y="10793"/>
                  <a:pt x="13100" y="10799"/>
                  <a:pt x="13151" y="10799"/>
                </a:cubicBezTo>
                <a:cubicBezTo>
                  <a:pt x="13202" y="10799"/>
                  <a:pt x="13252" y="10793"/>
                  <a:pt x="13301" y="10782"/>
                </a:cubicBezTo>
                <a:cubicBezTo>
                  <a:pt x="13324" y="10741"/>
                  <a:pt x="13338" y="10690"/>
                  <a:pt x="13338" y="10635"/>
                </a:cubicBezTo>
                <a:cubicBezTo>
                  <a:pt x="13338" y="10498"/>
                  <a:pt x="13254" y="10388"/>
                  <a:pt x="13151" y="10388"/>
                </a:cubicBezTo>
                <a:close/>
                <a:moveTo>
                  <a:pt x="14680" y="8083"/>
                </a:moveTo>
                <a:cubicBezTo>
                  <a:pt x="14948" y="8083"/>
                  <a:pt x="15188" y="8242"/>
                  <a:pt x="15354" y="8495"/>
                </a:cubicBezTo>
                <a:cubicBezTo>
                  <a:pt x="15247" y="8658"/>
                  <a:pt x="15109" y="8782"/>
                  <a:pt x="14952" y="8849"/>
                </a:cubicBezTo>
                <a:cubicBezTo>
                  <a:pt x="14936" y="8856"/>
                  <a:pt x="14919" y="8863"/>
                  <a:pt x="14902" y="8869"/>
                </a:cubicBezTo>
                <a:cubicBezTo>
                  <a:pt x="14880" y="8876"/>
                  <a:pt x="14858" y="8883"/>
                  <a:pt x="14835" y="8888"/>
                </a:cubicBezTo>
                <a:cubicBezTo>
                  <a:pt x="14784" y="8900"/>
                  <a:pt x="14733" y="8906"/>
                  <a:pt x="14680" y="8906"/>
                </a:cubicBezTo>
                <a:cubicBezTo>
                  <a:pt x="14617" y="8906"/>
                  <a:pt x="14556" y="8898"/>
                  <a:pt x="14497" y="8881"/>
                </a:cubicBezTo>
                <a:cubicBezTo>
                  <a:pt x="14473" y="8874"/>
                  <a:pt x="14449" y="8866"/>
                  <a:pt x="14426" y="8857"/>
                </a:cubicBezTo>
                <a:cubicBezTo>
                  <a:pt x="14409" y="8850"/>
                  <a:pt x="14393" y="8843"/>
                  <a:pt x="14377" y="8835"/>
                </a:cubicBezTo>
                <a:cubicBezTo>
                  <a:pt x="14233" y="8766"/>
                  <a:pt x="14105" y="8647"/>
                  <a:pt x="14005" y="8495"/>
                </a:cubicBezTo>
                <a:cubicBezTo>
                  <a:pt x="14171" y="8242"/>
                  <a:pt x="14412" y="8083"/>
                  <a:pt x="14680" y="8083"/>
                </a:cubicBezTo>
                <a:close/>
                <a:moveTo>
                  <a:pt x="14680" y="8495"/>
                </a:moveTo>
                <a:cubicBezTo>
                  <a:pt x="14576" y="8495"/>
                  <a:pt x="14493" y="8605"/>
                  <a:pt x="14493" y="8742"/>
                </a:cubicBezTo>
                <a:cubicBezTo>
                  <a:pt x="14493" y="8797"/>
                  <a:pt x="14506" y="8848"/>
                  <a:pt x="14530" y="8889"/>
                </a:cubicBezTo>
                <a:cubicBezTo>
                  <a:pt x="14578" y="8900"/>
                  <a:pt x="14629" y="8906"/>
                  <a:pt x="14680" y="8906"/>
                </a:cubicBezTo>
                <a:cubicBezTo>
                  <a:pt x="14731" y="8906"/>
                  <a:pt x="14781" y="8900"/>
                  <a:pt x="14830" y="8889"/>
                </a:cubicBezTo>
                <a:cubicBezTo>
                  <a:pt x="14853" y="8848"/>
                  <a:pt x="14867" y="8797"/>
                  <a:pt x="14867" y="8742"/>
                </a:cubicBezTo>
                <a:cubicBezTo>
                  <a:pt x="14867" y="8605"/>
                  <a:pt x="14783" y="8495"/>
                  <a:pt x="14680" y="8495"/>
                </a:cubicBezTo>
                <a:close/>
                <a:moveTo>
                  <a:pt x="16208" y="6190"/>
                </a:moveTo>
                <a:cubicBezTo>
                  <a:pt x="16476" y="6190"/>
                  <a:pt x="16717" y="6349"/>
                  <a:pt x="16883" y="6602"/>
                </a:cubicBezTo>
                <a:cubicBezTo>
                  <a:pt x="16804" y="6722"/>
                  <a:pt x="16708" y="6821"/>
                  <a:pt x="16600" y="6892"/>
                </a:cubicBezTo>
                <a:cubicBezTo>
                  <a:pt x="16578" y="6907"/>
                  <a:pt x="16555" y="6920"/>
                  <a:pt x="16533" y="6932"/>
                </a:cubicBezTo>
                <a:cubicBezTo>
                  <a:pt x="16502" y="6948"/>
                  <a:pt x="16470" y="6962"/>
                  <a:pt x="16437" y="6973"/>
                </a:cubicBezTo>
                <a:cubicBezTo>
                  <a:pt x="16364" y="6999"/>
                  <a:pt x="16288" y="7013"/>
                  <a:pt x="16208" y="7013"/>
                </a:cubicBezTo>
                <a:cubicBezTo>
                  <a:pt x="16115" y="7013"/>
                  <a:pt x="16024" y="6994"/>
                  <a:pt x="15939" y="6958"/>
                </a:cubicBezTo>
                <a:cubicBezTo>
                  <a:pt x="15900" y="6941"/>
                  <a:pt x="15862" y="6921"/>
                  <a:pt x="15825" y="6897"/>
                </a:cubicBezTo>
                <a:cubicBezTo>
                  <a:pt x="15798" y="6880"/>
                  <a:pt x="15773" y="6862"/>
                  <a:pt x="15748" y="6842"/>
                </a:cubicBezTo>
                <a:cubicBezTo>
                  <a:pt x="15668" y="6777"/>
                  <a:pt x="15596" y="6696"/>
                  <a:pt x="15534" y="6602"/>
                </a:cubicBezTo>
                <a:cubicBezTo>
                  <a:pt x="15700" y="6349"/>
                  <a:pt x="15941" y="6190"/>
                  <a:pt x="16208" y="6190"/>
                </a:cubicBezTo>
                <a:close/>
                <a:moveTo>
                  <a:pt x="16208" y="6602"/>
                </a:moveTo>
                <a:cubicBezTo>
                  <a:pt x="16105" y="6602"/>
                  <a:pt x="16021" y="6712"/>
                  <a:pt x="16021" y="6849"/>
                </a:cubicBezTo>
                <a:cubicBezTo>
                  <a:pt x="16021" y="6904"/>
                  <a:pt x="16035" y="6955"/>
                  <a:pt x="16058" y="6996"/>
                </a:cubicBezTo>
                <a:cubicBezTo>
                  <a:pt x="16107" y="7007"/>
                  <a:pt x="16157" y="7013"/>
                  <a:pt x="16208" y="7013"/>
                </a:cubicBezTo>
                <a:cubicBezTo>
                  <a:pt x="16260" y="7013"/>
                  <a:pt x="16310" y="7007"/>
                  <a:pt x="16359" y="6996"/>
                </a:cubicBezTo>
                <a:cubicBezTo>
                  <a:pt x="16382" y="6955"/>
                  <a:pt x="16396" y="6904"/>
                  <a:pt x="16396" y="6849"/>
                </a:cubicBezTo>
                <a:cubicBezTo>
                  <a:pt x="16396" y="6712"/>
                  <a:pt x="16312" y="6602"/>
                  <a:pt x="16208" y="6602"/>
                </a:cubicBezTo>
                <a:close/>
                <a:moveTo>
                  <a:pt x="17737" y="4297"/>
                </a:moveTo>
                <a:cubicBezTo>
                  <a:pt x="18005" y="4297"/>
                  <a:pt x="18246" y="4456"/>
                  <a:pt x="18412" y="4709"/>
                </a:cubicBezTo>
                <a:cubicBezTo>
                  <a:pt x="18332" y="4831"/>
                  <a:pt x="18234" y="4931"/>
                  <a:pt x="18125" y="5002"/>
                </a:cubicBezTo>
                <a:cubicBezTo>
                  <a:pt x="18104" y="5015"/>
                  <a:pt x="18084" y="5027"/>
                  <a:pt x="18062" y="5038"/>
                </a:cubicBezTo>
                <a:cubicBezTo>
                  <a:pt x="18031" y="5055"/>
                  <a:pt x="17999" y="5069"/>
                  <a:pt x="17966" y="5080"/>
                </a:cubicBezTo>
                <a:cubicBezTo>
                  <a:pt x="17893" y="5106"/>
                  <a:pt x="17816" y="5120"/>
                  <a:pt x="17737" y="5120"/>
                </a:cubicBezTo>
                <a:cubicBezTo>
                  <a:pt x="17644" y="5120"/>
                  <a:pt x="17553" y="5101"/>
                  <a:pt x="17468" y="5065"/>
                </a:cubicBezTo>
                <a:cubicBezTo>
                  <a:pt x="17429" y="5048"/>
                  <a:pt x="17390" y="5028"/>
                  <a:pt x="17353" y="5004"/>
                </a:cubicBezTo>
                <a:cubicBezTo>
                  <a:pt x="17328" y="4988"/>
                  <a:pt x="17303" y="4970"/>
                  <a:pt x="17279" y="4950"/>
                </a:cubicBezTo>
                <a:cubicBezTo>
                  <a:pt x="17198" y="4885"/>
                  <a:pt x="17125" y="4804"/>
                  <a:pt x="17063" y="4709"/>
                </a:cubicBezTo>
                <a:cubicBezTo>
                  <a:pt x="17229" y="4456"/>
                  <a:pt x="17469" y="4297"/>
                  <a:pt x="17737" y="4297"/>
                </a:cubicBezTo>
                <a:close/>
                <a:moveTo>
                  <a:pt x="17737" y="4709"/>
                </a:moveTo>
                <a:cubicBezTo>
                  <a:pt x="17634" y="4709"/>
                  <a:pt x="17550" y="4819"/>
                  <a:pt x="17550" y="4956"/>
                </a:cubicBezTo>
                <a:cubicBezTo>
                  <a:pt x="17550" y="5011"/>
                  <a:pt x="17564" y="5062"/>
                  <a:pt x="17587" y="5103"/>
                </a:cubicBezTo>
                <a:cubicBezTo>
                  <a:pt x="17636" y="5114"/>
                  <a:pt x="17686" y="5120"/>
                  <a:pt x="17737" y="5120"/>
                </a:cubicBezTo>
                <a:cubicBezTo>
                  <a:pt x="17788" y="5120"/>
                  <a:pt x="17839" y="5114"/>
                  <a:pt x="17887" y="5103"/>
                </a:cubicBezTo>
                <a:cubicBezTo>
                  <a:pt x="17911" y="5062"/>
                  <a:pt x="17924" y="5011"/>
                  <a:pt x="17924" y="4956"/>
                </a:cubicBezTo>
                <a:cubicBezTo>
                  <a:pt x="17924" y="4819"/>
                  <a:pt x="17841" y="4709"/>
                  <a:pt x="17737" y="4709"/>
                </a:cubicBezTo>
                <a:close/>
                <a:moveTo>
                  <a:pt x="19266" y="2404"/>
                </a:moveTo>
                <a:cubicBezTo>
                  <a:pt x="19534" y="2404"/>
                  <a:pt x="19775" y="2563"/>
                  <a:pt x="19940" y="2816"/>
                </a:cubicBezTo>
                <a:cubicBezTo>
                  <a:pt x="19862" y="2935"/>
                  <a:pt x="19767" y="3034"/>
                  <a:pt x="19659" y="3105"/>
                </a:cubicBezTo>
                <a:cubicBezTo>
                  <a:pt x="19637" y="3119"/>
                  <a:pt x="19614" y="3133"/>
                  <a:pt x="19591" y="3145"/>
                </a:cubicBezTo>
                <a:cubicBezTo>
                  <a:pt x="19560" y="3162"/>
                  <a:pt x="19528" y="3176"/>
                  <a:pt x="19495" y="3187"/>
                </a:cubicBezTo>
                <a:cubicBezTo>
                  <a:pt x="19422" y="3213"/>
                  <a:pt x="19345" y="3227"/>
                  <a:pt x="19266" y="3227"/>
                </a:cubicBezTo>
                <a:cubicBezTo>
                  <a:pt x="19172" y="3227"/>
                  <a:pt x="19082" y="3208"/>
                  <a:pt x="18997" y="3172"/>
                </a:cubicBezTo>
                <a:cubicBezTo>
                  <a:pt x="18957" y="3155"/>
                  <a:pt x="18919" y="3135"/>
                  <a:pt x="18882" y="3111"/>
                </a:cubicBezTo>
                <a:cubicBezTo>
                  <a:pt x="18856" y="3094"/>
                  <a:pt x="18830" y="3076"/>
                  <a:pt x="18806" y="3056"/>
                </a:cubicBezTo>
                <a:cubicBezTo>
                  <a:pt x="18726" y="2991"/>
                  <a:pt x="18653" y="2910"/>
                  <a:pt x="18592" y="2816"/>
                </a:cubicBezTo>
                <a:cubicBezTo>
                  <a:pt x="18757" y="2563"/>
                  <a:pt x="18998" y="2404"/>
                  <a:pt x="19266" y="2404"/>
                </a:cubicBezTo>
                <a:close/>
                <a:moveTo>
                  <a:pt x="19266" y="2816"/>
                </a:moveTo>
                <a:cubicBezTo>
                  <a:pt x="19163" y="2816"/>
                  <a:pt x="19079" y="2926"/>
                  <a:pt x="19079" y="3063"/>
                </a:cubicBezTo>
                <a:cubicBezTo>
                  <a:pt x="19079" y="3118"/>
                  <a:pt x="19093" y="3169"/>
                  <a:pt x="19116" y="3210"/>
                </a:cubicBezTo>
                <a:cubicBezTo>
                  <a:pt x="19165" y="3221"/>
                  <a:pt x="19215" y="3227"/>
                  <a:pt x="19266" y="3227"/>
                </a:cubicBezTo>
                <a:cubicBezTo>
                  <a:pt x="19317" y="3227"/>
                  <a:pt x="19367" y="3221"/>
                  <a:pt x="19416" y="3210"/>
                </a:cubicBezTo>
                <a:cubicBezTo>
                  <a:pt x="19439" y="3169"/>
                  <a:pt x="19453" y="3118"/>
                  <a:pt x="19453" y="3063"/>
                </a:cubicBezTo>
                <a:cubicBezTo>
                  <a:pt x="19453" y="2926"/>
                  <a:pt x="19369" y="2816"/>
                  <a:pt x="19266" y="2816"/>
                </a:cubicBezTo>
                <a:close/>
                <a:moveTo>
                  <a:pt x="10047" y="12857"/>
                </a:moveTo>
                <a:lnTo>
                  <a:pt x="10374" y="13268"/>
                </a:lnTo>
                <a:lnTo>
                  <a:pt x="10374" y="13803"/>
                </a:lnTo>
                <a:lnTo>
                  <a:pt x="10608" y="14132"/>
                </a:lnTo>
                <a:lnTo>
                  <a:pt x="9594" y="15449"/>
                </a:lnTo>
                <a:lnTo>
                  <a:pt x="8565" y="14050"/>
                </a:lnTo>
                <a:lnTo>
                  <a:pt x="8752" y="13741"/>
                </a:lnTo>
                <a:lnTo>
                  <a:pt x="8752" y="13515"/>
                </a:lnTo>
                <a:lnTo>
                  <a:pt x="9501" y="12527"/>
                </a:lnTo>
                <a:lnTo>
                  <a:pt x="9891" y="13067"/>
                </a:lnTo>
                <a:close/>
                <a:moveTo>
                  <a:pt x="9463" y="20663"/>
                </a:moveTo>
                <a:lnTo>
                  <a:pt x="21350" y="5655"/>
                </a:lnTo>
                <a:lnTo>
                  <a:pt x="21576" y="3721"/>
                </a:lnTo>
                <a:lnTo>
                  <a:pt x="9631" y="18678"/>
                </a:lnTo>
                <a:close/>
                <a:moveTo>
                  <a:pt x="9631" y="18124"/>
                </a:moveTo>
                <a:lnTo>
                  <a:pt x="9657" y="18371"/>
                </a:lnTo>
                <a:lnTo>
                  <a:pt x="9631" y="18678"/>
                </a:lnTo>
                <a:lnTo>
                  <a:pt x="21576" y="3721"/>
                </a:lnTo>
                <a:lnTo>
                  <a:pt x="21600" y="3515"/>
                </a:lnTo>
                <a:lnTo>
                  <a:pt x="21559" y="3186"/>
                </a:lnTo>
                <a:close/>
                <a:moveTo>
                  <a:pt x="7782" y="18585"/>
                </a:moveTo>
                <a:lnTo>
                  <a:pt x="9454" y="20675"/>
                </a:lnTo>
                <a:lnTo>
                  <a:pt x="9463" y="20663"/>
                </a:lnTo>
                <a:lnTo>
                  <a:pt x="9631" y="18678"/>
                </a:lnTo>
                <a:lnTo>
                  <a:pt x="8831" y="17656"/>
                </a:lnTo>
                <a:cubicBezTo>
                  <a:pt x="8788" y="17848"/>
                  <a:pt x="8717" y="17986"/>
                  <a:pt x="8634" y="18028"/>
                </a:cubicBezTo>
                <a:lnTo>
                  <a:pt x="8488" y="18105"/>
                </a:lnTo>
                <a:cubicBezTo>
                  <a:pt x="8483" y="18108"/>
                  <a:pt x="8477" y="18111"/>
                  <a:pt x="8471" y="18114"/>
                </a:cubicBezTo>
                <a:cubicBezTo>
                  <a:pt x="8456" y="18121"/>
                  <a:pt x="8440" y="18124"/>
                  <a:pt x="8424" y="18124"/>
                </a:cubicBezTo>
                <a:cubicBezTo>
                  <a:pt x="8365" y="18124"/>
                  <a:pt x="8311" y="18077"/>
                  <a:pt x="8265" y="17995"/>
                </a:cubicBezTo>
                <a:close/>
                <a:moveTo>
                  <a:pt x="9454" y="16437"/>
                </a:moveTo>
                <a:lnTo>
                  <a:pt x="7785" y="14297"/>
                </a:lnTo>
                <a:lnTo>
                  <a:pt x="7590" y="15449"/>
                </a:lnTo>
                <a:lnTo>
                  <a:pt x="8381" y="16486"/>
                </a:lnTo>
                <a:lnTo>
                  <a:pt x="8518" y="16414"/>
                </a:lnTo>
                <a:cubicBezTo>
                  <a:pt x="8538" y="16402"/>
                  <a:pt x="8559" y="16396"/>
                  <a:pt x="8580" y="16396"/>
                </a:cubicBezTo>
                <a:cubicBezTo>
                  <a:pt x="8733" y="16396"/>
                  <a:pt x="8860" y="16719"/>
                  <a:pt x="8875" y="17133"/>
                </a:cubicBezTo>
                <a:lnTo>
                  <a:pt x="9631" y="18124"/>
                </a:lnTo>
                <a:close/>
                <a:moveTo>
                  <a:pt x="10374" y="13268"/>
                </a:moveTo>
                <a:lnTo>
                  <a:pt x="10047" y="12857"/>
                </a:lnTo>
                <a:lnTo>
                  <a:pt x="9891" y="13067"/>
                </a:lnTo>
                <a:lnTo>
                  <a:pt x="9313" y="13844"/>
                </a:lnTo>
                <a:lnTo>
                  <a:pt x="9631" y="14215"/>
                </a:lnTo>
                <a:close/>
                <a:moveTo>
                  <a:pt x="8752" y="13515"/>
                </a:moveTo>
                <a:lnTo>
                  <a:pt x="9204" y="14091"/>
                </a:lnTo>
                <a:lnTo>
                  <a:pt x="9313" y="13844"/>
                </a:lnTo>
                <a:lnTo>
                  <a:pt x="9891" y="13067"/>
                </a:lnTo>
                <a:lnTo>
                  <a:pt x="9501" y="12527"/>
                </a:lnTo>
                <a:close/>
                <a:moveTo>
                  <a:pt x="9204" y="14091"/>
                </a:moveTo>
                <a:lnTo>
                  <a:pt x="8752" y="13515"/>
                </a:lnTo>
                <a:lnTo>
                  <a:pt x="8752" y="13968"/>
                </a:lnTo>
                <a:lnTo>
                  <a:pt x="9631" y="15038"/>
                </a:lnTo>
                <a:lnTo>
                  <a:pt x="9631" y="14215"/>
                </a:lnTo>
                <a:lnTo>
                  <a:pt x="9313" y="13844"/>
                </a:lnTo>
                <a:close/>
                <a:moveTo>
                  <a:pt x="9631" y="15038"/>
                </a:moveTo>
                <a:lnTo>
                  <a:pt x="8752" y="13968"/>
                </a:lnTo>
                <a:lnTo>
                  <a:pt x="8752" y="13741"/>
                </a:lnTo>
                <a:lnTo>
                  <a:pt x="8565" y="14050"/>
                </a:lnTo>
                <a:lnTo>
                  <a:pt x="9594" y="15449"/>
                </a:lnTo>
                <a:lnTo>
                  <a:pt x="10608" y="14132"/>
                </a:lnTo>
                <a:lnTo>
                  <a:pt x="10374" y="13803"/>
                </a:lnTo>
                <a:lnTo>
                  <a:pt x="10374" y="14091"/>
                </a:lnTo>
                <a:close/>
                <a:moveTo>
                  <a:pt x="9657" y="18371"/>
                </a:moveTo>
                <a:lnTo>
                  <a:pt x="9631" y="18124"/>
                </a:lnTo>
                <a:lnTo>
                  <a:pt x="8875" y="17133"/>
                </a:lnTo>
                <a:cubicBezTo>
                  <a:pt x="8876" y="17161"/>
                  <a:pt x="8877" y="17190"/>
                  <a:pt x="8877" y="17219"/>
                </a:cubicBezTo>
                <a:cubicBezTo>
                  <a:pt x="8877" y="17379"/>
                  <a:pt x="8860" y="17529"/>
                  <a:pt x="8831" y="17656"/>
                </a:cubicBezTo>
                <a:lnTo>
                  <a:pt x="9631" y="18678"/>
                </a:lnTo>
                <a:close/>
                <a:moveTo>
                  <a:pt x="8128" y="17255"/>
                </a:moveTo>
                <a:cubicBezTo>
                  <a:pt x="8131" y="17095"/>
                  <a:pt x="8151" y="16948"/>
                  <a:pt x="8182" y="16825"/>
                </a:cubicBezTo>
                <a:lnTo>
                  <a:pt x="7557" y="16025"/>
                </a:lnTo>
                <a:lnTo>
                  <a:pt x="7710" y="17766"/>
                </a:lnTo>
                <a:close/>
                <a:moveTo>
                  <a:pt x="7590" y="15449"/>
                </a:moveTo>
                <a:lnTo>
                  <a:pt x="7535" y="15778"/>
                </a:lnTo>
                <a:lnTo>
                  <a:pt x="7557" y="16025"/>
                </a:lnTo>
                <a:lnTo>
                  <a:pt x="8182" y="16825"/>
                </a:lnTo>
                <a:cubicBezTo>
                  <a:pt x="8226" y="16654"/>
                  <a:pt x="8293" y="16531"/>
                  <a:pt x="8370" y="16492"/>
                </a:cubicBezTo>
                <a:lnTo>
                  <a:pt x="8381" y="16486"/>
                </a:lnTo>
                <a:close/>
                <a:moveTo>
                  <a:pt x="10374" y="13268"/>
                </a:moveTo>
                <a:lnTo>
                  <a:pt x="9631" y="14215"/>
                </a:lnTo>
                <a:lnTo>
                  <a:pt x="9631" y="15038"/>
                </a:lnTo>
                <a:lnTo>
                  <a:pt x="10374" y="14091"/>
                </a:lnTo>
                <a:lnTo>
                  <a:pt x="10374" y="13803"/>
                </a:lnTo>
                <a:close/>
                <a:moveTo>
                  <a:pt x="7785" y="14297"/>
                </a:moveTo>
                <a:lnTo>
                  <a:pt x="9454" y="16437"/>
                </a:lnTo>
                <a:lnTo>
                  <a:pt x="21350" y="1499"/>
                </a:lnTo>
                <a:lnTo>
                  <a:pt x="20147" y="0"/>
                </a:lnTo>
                <a:cubicBezTo>
                  <a:pt x="20085" y="345"/>
                  <a:pt x="19908" y="632"/>
                  <a:pt x="19672" y="791"/>
                </a:cubicBezTo>
                <a:lnTo>
                  <a:pt x="19672" y="889"/>
                </a:lnTo>
                <a:cubicBezTo>
                  <a:pt x="19968" y="1092"/>
                  <a:pt x="20171" y="1510"/>
                  <a:pt x="20171" y="1993"/>
                </a:cubicBezTo>
                <a:cubicBezTo>
                  <a:pt x="20171" y="2482"/>
                  <a:pt x="19962" y="2905"/>
                  <a:pt x="19659" y="3105"/>
                </a:cubicBezTo>
                <a:cubicBezTo>
                  <a:pt x="19637" y="3119"/>
                  <a:pt x="19614" y="3133"/>
                  <a:pt x="19591" y="3145"/>
                </a:cubicBezTo>
                <a:cubicBezTo>
                  <a:pt x="19560" y="3162"/>
                  <a:pt x="19528" y="3176"/>
                  <a:pt x="19495" y="3187"/>
                </a:cubicBezTo>
                <a:cubicBezTo>
                  <a:pt x="19422" y="3213"/>
                  <a:pt x="19345" y="3227"/>
                  <a:pt x="19266" y="3227"/>
                </a:cubicBezTo>
                <a:cubicBezTo>
                  <a:pt x="19172" y="3227"/>
                  <a:pt x="19082" y="3208"/>
                  <a:pt x="18997" y="3172"/>
                </a:cubicBezTo>
                <a:cubicBezTo>
                  <a:pt x="18957" y="3155"/>
                  <a:pt x="18919" y="3135"/>
                  <a:pt x="18882" y="3111"/>
                </a:cubicBezTo>
                <a:cubicBezTo>
                  <a:pt x="18856" y="3094"/>
                  <a:pt x="18830" y="3076"/>
                  <a:pt x="18806" y="3056"/>
                </a:cubicBezTo>
                <a:cubicBezTo>
                  <a:pt x="18633" y="2916"/>
                  <a:pt x="18497" y="2700"/>
                  <a:pt x="18423" y="2441"/>
                </a:cubicBezTo>
                <a:cubicBezTo>
                  <a:pt x="18351" y="2539"/>
                  <a:pt x="18267" y="2621"/>
                  <a:pt x="18174" y="2684"/>
                </a:cubicBezTo>
                <a:lnTo>
                  <a:pt x="18174" y="2804"/>
                </a:lnTo>
                <a:cubicBezTo>
                  <a:pt x="18453" y="3015"/>
                  <a:pt x="18642" y="3420"/>
                  <a:pt x="18642" y="3886"/>
                </a:cubicBezTo>
                <a:cubicBezTo>
                  <a:pt x="18642" y="4378"/>
                  <a:pt x="18431" y="4804"/>
                  <a:pt x="18125" y="5002"/>
                </a:cubicBezTo>
                <a:cubicBezTo>
                  <a:pt x="18104" y="5015"/>
                  <a:pt x="18084" y="5027"/>
                  <a:pt x="18062" y="5038"/>
                </a:cubicBezTo>
                <a:cubicBezTo>
                  <a:pt x="18031" y="5055"/>
                  <a:pt x="17999" y="5069"/>
                  <a:pt x="17966" y="5080"/>
                </a:cubicBezTo>
                <a:cubicBezTo>
                  <a:pt x="17893" y="5106"/>
                  <a:pt x="17816" y="5120"/>
                  <a:pt x="17737" y="5120"/>
                </a:cubicBezTo>
                <a:cubicBezTo>
                  <a:pt x="17644" y="5120"/>
                  <a:pt x="17553" y="5101"/>
                  <a:pt x="17468" y="5065"/>
                </a:cubicBezTo>
                <a:cubicBezTo>
                  <a:pt x="17429" y="5048"/>
                  <a:pt x="17390" y="5028"/>
                  <a:pt x="17353" y="5004"/>
                </a:cubicBezTo>
                <a:cubicBezTo>
                  <a:pt x="17328" y="4988"/>
                  <a:pt x="17303" y="4970"/>
                  <a:pt x="17279" y="4950"/>
                </a:cubicBezTo>
                <a:cubicBezTo>
                  <a:pt x="17111" y="4815"/>
                  <a:pt x="16977" y="4608"/>
                  <a:pt x="16901" y="4359"/>
                </a:cubicBezTo>
                <a:cubicBezTo>
                  <a:pt x="16823" y="4483"/>
                  <a:pt x="16725" y="4585"/>
                  <a:pt x="16614" y="4659"/>
                </a:cubicBezTo>
                <a:lnTo>
                  <a:pt x="16614" y="4675"/>
                </a:lnTo>
                <a:cubicBezTo>
                  <a:pt x="16910" y="4878"/>
                  <a:pt x="17113" y="5296"/>
                  <a:pt x="17113" y="5779"/>
                </a:cubicBezTo>
                <a:cubicBezTo>
                  <a:pt x="17113" y="6269"/>
                  <a:pt x="16903" y="6693"/>
                  <a:pt x="16600" y="6892"/>
                </a:cubicBezTo>
                <a:cubicBezTo>
                  <a:pt x="16578" y="6907"/>
                  <a:pt x="16555" y="6920"/>
                  <a:pt x="16533" y="6932"/>
                </a:cubicBezTo>
                <a:cubicBezTo>
                  <a:pt x="16502" y="6948"/>
                  <a:pt x="16470" y="6962"/>
                  <a:pt x="16437" y="6973"/>
                </a:cubicBezTo>
                <a:cubicBezTo>
                  <a:pt x="16364" y="6999"/>
                  <a:pt x="16288" y="7013"/>
                  <a:pt x="16208" y="7013"/>
                </a:cubicBezTo>
                <a:cubicBezTo>
                  <a:pt x="16115" y="7013"/>
                  <a:pt x="16024" y="6994"/>
                  <a:pt x="15939" y="6958"/>
                </a:cubicBezTo>
                <a:cubicBezTo>
                  <a:pt x="15900" y="6941"/>
                  <a:pt x="15862" y="6921"/>
                  <a:pt x="15825" y="6897"/>
                </a:cubicBezTo>
                <a:cubicBezTo>
                  <a:pt x="15798" y="6880"/>
                  <a:pt x="15773" y="6862"/>
                  <a:pt x="15748" y="6842"/>
                </a:cubicBezTo>
                <a:cubicBezTo>
                  <a:pt x="15575" y="6702"/>
                  <a:pt x="15439" y="6485"/>
                  <a:pt x="15365" y="6227"/>
                </a:cubicBezTo>
                <a:cubicBezTo>
                  <a:pt x="15294" y="6325"/>
                  <a:pt x="15210" y="6407"/>
                  <a:pt x="15117" y="6470"/>
                </a:cubicBezTo>
                <a:lnTo>
                  <a:pt x="15117" y="6590"/>
                </a:lnTo>
                <a:cubicBezTo>
                  <a:pt x="15396" y="6800"/>
                  <a:pt x="15585" y="7206"/>
                  <a:pt x="15585" y="7672"/>
                </a:cubicBezTo>
                <a:cubicBezTo>
                  <a:pt x="15585" y="8224"/>
                  <a:pt x="15319" y="8692"/>
                  <a:pt x="14952" y="8849"/>
                </a:cubicBezTo>
                <a:cubicBezTo>
                  <a:pt x="14936" y="8856"/>
                  <a:pt x="14919" y="8863"/>
                  <a:pt x="14902" y="8869"/>
                </a:cubicBezTo>
                <a:cubicBezTo>
                  <a:pt x="14880" y="8876"/>
                  <a:pt x="14858" y="8883"/>
                  <a:pt x="14835" y="8888"/>
                </a:cubicBezTo>
                <a:cubicBezTo>
                  <a:pt x="14784" y="8900"/>
                  <a:pt x="14733" y="8906"/>
                  <a:pt x="14680" y="8906"/>
                </a:cubicBezTo>
                <a:cubicBezTo>
                  <a:pt x="14617" y="8906"/>
                  <a:pt x="14556" y="8898"/>
                  <a:pt x="14497" y="8881"/>
                </a:cubicBezTo>
                <a:cubicBezTo>
                  <a:pt x="14473" y="8874"/>
                  <a:pt x="14449" y="8866"/>
                  <a:pt x="14426" y="8857"/>
                </a:cubicBezTo>
                <a:cubicBezTo>
                  <a:pt x="14409" y="8850"/>
                  <a:pt x="14393" y="8843"/>
                  <a:pt x="14377" y="8835"/>
                </a:cubicBezTo>
                <a:cubicBezTo>
                  <a:pt x="14137" y="8719"/>
                  <a:pt x="13943" y="8468"/>
                  <a:pt x="13845" y="8149"/>
                </a:cubicBezTo>
                <a:cubicBezTo>
                  <a:pt x="13779" y="8235"/>
                  <a:pt x="13703" y="8307"/>
                  <a:pt x="13619" y="8363"/>
                </a:cubicBezTo>
                <a:lnTo>
                  <a:pt x="13619" y="8508"/>
                </a:lnTo>
                <a:cubicBezTo>
                  <a:pt x="13881" y="8724"/>
                  <a:pt x="14056" y="9116"/>
                  <a:pt x="14056" y="9565"/>
                </a:cubicBezTo>
                <a:cubicBezTo>
                  <a:pt x="14056" y="10116"/>
                  <a:pt x="13790" y="10584"/>
                  <a:pt x="13424" y="10742"/>
                </a:cubicBezTo>
                <a:cubicBezTo>
                  <a:pt x="13408" y="10749"/>
                  <a:pt x="13392" y="10755"/>
                  <a:pt x="13375" y="10761"/>
                </a:cubicBezTo>
                <a:cubicBezTo>
                  <a:pt x="13352" y="10769"/>
                  <a:pt x="13329" y="10776"/>
                  <a:pt x="13306" y="10781"/>
                </a:cubicBezTo>
                <a:cubicBezTo>
                  <a:pt x="13256" y="10793"/>
                  <a:pt x="13204" y="10799"/>
                  <a:pt x="13151" y="10799"/>
                </a:cubicBezTo>
                <a:cubicBezTo>
                  <a:pt x="13088" y="10799"/>
                  <a:pt x="13027" y="10790"/>
                  <a:pt x="12969" y="10774"/>
                </a:cubicBezTo>
                <a:cubicBezTo>
                  <a:pt x="12944" y="10767"/>
                  <a:pt x="12920" y="10759"/>
                  <a:pt x="12897" y="10750"/>
                </a:cubicBezTo>
                <a:cubicBezTo>
                  <a:pt x="12881" y="10743"/>
                  <a:pt x="12865" y="10737"/>
                  <a:pt x="12850" y="10729"/>
                </a:cubicBezTo>
                <a:cubicBezTo>
                  <a:pt x="12616" y="10616"/>
                  <a:pt x="12426" y="10376"/>
                  <a:pt x="12325" y="10070"/>
                </a:cubicBezTo>
                <a:cubicBezTo>
                  <a:pt x="12250" y="10179"/>
                  <a:pt x="12160" y="10270"/>
                  <a:pt x="12059" y="10338"/>
                </a:cubicBezTo>
                <a:lnTo>
                  <a:pt x="12059" y="10376"/>
                </a:lnTo>
                <a:cubicBezTo>
                  <a:pt x="12338" y="10586"/>
                  <a:pt x="12527" y="10992"/>
                  <a:pt x="12527" y="11458"/>
                </a:cubicBezTo>
                <a:cubicBezTo>
                  <a:pt x="12527" y="12011"/>
                  <a:pt x="12260" y="12479"/>
                  <a:pt x="11892" y="12636"/>
                </a:cubicBezTo>
                <a:cubicBezTo>
                  <a:pt x="11876" y="12643"/>
                  <a:pt x="11860" y="12649"/>
                  <a:pt x="11844" y="12655"/>
                </a:cubicBezTo>
                <a:cubicBezTo>
                  <a:pt x="11822" y="12662"/>
                  <a:pt x="11799" y="12669"/>
                  <a:pt x="11777" y="12674"/>
                </a:cubicBezTo>
                <a:cubicBezTo>
                  <a:pt x="11726" y="12686"/>
                  <a:pt x="11675" y="12692"/>
                  <a:pt x="11622" y="12692"/>
                </a:cubicBezTo>
                <a:cubicBezTo>
                  <a:pt x="11560" y="12692"/>
                  <a:pt x="11499" y="12683"/>
                  <a:pt x="11440" y="12667"/>
                </a:cubicBezTo>
                <a:cubicBezTo>
                  <a:pt x="11414" y="12660"/>
                  <a:pt x="11389" y="12651"/>
                  <a:pt x="11364" y="12641"/>
                </a:cubicBezTo>
                <a:cubicBezTo>
                  <a:pt x="11340" y="12631"/>
                  <a:pt x="11317" y="12621"/>
                  <a:pt x="11295" y="12609"/>
                </a:cubicBezTo>
                <a:cubicBezTo>
                  <a:pt x="10957" y="12430"/>
                  <a:pt x="10717" y="11982"/>
                  <a:pt x="10717" y="11458"/>
                </a:cubicBezTo>
                <a:cubicBezTo>
                  <a:pt x="10717" y="11000"/>
                  <a:pt x="10900" y="10600"/>
                  <a:pt x="11171" y="10387"/>
                </a:cubicBezTo>
                <a:lnTo>
                  <a:pt x="11171" y="10305"/>
                </a:lnTo>
                <a:cubicBezTo>
                  <a:pt x="11130" y="10274"/>
                  <a:pt x="11090" y="10238"/>
                  <a:pt x="11053" y="10199"/>
                </a:cubicBezTo>
                <a:close/>
                <a:moveTo>
                  <a:pt x="10047" y="12857"/>
                </a:moveTo>
                <a:lnTo>
                  <a:pt x="9891" y="13067"/>
                </a:lnTo>
                <a:lnTo>
                  <a:pt x="9501" y="12527"/>
                </a:lnTo>
                <a:lnTo>
                  <a:pt x="8752" y="13515"/>
                </a:lnTo>
                <a:lnTo>
                  <a:pt x="8752" y="13741"/>
                </a:lnTo>
                <a:lnTo>
                  <a:pt x="8565" y="14050"/>
                </a:lnTo>
                <a:lnTo>
                  <a:pt x="9594" y="15449"/>
                </a:lnTo>
                <a:lnTo>
                  <a:pt x="10608" y="14132"/>
                </a:lnTo>
                <a:lnTo>
                  <a:pt x="10374" y="13803"/>
                </a:lnTo>
                <a:lnTo>
                  <a:pt x="10374" y="13268"/>
                </a:lnTo>
                <a:close/>
                <a:moveTo>
                  <a:pt x="11622" y="11869"/>
                </a:moveTo>
                <a:cubicBezTo>
                  <a:pt x="11354" y="11869"/>
                  <a:pt x="11113" y="12028"/>
                  <a:pt x="10948" y="12281"/>
                </a:cubicBezTo>
                <a:cubicBezTo>
                  <a:pt x="11042" y="12424"/>
                  <a:pt x="11161" y="12538"/>
                  <a:pt x="11295" y="12609"/>
                </a:cubicBezTo>
                <a:cubicBezTo>
                  <a:pt x="10957" y="12430"/>
                  <a:pt x="10717" y="11982"/>
                  <a:pt x="10717" y="11458"/>
                </a:cubicBezTo>
                <a:cubicBezTo>
                  <a:pt x="10717" y="11000"/>
                  <a:pt x="10900" y="10600"/>
                  <a:pt x="11171" y="10387"/>
                </a:cubicBezTo>
                <a:lnTo>
                  <a:pt x="11171" y="11704"/>
                </a:lnTo>
                <a:cubicBezTo>
                  <a:pt x="11217" y="11869"/>
                  <a:pt x="11404" y="12034"/>
                  <a:pt x="11529" y="11704"/>
                </a:cubicBezTo>
                <a:lnTo>
                  <a:pt x="11529" y="10462"/>
                </a:lnTo>
                <a:cubicBezTo>
                  <a:pt x="11549" y="10464"/>
                  <a:pt x="11600" y="10470"/>
                  <a:pt x="11638" y="10470"/>
                </a:cubicBezTo>
                <a:cubicBezTo>
                  <a:pt x="11669" y="10470"/>
                  <a:pt x="11701" y="10468"/>
                  <a:pt x="11731" y="10464"/>
                </a:cubicBezTo>
                <a:lnTo>
                  <a:pt x="11731" y="11211"/>
                </a:lnTo>
                <a:cubicBezTo>
                  <a:pt x="11794" y="11458"/>
                  <a:pt x="12028" y="11416"/>
                  <a:pt x="12059" y="11169"/>
                </a:cubicBezTo>
                <a:lnTo>
                  <a:pt x="12059" y="10376"/>
                </a:lnTo>
                <a:cubicBezTo>
                  <a:pt x="12338" y="10586"/>
                  <a:pt x="12527" y="10992"/>
                  <a:pt x="12527" y="11458"/>
                </a:cubicBezTo>
                <a:cubicBezTo>
                  <a:pt x="12527" y="12011"/>
                  <a:pt x="12260" y="12479"/>
                  <a:pt x="11892" y="12636"/>
                </a:cubicBezTo>
                <a:cubicBezTo>
                  <a:pt x="12050" y="12569"/>
                  <a:pt x="12189" y="12444"/>
                  <a:pt x="12296" y="12281"/>
                </a:cubicBezTo>
                <a:cubicBezTo>
                  <a:pt x="12131" y="12028"/>
                  <a:pt x="11890" y="11869"/>
                  <a:pt x="11622" y="11869"/>
                </a:cubicBezTo>
                <a:close/>
                <a:moveTo>
                  <a:pt x="13151" y="9976"/>
                </a:moveTo>
                <a:cubicBezTo>
                  <a:pt x="12883" y="9976"/>
                  <a:pt x="12642" y="10135"/>
                  <a:pt x="12477" y="10388"/>
                </a:cubicBezTo>
                <a:cubicBezTo>
                  <a:pt x="12577" y="10541"/>
                  <a:pt x="12705" y="10659"/>
                  <a:pt x="12850" y="10729"/>
                </a:cubicBezTo>
                <a:cubicBezTo>
                  <a:pt x="12616" y="10616"/>
                  <a:pt x="12426" y="10376"/>
                  <a:pt x="12325" y="10070"/>
                </a:cubicBezTo>
                <a:cubicBezTo>
                  <a:pt x="12470" y="9859"/>
                  <a:pt x="12558" y="9581"/>
                  <a:pt x="12558" y="9277"/>
                </a:cubicBezTo>
                <a:lnTo>
                  <a:pt x="12558" y="8632"/>
                </a:lnTo>
                <a:cubicBezTo>
                  <a:pt x="12611" y="8570"/>
                  <a:pt x="12669" y="8515"/>
                  <a:pt x="12731" y="8471"/>
                </a:cubicBezTo>
                <a:lnTo>
                  <a:pt x="12731" y="9729"/>
                </a:lnTo>
                <a:cubicBezTo>
                  <a:pt x="12777" y="9894"/>
                  <a:pt x="12964" y="10058"/>
                  <a:pt x="13089" y="9729"/>
                </a:cubicBezTo>
                <a:lnTo>
                  <a:pt x="13089" y="8486"/>
                </a:lnTo>
                <a:cubicBezTo>
                  <a:pt x="13115" y="8489"/>
                  <a:pt x="13173" y="8495"/>
                  <a:pt x="13198" y="8495"/>
                </a:cubicBezTo>
                <a:cubicBezTo>
                  <a:pt x="13229" y="8495"/>
                  <a:pt x="13261" y="8493"/>
                  <a:pt x="13291" y="8489"/>
                </a:cubicBezTo>
                <a:lnTo>
                  <a:pt x="13291" y="9235"/>
                </a:lnTo>
                <a:cubicBezTo>
                  <a:pt x="13354" y="9482"/>
                  <a:pt x="13588" y="9441"/>
                  <a:pt x="13619" y="9194"/>
                </a:cubicBezTo>
                <a:lnTo>
                  <a:pt x="13619" y="8508"/>
                </a:lnTo>
                <a:cubicBezTo>
                  <a:pt x="13881" y="8724"/>
                  <a:pt x="14056" y="9116"/>
                  <a:pt x="14056" y="9565"/>
                </a:cubicBezTo>
                <a:cubicBezTo>
                  <a:pt x="14056" y="10116"/>
                  <a:pt x="13790" y="10584"/>
                  <a:pt x="13424" y="10742"/>
                </a:cubicBezTo>
                <a:cubicBezTo>
                  <a:pt x="13581" y="10674"/>
                  <a:pt x="13718" y="10550"/>
                  <a:pt x="13825" y="10388"/>
                </a:cubicBezTo>
                <a:cubicBezTo>
                  <a:pt x="13660" y="10135"/>
                  <a:pt x="13419" y="9976"/>
                  <a:pt x="13151" y="9976"/>
                </a:cubicBezTo>
                <a:close/>
                <a:moveTo>
                  <a:pt x="21350" y="1499"/>
                </a:moveTo>
                <a:lnTo>
                  <a:pt x="9454" y="16437"/>
                </a:lnTo>
                <a:lnTo>
                  <a:pt x="9631" y="18124"/>
                </a:lnTo>
                <a:lnTo>
                  <a:pt x="21559" y="3186"/>
                </a:lnTo>
                <a:close/>
                <a:moveTo>
                  <a:pt x="14680" y="8083"/>
                </a:moveTo>
                <a:cubicBezTo>
                  <a:pt x="14412" y="8083"/>
                  <a:pt x="14171" y="8242"/>
                  <a:pt x="14005" y="8495"/>
                </a:cubicBezTo>
                <a:cubicBezTo>
                  <a:pt x="14105" y="8647"/>
                  <a:pt x="14233" y="8766"/>
                  <a:pt x="14377" y="8835"/>
                </a:cubicBezTo>
                <a:cubicBezTo>
                  <a:pt x="14137" y="8719"/>
                  <a:pt x="13943" y="8468"/>
                  <a:pt x="13845" y="8149"/>
                </a:cubicBezTo>
                <a:cubicBezTo>
                  <a:pt x="14014" y="7933"/>
                  <a:pt x="14118" y="7633"/>
                  <a:pt x="14118" y="7301"/>
                </a:cubicBezTo>
                <a:lnTo>
                  <a:pt x="14118" y="6704"/>
                </a:lnTo>
                <a:cubicBezTo>
                  <a:pt x="14153" y="6666"/>
                  <a:pt x="14190" y="6632"/>
                  <a:pt x="14229" y="6601"/>
                </a:cubicBezTo>
                <a:lnTo>
                  <a:pt x="14229" y="7836"/>
                </a:lnTo>
                <a:cubicBezTo>
                  <a:pt x="14274" y="8001"/>
                  <a:pt x="14461" y="8165"/>
                  <a:pt x="14586" y="7836"/>
                </a:cubicBezTo>
                <a:lnTo>
                  <a:pt x="14586" y="6593"/>
                </a:lnTo>
                <a:cubicBezTo>
                  <a:pt x="14607" y="6596"/>
                  <a:pt x="14658" y="6601"/>
                  <a:pt x="14695" y="6602"/>
                </a:cubicBezTo>
                <a:cubicBezTo>
                  <a:pt x="14727" y="6602"/>
                  <a:pt x="14758" y="6600"/>
                  <a:pt x="14789" y="6596"/>
                </a:cubicBezTo>
                <a:lnTo>
                  <a:pt x="14789" y="7342"/>
                </a:lnTo>
                <a:cubicBezTo>
                  <a:pt x="14851" y="7589"/>
                  <a:pt x="15085" y="7548"/>
                  <a:pt x="15117" y="7301"/>
                </a:cubicBezTo>
                <a:lnTo>
                  <a:pt x="15117" y="6590"/>
                </a:lnTo>
                <a:cubicBezTo>
                  <a:pt x="15396" y="6800"/>
                  <a:pt x="15585" y="7206"/>
                  <a:pt x="15585" y="7672"/>
                </a:cubicBezTo>
                <a:cubicBezTo>
                  <a:pt x="15585" y="8224"/>
                  <a:pt x="15319" y="8692"/>
                  <a:pt x="14952" y="8849"/>
                </a:cubicBezTo>
                <a:cubicBezTo>
                  <a:pt x="15109" y="8782"/>
                  <a:pt x="15247" y="8658"/>
                  <a:pt x="15354" y="8495"/>
                </a:cubicBezTo>
                <a:cubicBezTo>
                  <a:pt x="15188" y="8242"/>
                  <a:pt x="14948" y="8083"/>
                  <a:pt x="14680" y="8083"/>
                </a:cubicBezTo>
                <a:close/>
                <a:moveTo>
                  <a:pt x="16208" y="6190"/>
                </a:moveTo>
                <a:cubicBezTo>
                  <a:pt x="15941" y="6190"/>
                  <a:pt x="15700" y="6349"/>
                  <a:pt x="15534" y="6602"/>
                </a:cubicBezTo>
                <a:cubicBezTo>
                  <a:pt x="15596" y="6696"/>
                  <a:pt x="15668" y="6777"/>
                  <a:pt x="15748" y="6842"/>
                </a:cubicBezTo>
                <a:cubicBezTo>
                  <a:pt x="15575" y="6702"/>
                  <a:pt x="15439" y="6485"/>
                  <a:pt x="15365" y="6227"/>
                </a:cubicBezTo>
                <a:cubicBezTo>
                  <a:pt x="15520" y="6013"/>
                  <a:pt x="15616" y="5725"/>
                  <a:pt x="15616" y="5408"/>
                </a:cubicBezTo>
                <a:lnTo>
                  <a:pt x="15616" y="4846"/>
                </a:lnTo>
                <a:cubicBezTo>
                  <a:pt x="15650" y="4805"/>
                  <a:pt x="15687" y="4768"/>
                  <a:pt x="15726" y="4734"/>
                </a:cubicBezTo>
                <a:lnTo>
                  <a:pt x="15726" y="6026"/>
                </a:lnTo>
                <a:cubicBezTo>
                  <a:pt x="15772" y="6190"/>
                  <a:pt x="15959" y="6355"/>
                  <a:pt x="16084" y="6026"/>
                </a:cubicBezTo>
                <a:lnTo>
                  <a:pt x="16084" y="4783"/>
                </a:lnTo>
                <a:cubicBezTo>
                  <a:pt x="16110" y="4785"/>
                  <a:pt x="16168" y="4791"/>
                  <a:pt x="16193" y="4791"/>
                </a:cubicBezTo>
                <a:cubicBezTo>
                  <a:pt x="16224" y="4791"/>
                  <a:pt x="16256" y="4789"/>
                  <a:pt x="16286" y="4785"/>
                </a:cubicBezTo>
                <a:lnTo>
                  <a:pt x="16286" y="5532"/>
                </a:lnTo>
                <a:cubicBezTo>
                  <a:pt x="16349" y="5779"/>
                  <a:pt x="16583" y="5738"/>
                  <a:pt x="16614" y="5491"/>
                </a:cubicBezTo>
                <a:lnTo>
                  <a:pt x="16614" y="4675"/>
                </a:lnTo>
                <a:cubicBezTo>
                  <a:pt x="16910" y="4878"/>
                  <a:pt x="17113" y="5296"/>
                  <a:pt x="17113" y="5779"/>
                </a:cubicBezTo>
                <a:cubicBezTo>
                  <a:pt x="17113" y="6269"/>
                  <a:pt x="16903" y="6693"/>
                  <a:pt x="16600" y="6892"/>
                </a:cubicBezTo>
                <a:cubicBezTo>
                  <a:pt x="16708" y="6821"/>
                  <a:pt x="16804" y="6722"/>
                  <a:pt x="16883" y="6602"/>
                </a:cubicBezTo>
                <a:cubicBezTo>
                  <a:pt x="16717" y="6349"/>
                  <a:pt x="16476" y="6190"/>
                  <a:pt x="16208" y="6190"/>
                </a:cubicBezTo>
                <a:close/>
                <a:moveTo>
                  <a:pt x="17737" y="4297"/>
                </a:moveTo>
                <a:cubicBezTo>
                  <a:pt x="17469" y="4297"/>
                  <a:pt x="17229" y="4456"/>
                  <a:pt x="17063" y="4709"/>
                </a:cubicBezTo>
                <a:cubicBezTo>
                  <a:pt x="17125" y="4804"/>
                  <a:pt x="17198" y="4885"/>
                  <a:pt x="17279" y="4950"/>
                </a:cubicBezTo>
                <a:cubicBezTo>
                  <a:pt x="17111" y="4815"/>
                  <a:pt x="16977" y="4608"/>
                  <a:pt x="16901" y="4359"/>
                </a:cubicBezTo>
                <a:cubicBezTo>
                  <a:pt x="17034" y="4153"/>
                  <a:pt x="17113" y="3887"/>
                  <a:pt x="17113" y="3598"/>
                </a:cubicBezTo>
                <a:lnTo>
                  <a:pt x="17113" y="2992"/>
                </a:lnTo>
                <a:cubicBezTo>
                  <a:pt x="17165" y="2924"/>
                  <a:pt x="17223" y="2865"/>
                  <a:pt x="17286" y="2815"/>
                </a:cubicBezTo>
                <a:lnTo>
                  <a:pt x="17286" y="4050"/>
                </a:lnTo>
                <a:cubicBezTo>
                  <a:pt x="17332" y="4215"/>
                  <a:pt x="17519" y="4380"/>
                  <a:pt x="17644" y="4050"/>
                </a:cubicBezTo>
                <a:lnTo>
                  <a:pt x="17644" y="2807"/>
                </a:lnTo>
                <a:cubicBezTo>
                  <a:pt x="17664" y="2810"/>
                  <a:pt x="17715" y="2816"/>
                  <a:pt x="17753" y="2816"/>
                </a:cubicBezTo>
                <a:cubicBezTo>
                  <a:pt x="17784" y="2816"/>
                  <a:pt x="17816" y="2814"/>
                  <a:pt x="17846" y="2810"/>
                </a:cubicBezTo>
                <a:lnTo>
                  <a:pt x="17846" y="3556"/>
                </a:lnTo>
                <a:cubicBezTo>
                  <a:pt x="17909" y="3803"/>
                  <a:pt x="18143" y="3762"/>
                  <a:pt x="18174" y="3515"/>
                </a:cubicBezTo>
                <a:lnTo>
                  <a:pt x="18174" y="2804"/>
                </a:lnTo>
                <a:cubicBezTo>
                  <a:pt x="18453" y="3015"/>
                  <a:pt x="18642" y="3420"/>
                  <a:pt x="18642" y="3886"/>
                </a:cubicBezTo>
                <a:cubicBezTo>
                  <a:pt x="18642" y="4378"/>
                  <a:pt x="18431" y="4804"/>
                  <a:pt x="18125" y="5002"/>
                </a:cubicBezTo>
                <a:cubicBezTo>
                  <a:pt x="18234" y="4931"/>
                  <a:pt x="18332" y="4831"/>
                  <a:pt x="18412" y="4709"/>
                </a:cubicBezTo>
                <a:cubicBezTo>
                  <a:pt x="18246" y="4456"/>
                  <a:pt x="18005" y="4297"/>
                  <a:pt x="17737" y="4297"/>
                </a:cubicBezTo>
                <a:close/>
                <a:moveTo>
                  <a:pt x="19266" y="2404"/>
                </a:moveTo>
                <a:cubicBezTo>
                  <a:pt x="18998" y="2404"/>
                  <a:pt x="18757" y="2563"/>
                  <a:pt x="18592" y="2816"/>
                </a:cubicBezTo>
                <a:cubicBezTo>
                  <a:pt x="18653" y="2910"/>
                  <a:pt x="18726" y="2991"/>
                  <a:pt x="18806" y="3056"/>
                </a:cubicBezTo>
                <a:cubicBezTo>
                  <a:pt x="18633" y="2916"/>
                  <a:pt x="18497" y="2700"/>
                  <a:pt x="18423" y="2441"/>
                </a:cubicBezTo>
                <a:cubicBezTo>
                  <a:pt x="18578" y="2227"/>
                  <a:pt x="18673" y="1939"/>
                  <a:pt x="18673" y="1622"/>
                </a:cubicBezTo>
                <a:lnTo>
                  <a:pt x="18673" y="1060"/>
                </a:lnTo>
                <a:cubicBezTo>
                  <a:pt x="18708" y="1019"/>
                  <a:pt x="18745" y="982"/>
                  <a:pt x="18784" y="948"/>
                </a:cubicBezTo>
                <a:lnTo>
                  <a:pt x="18784" y="2157"/>
                </a:lnTo>
                <a:cubicBezTo>
                  <a:pt x="18829" y="2322"/>
                  <a:pt x="19016" y="2487"/>
                  <a:pt x="19141" y="2157"/>
                </a:cubicBezTo>
                <a:lnTo>
                  <a:pt x="19141" y="914"/>
                </a:lnTo>
                <a:cubicBezTo>
                  <a:pt x="19157" y="917"/>
                  <a:pt x="19201" y="923"/>
                  <a:pt x="19250" y="923"/>
                </a:cubicBezTo>
                <a:cubicBezTo>
                  <a:pt x="19282" y="923"/>
                  <a:pt x="19313" y="921"/>
                  <a:pt x="19344" y="917"/>
                </a:cubicBezTo>
                <a:lnTo>
                  <a:pt x="19344" y="1664"/>
                </a:lnTo>
                <a:cubicBezTo>
                  <a:pt x="19406" y="1910"/>
                  <a:pt x="19640" y="1869"/>
                  <a:pt x="19672" y="1622"/>
                </a:cubicBezTo>
                <a:lnTo>
                  <a:pt x="19672" y="889"/>
                </a:lnTo>
                <a:cubicBezTo>
                  <a:pt x="19968" y="1092"/>
                  <a:pt x="20171" y="1510"/>
                  <a:pt x="20171" y="1993"/>
                </a:cubicBezTo>
                <a:cubicBezTo>
                  <a:pt x="20171" y="2482"/>
                  <a:pt x="19962" y="2905"/>
                  <a:pt x="19659" y="3105"/>
                </a:cubicBezTo>
                <a:cubicBezTo>
                  <a:pt x="19767" y="3034"/>
                  <a:pt x="19862" y="2935"/>
                  <a:pt x="19940" y="2816"/>
                </a:cubicBezTo>
                <a:cubicBezTo>
                  <a:pt x="19775" y="2563"/>
                  <a:pt x="19534" y="2404"/>
                  <a:pt x="19266" y="2404"/>
                </a:cubicBezTo>
                <a:close/>
                <a:moveTo>
                  <a:pt x="0" y="21188"/>
                </a:moveTo>
                <a:cubicBezTo>
                  <a:pt x="0" y="21416"/>
                  <a:pt x="70" y="21600"/>
                  <a:pt x="156" y="21600"/>
                </a:cubicBezTo>
                <a:cubicBezTo>
                  <a:pt x="180" y="21600"/>
                  <a:pt x="203" y="21586"/>
                  <a:pt x="223" y="21560"/>
                </a:cubicBezTo>
                <a:cubicBezTo>
                  <a:pt x="276" y="21494"/>
                  <a:pt x="312" y="21352"/>
                  <a:pt x="312" y="21188"/>
                </a:cubicBezTo>
                <a:cubicBezTo>
                  <a:pt x="312" y="20961"/>
                  <a:pt x="242" y="20777"/>
                  <a:pt x="156" y="20777"/>
                </a:cubicBezTo>
                <a:cubicBezTo>
                  <a:pt x="132" y="20777"/>
                  <a:pt x="109" y="20792"/>
                  <a:pt x="88" y="20817"/>
                </a:cubicBezTo>
                <a:cubicBezTo>
                  <a:pt x="37" y="20885"/>
                  <a:pt x="0" y="21026"/>
                  <a:pt x="0" y="21188"/>
                </a:cubicBezTo>
                <a:close/>
                <a:moveTo>
                  <a:pt x="7782" y="18585"/>
                </a:moveTo>
                <a:cubicBezTo>
                  <a:pt x="7691" y="18697"/>
                  <a:pt x="7428" y="19019"/>
                  <a:pt x="7152" y="19359"/>
                </a:cubicBezTo>
                <a:cubicBezTo>
                  <a:pt x="6633" y="19996"/>
                  <a:pt x="6032" y="19972"/>
                  <a:pt x="5520" y="19294"/>
                </a:cubicBezTo>
                <a:lnTo>
                  <a:pt x="4515" y="17961"/>
                </a:lnTo>
                <a:cubicBezTo>
                  <a:pt x="4107" y="17420"/>
                  <a:pt x="3628" y="17400"/>
                  <a:pt x="3213" y="17906"/>
                </a:cubicBezTo>
                <a:lnTo>
                  <a:pt x="223" y="21560"/>
                </a:lnTo>
                <a:moveTo>
                  <a:pt x="8612" y="16664"/>
                </a:moveTo>
                <a:cubicBezTo>
                  <a:pt x="8561" y="16548"/>
                  <a:pt x="8495" y="16478"/>
                  <a:pt x="8424" y="16478"/>
                </a:cubicBezTo>
                <a:cubicBezTo>
                  <a:pt x="8406" y="16478"/>
                  <a:pt x="8388" y="16483"/>
                  <a:pt x="8370" y="16492"/>
                </a:cubicBezTo>
                <a:moveTo>
                  <a:pt x="8716" y="17444"/>
                </a:moveTo>
                <a:cubicBezTo>
                  <a:pt x="8695" y="17772"/>
                  <a:pt x="8605" y="18034"/>
                  <a:pt x="8488" y="18105"/>
                </a:cubicBezTo>
                <a:lnTo>
                  <a:pt x="8471" y="18114"/>
                </a:lnTo>
                <a:moveTo>
                  <a:pt x="8634" y="18028"/>
                </a:moveTo>
                <a:cubicBezTo>
                  <a:pt x="8616" y="18037"/>
                  <a:pt x="8598" y="18042"/>
                  <a:pt x="8580" y="18042"/>
                </a:cubicBezTo>
                <a:moveTo>
                  <a:pt x="8612" y="16664"/>
                </a:moveTo>
                <a:lnTo>
                  <a:pt x="8128" y="17255"/>
                </a:lnTo>
                <a:moveTo>
                  <a:pt x="8716" y="17444"/>
                </a:moveTo>
                <a:cubicBezTo>
                  <a:pt x="8719" y="17397"/>
                  <a:pt x="8721" y="17350"/>
                  <a:pt x="8721" y="17301"/>
                </a:cubicBezTo>
                <a:cubicBezTo>
                  <a:pt x="8721" y="17044"/>
                  <a:pt x="8678" y="16815"/>
                  <a:pt x="8612" y="16664"/>
                </a:cubicBezTo>
                <a:moveTo>
                  <a:pt x="8716" y="17444"/>
                </a:moveTo>
                <a:lnTo>
                  <a:pt x="8265" y="17995"/>
                </a:lnTo>
                <a:moveTo>
                  <a:pt x="7710" y="17766"/>
                </a:moveTo>
                <a:lnTo>
                  <a:pt x="6992" y="18646"/>
                </a:lnTo>
                <a:cubicBezTo>
                  <a:pt x="6577" y="19156"/>
                  <a:pt x="6096" y="19137"/>
                  <a:pt x="5686" y="18596"/>
                </a:cubicBezTo>
                <a:cubicBezTo>
                  <a:pt x="5372" y="18181"/>
                  <a:pt x="5000" y="17691"/>
                  <a:pt x="4674" y="17262"/>
                </a:cubicBezTo>
                <a:cubicBezTo>
                  <a:pt x="4165" y="16591"/>
                  <a:pt x="3569" y="16568"/>
                  <a:pt x="3052" y="17199"/>
                </a:cubicBezTo>
                <a:lnTo>
                  <a:pt x="88" y="20817"/>
                </a:lnTo>
                <a:moveTo>
                  <a:pt x="12558" y="8632"/>
                </a:moveTo>
                <a:lnTo>
                  <a:pt x="12558" y="8618"/>
                </a:lnTo>
              </a:path>
            </a:pathLst>
          </a:custGeom>
          <a:ln w="3175">
            <a:solidFill>
              <a:srgbClr val="FFFFFF"/>
            </a:solidFill>
          </a:ln>
          <a:effectLst>
            <a:outerShdw blurRad="381000" dist="114300" rotWithShape="0">
              <a:srgbClr val="000000">
                <a:alpha val="75000"/>
              </a:srgbClr>
            </a:outerShdw>
          </a:effectLst>
        </p:spPr>
        <p:txBody>
          <a:bodyPr lIns="45718" tIns="45718" rIns="45718" bIns="45718" anchor="ctr"/>
          <a:lstStyle/>
          <a:p>
            <a:pPr algn="ctr" defTabSz="342900">
              <a:defRPr sz="1200">
                <a:latin typeface="Calibri"/>
                <a:ea typeface="Calibri"/>
                <a:cs typeface="Calibri"/>
                <a:sym typeface="Calibri"/>
              </a:defRPr>
            </a:pPr>
            <a:endParaRPr/>
          </a:p>
        </p:txBody>
      </p:sp>
      <p:grpSp>
        <p:nvGrpSpPr>
          <p:cNvPr id="296" name="Group 7"/>
          <p:cNvGrpSpPr/>
          <p:nvPr/>
        </p:nvGrpSpPr>
        <p:grpSpPr>
          <a:xfrm>
            <a:off x="4429882" y="1307111"/>
            <a:ext cx="1901056" cy="2306205"/>
            <a:chOff x="0" y="0"/>
            <a:chExt cx="1901054" cy="2306204"/>
          </a:xfrm>
        </p:grpSpPr>
        <p:sp>
          <p:nvSpPr>
            <p:cNvPr id="293" name="Rounded Rectangle 4"/>
            <p:cNvSpPr/>
            <p:nvPr/>
          </p:nvSpPr>
          <p:spPr>
            <a:xfrm>
              <a:off x="1577334" y="1753096"/>
              <a:ext cx="323720" cy="553109"/>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60" y="8113"/>
                    <a:pt x="4027" y="7264"/>
                    <a:pt x="4027" y="6217"/>
                  </a:cubicBezTo>
                  <a:cubicBezTo>
                    <a:pt x="4027" y="6001"/>
                    <a:pt x="4156" y="5793"/>
                    <a:pt x="4393" y="5600"/>
                  </a:cubicBezTo>
                  <a:lnTo>
                    <a:pt x="0" y="8851"/>
                  </a:lnTo>
                  <a:cubicBezTo>
                    <a:pt x="0" y="9437"/>
                    <a:pt x="675" y="9983"/>
                    <a:pt x="1830" y="10436"/>
                  </a:cubicBezTo>
                  <a:cubicBezTo>
                    <a:pt x="2525" y="10708"/>
                    <a:pt x="3393" y="10947"/>
                    <a:pt x="4393" y="11141"/>
                  </a:cubicBezTo>
                  <a:cubicBezTo>
                    <a:pt x="5122" y="11283"/>
                    <a:pt x="5921" y="11401"/>
                    <a:pt x="6773" y="11491"/>
                  </a:cubicBezTo>
                  <a:cubicBezTo>
                    <a:pt x="7583" y="11577"/>
                    <a:pt x="8442" y="11638"/>
                    <a:pt x="9336" y="11670"/>
                  </a:cubicBezTo>
                  <a:cubicBezTo>
                    <a:pt x="9814" y="11687"/>
                    <a:pt x="10304" y="11696"/>
                    <a:pt x="10800" y="11696"/>
                  </a:cubicBezTo>
                  <a:cubicBezTo>
                    <a:pt x="11171" y="11696"/>
                    <a:pt x="11537" y="11691"/>
                    <a:pt x="11898" y="11681"/>
                  </a:cubicBezTo>
                  <a:cubicBezTo>
                    <a:pt x="12789" y="11657"/>
                    <a:pt x="13648" y="11605"/>
                    <a:pt x="14461" y="11528"/>
                  </a:cubicBezTo>
                  <a:cubicBezTo>
                    <a:pt x="15309"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moveTo>
                    <a:pt x="13912" y="4109"/>
                  </a:moveTo>
                  <a:cubicBezTo>
                    <a:pt x="13912" y="4575"/>
                    <a:pt x="12437" y="4952"/>
                    <a:pt x="10617" y="4952"/>
                  </a:cubicBezTo>
                  <a:cubicBezTo>
                    <a:pt x="8797" y="4952"/>
                    <a:pt x="7322" y="4575"/>
                    <a:pt x="7322" y="4109"/>
                  </a:cubicBezTo>
                  <a:lnTo>
                    <a:pt x="7322" y="5163"/>
                  </a:lnTo>
                  <a:cubicBezTo>
                    <a:pt x="7322" y="5628"/>
                    <a:pt x="8797" y="6006"/>
                    <a:pt x="10617" y="6006"/>
                  </a:cubicBezTo>
                  <a:cubicBezTo>
                    <a:pt x="12437" y="6006"/>
                    <a:pt x="13912" y="5628"/>
                    <a:pt x="13912" y="5163"/>
                  </a:cubicBezTo>
                  <a:cubicBezTo>
                    <a:pt x="13912" y="5628"/>
                    <a:pt x="12437" y="6006"/>
                    <a:pt x="10617" y="6006"/>
                  </a:cubicBezTo>
                  <a:cubicBezTo>
                    <a:pt x="8797" y="6006"/>
                    <a:pt x="7322" y="5628"/>
                    <a:pt x="7322" y="5163"/>
                  </a:cubicBezTo>
                  <a:lnTo>
                    <a:pt x="7322" y="6217"/>
                  </a:lnTo>
                  <a:cubicBezTo>
                    <a:pt x="7322" y="6682"/>
                    <a:pt x="8797" y="7060"/>
                    <a:pt x="10617" y="7060"/>
                  </a:cubicBezTo>
                  <a:cubicBezTo>
                    <a:pt x="12437" y="7060"/>
                    <a:pt x="13912" y="6682"/>
                    <a:pt x="13912" y="6217"/>
                  </a:cubicBez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60" y="8113"/>
                    <a:pt x="10800" y="8113"/>
                  </a:cubicBezTo>
                  <a:cubicBezTo>
                    <a:pt x="14541" y="8113"/>
                    <a:pt x="17573" y="7264"/>
                    <a:pt x="17573" y="6217"/>
                  </a:cubicBezTo>
                  <a:cubicBezTo>
                    <a:pt x="17573" y="6034"/>
                    <a:pt x="17481" y="5857"/>
                    <a:pt x="17308" y="5690"/>
                  </a:cubicBezTo>
                  <a:cubicBezTo>
                    <a:pt x="16789" y="5186"/>
                    <a:pt x="15545" y="4768"/>
                    <a:pt x="13912" y="4532"/>
                  </a:cubicBezTo>
                  <a:lnTo>
                    <a:pt x="13912" y="4109"/>
                  </a:lnTo>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lnTo>
                    <a:pt x="13912" y="3056"/>
                  </a:lnTo>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lnTo>
                    <a:pt x="13912" y="738"/>
                  </a:lnTo>
                  <a:moveTo>
                    <a:pt x="19403" y="14702"/>
                  </a:moveTo>
                  <a:cubicBezTo>
                    <a:pt x="20782" y="14189"/>
                    <a:pt x="21600" y="13549"/>
                    <a:pt x="21600" y="12855"/>
                  </a:cubicBezTo>
                  <a:lnTo>
                    <a:pt x="21600" y="8851"/>
                  </a:lnTo>
                  <a:cubicBezTo>
                    <a:pt x="21600" y="9497"/>
                    <a:pt x="20782" y="10093"/>
                    <a:pt x="19403" y="10571"/>
                  </a:cubicBezTo>
                  <a:cubicBezTo>
                    <a:pt x="18688" y="10819"/>
                    <a:pt x="17822" y="11035"/>
                    <a:pt x="16841" y="11209"/>
                  </a:cubicBezTo>
                  <a:cubicBezTo>
                    <a:pt x="16107" y="11340"/>
                    <a:pt x="15309" y="11448"/>
                    <a:pt x="14461" y="11528"/>
                  </a:cubicBezTo>
                  <a:cubicBezTo>
                    <a:pt x="13648" y="11605"/>
                    <a:pt x="12789" y="11657"/>
                    <a:pt x="11898" y="11681"/>
                  </a:cubicBezTo>
                  <a:cubicBezTo>
                    <a:pt x="11537" y="11691"/>
                    <a:pt x="11171" y="11696"/>
                    <a:pt x="10800" y="11696"/>
                  </a:cubicBezTo>
                  <a:cubicBezTo>
                    <a:pt x="10304" y="11696"/>
                    <a:pt x="9814" y="11687"/>
                    <a:pt x="9336" y="11670"/>
                  </a:cubicBezTo>
                  <a:cubicBezTo>
                    <a:pt x="8442" y="11638"/>
                    <a:pt x="7583" y="11577"/>
                    <a:pt x="6773" y="11491"/>
                  </a:cubicBezTo>
                  <a:cubicBezTo>
                    <a:pt x="5921" y="11401"/>
                    <a:pt x="5122" y="11283"/>
                    <a:pt x="4393" y="11141"/>
                  </a:cubicBezTo>
                  <a:cubicBezTo>
                    <a:pt x="3393" y="10947"/>
                    <a:pt x="2525" y="10708"/>
                    <a:pt x="1830" y="10436"/>
                  </a:cubicBezTo>
                  <a:cubicBezTo>
                    <a:pt x="675" y="9983"/>
                    <a:pt x="0" y="9437"/>
                    <a:pt x="0" y="8851"/>
                  </a:cubicBezTo>
                  <a:lnTo>
                    <a:pt x="0" y="10732"/>
                  </a:lnTo>
                  <a:lnTo>
                    <a:pt x="1815" y="12068"/>
                  </a:lnTo>
                  <a:lnTo>
                    <a:pt x="4027" y="13698"/>
                  </a:lnTo>
                  <a:lnTo>
                    <a:pt x="4027" y="15235"/>
                  </a:lnTo>
                  <a:cubicBezTo>
                    <a:pt x="4147" y="15262"/>
                    <a:pt x="4269" y="15289"/>
                    <a:pt x="4393" y="15315"/>
                  </a:cubicBezTo>
                  <a:cubicBezTo>
                    <a:pt x="5122" y="15467"/>
                    <a:pt x="5921" y="15594"/>
                    <a:pt x="6773" y="15691"/>
                  </a:cubicBezTo>
                  <a:cubicBezTo>
                    <a:pt x="7583" y="15783"/>
                    <a:pt x="8442" y="15848"/>
                    <a:pt x="9336" y="15882"/>
                  </a:cubicBezTo>
                  <a:cubicBezTo>
                    <a:pt x="9814" y="15901"/>
                    <a:pt x="10304" y="15910"/>
                    <a:pt x="10800" y="15910"/>
                  </a:cubicBezTo>
                  <a:cubicBezTo>
                    <a:pt x="11171" y="15910"/>
                    <a:pt x="11537" y="15905"/>
                    <a:pt x="11898" y="15895"/>
                  </a:cubicBezTo>
                  <a:cubicBezTo>
                    <a:pt x="12789" y="15869"/>
                    <a:pt x="13648" y="15813"/>
                    <a:pt x="14461" y="15730"/>
                  </a:cubicBezTo>
                  <a:cubicBezTo>
                    <a:pt x="15309" y="15644"/>
                    <a:pt x="16107" y="15528"/>
                    <a:pt x="16841" y="15388"/>
                  </a:cubicBezTo>
                  <a:cubicBezTo>
                    <a:pt x="17822" y="15200"/>
                    <a:pt x="18688" y="14968"/>
                    <a:pt x="19403" y="14702"/>
                  </a:cubicBezTo>
                  <a:moveTo>
                    <a:pt x="21600" y="14540"/>
                  </a:moveTo>
                  <a:lnTo>
                    <a:pt x="21600" y="12855"/>
                  </a:lnTo>
                  <a:cubicBezTo>
                    <a:pt x="21600" y="13549"/>
                    <a:pt x="20782" y="14189"/>
                    <a:pt x="19403" y="14702"/>
                  </a:cubicBezTo>
                  <a:cubicBezTo>
                    <a:pt x="18688" y="14968"/>
                    <a:pt x="17822" y="15200"/>
                    <a:pt x="16841" y="15388"/>
                  </a:cubicBezTo>
                  <a:cubicBezTo>
                    <a:pt x="16107" y="15528"/>
                    <a:pt x="15309" y="15644"/>
                    <a:pt x="14461" y="15730"/>
                  </a:cubicBezTo>
                  <a:cubicBezTo>
                    <a:pt x="13648" y="15813"/>
                    <a:pt x="12789" y="15869"/>
                    <a:pt x="11898" y="15895"/>
                  </a:cubicBezTo>
                  <a:cubicBezTo>
                    <a:pt x="11537" y="15905"/>
                    <a:pt x="11171" y="15910"/>
                    <a:pt x="10800" y="15910"/>
                  </a:cubicBezTo>
                  <a:cubicBezTo>
                    <a:pt x="10304" y="15910"/>
                    <a:pt x="9814" y="15901"/>
                    <a:pt x="9336" y="15882"/>
                  </a:cubicBezTo>
                  <a:cubicBezTo>
                    <a:pt x="8442" y="15848"/>
                    <a:pt x="7583" y="15783"/>
                    <a:pt x="6773" y="15691"/>
                  </a:cubicBezTo>
                  <a:cubicBezTo>
                    <a:pt x="5921" y="15594"/>
                    <a:pt x="5122" y="15467"/>
                    <a:pt x="4393" y="15315"/>
                  </a:cubicBezTo>
                  <a:cubicBezTo>
                    <a:pt x="4269" y="15289"/>
                    <a:pt x="4147" y="15262"/>
                    <a:pt x="4027" y="15235"/>
                  </a:cubicBezTo>
                  <a:lnTo>
                    <a:pt x="4027" y="16921"/>
                  </a:lnTo>
                  <a:cubicBezTo>
                    <a:pt x="4436" y="17014"/>
                    <a:pt x="4869" y="17099"/>
                    <a:pt x="5323" y="17175"/>
                  </a:cubicBezTo>
                  <a:cubicBezTo>
                    <a:pt x="6581" y="17384"/>
                    <a:pt x="8001" y="17524"/>
                    <a:pt x="9519" y="17575"/>
                  </a:cubicBezTo>
                  <a:cubicBezTo>
                    <a:pt x="9939" y="17589"/>
                    <a:pt x="10367" y="17596"/>
                    <a:pt x="10800" y="17596"/>
                  </a:cubicBezTo>
                  <a:cubicBezTo>
                    <a:pt x="11171" y="17596"/>
                    <a:pt x="11537" y="17591"/>
                    <a:pt x="11898" y="17580"/>
                  </a:cubicBezTo>
                  <a:cubicBezTo>
                    <a:pt x="13272" y="17541"/>
                    <a:pt x="14570" y="17429"/>
                    <a:pt x="15742" y="17258"/>
                  </a:cubicBezTo>
                  <a:cubicBezTo>
                    <a:pt x="19221" y="16751"/>
                    <a:pt x="21600" y="15724"/>
                    <a:pt x="21600" y="14540"/>
                  </a:cubicBezTo>
                  <a:moveTo>
                    <a:pt x="11898" y="17580"/>
                  </a:moveTo>
                  <a:lnTo>
                    <a:pt x="11898" y="19493"/>
                  </a:lnTo>
                  <a:cubicBezTo>
                    <a:pt x="12631" y="20125"/>
                    <a:pt x="15376" y="20020"/>
                    <a:pt x="15742" y="19387"/>
                  </a:cubicBezTo>
                  <a:lnTo>
                    <a:pt x="15742" y="17258"/>
                  </a:lnTo>
                  <a:cubicBezTo>
                    <a:pt x="14570" y="17429"/>
                    <a:pt x="13272" y="17541"/>
                    <a:pt x="11898" y="17580"/>
                  </a:cubicBezTo>
                  <a:moveTo>
                    <a:pt x="9519" y="17575"/>
                  </a:moveTo>
                  <a:cubicBezTo>
                    <a:pt x="8001" y="17524"/>
                    <a:pt x="6581" y="17384"/>
                    <a:pt x="5323" y="17175"/>
                  </a:cubicBezTo>
                  <a:lnTo>
                    <a:pt x="5323" y="20757"/>
                  </a:lnTo>
                  <a:cubicBezTo>
                    <a:pt x="5858" y="21179"/>
                    <a:pt x="8054" y="21600"/>
                    <a:pt x="9519" y="20757"/>
                  </a:cubicBezTo>
                  <a:lnTo>
                    <a:pt x="9519" y="17575"/>
                  </a:lnTo>
                  <a:moveTo>
                    <a:pt x="10617" y="1580"/>
                  </a:moveTo>
                  <a:cubicBezTo>
                    <a:pt x="12437" y="1580"/>
                    <a:pt x="13912" y="1203"/>
                    <a:pt x="13912" y="738"/>
                  </a:cubicBezTo>
                  <a:cubicBezTo>
                    <a:pt x="13912" y="445"/>
                    <a:pt x="13330" y="188"/>
                    <a:pt x="12447"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moveTo>
                    <a:pt x="8787" y="36"/>
                  </a:moveTo>
                  <a:cubicBezTo>
                    <a:pt x="8821" y="601"/>
                    <a:pt x="9627" y="843"/>
                    <a:pt x="10617" y="843"/>
                  </a:cubicBezTo>
                  <a:cubicBezTo>
                    <a:pt x="11607" y="843"/>
                    <a:pt x="12413" y="601"/>
                    <a:pt x="12447" y="36"/>
                  </a:cubicBezTo>
                  <a:cubicBezTo>
                    <a:pt x="12447" y="24"/>
                    <a:pt x="12447" y="12"/>
                    <a:pt x="12447" y="0"/>
                  </a:cubicBezTo>
                  <a:lnTo>
                    <a:pt x="8786" y="0"/>
                  </a:lnTo>
                  <a:cubicBezTo>
                    <a:pt x="8786" y="12"/>
                    <a:pt x="8787" y="24"/>
                    <a:pt x="8787" y="36"/>
                  </a:cubicBezTo>
                  <a:moveTo>
                    <a:pt x="10800" y="17596"/>
                  </a:moveTo>
                  <a:lnTo>
                    <a:pt x="5323" y="17175"/>
                  </a:lnTo>
                  <a:cubicBezTo>
                    <a:pt x="6929" y="17442"/>
                    <a:pt x="8801" y="17596"/>
                    <a:pt x="10800" y="17596"/>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294" name="Rounded Rectangle 5"/>
            <p:cNvSpPr/>
            <p:nvPr/>
          </p:nvSpPr>
          <p:spPr>
            <a:xfrm>
              <a:off x="1709114" y="263373"/>
              <a:ext cx="54870" cy="1490592"/>
            </a:xfrm>
            <a:custGeom>
              <a:avLst/>
              <a:gdLst/>
              <a:ahLst/>
              <a:cxnLst>
                <a:cxn ang="0">
                  <a:pos x="wd2" y="hd2"/>
                </a:cxn>
                <a:cxn ang="5400000">
                  <a:pos x="wd2" y="hd2"/>
                </a:cxn>
                <a:cxn ang="10800000">
                  <a:pos x="wd2" y="hd2"/>
                </a:cxn>
                <a:cxn ang="16200000">
                  <a:pos x="wd2" y="hd2"/>
                </a:cxn>
              </a:cxnLst>
              <a:rect l="0" t="0" r="r" b="b"/>
              <a:pathLst>
                <a:path w="21600" h="21600" extrusionOk="0">
                  <a:moveTo>
                    <a:pt x="0" y="21588"/>
                  </a:moveTo>
                  <a:lnTo>
                    <a:pt x="0" y="310"/>
                  </a:lnTo>
                  <a:cubicBezTo>
                    <a:pt x="0" y="139"/>
                    <a:pt x="4277" y="0"/>
                    <a:pt x="9551" y="0"/>
                  </a:cubicBezTo>
                  <a:cubicBezTo>
                    <a:pt x="16207" y="0"/>
                    <a:pt x="21600" y="176"/>
                    <a:pt x="21600" y="392"/>
                  </a:cubicBezTo>
                  <a:lnTo>
                    <a:pt x="21600" y="21588"/>
                  </a:lnTo>
                  <a:lnTo>
                    <a:pt x="6" y="21600"/>
                  </a:lnTo>
                  <a:cubicBezTo>
                    <a:pt x="2" y="21596"/>
                    <a:pt x="0" y="21592"/>
                    <a:pt x="0" y="21588"/>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295" name="Rounded Rectangle 6"/>
            <p:cNvSpPr/>
            <p:nvPr/>
          </p:nvSpPr>
          <p:spPr>
            <a:xfrm>
              <a:off x="-1" y="-1"/>
              <a:ext cx="1763985" cy="2633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400" y="0"/>
                    <a:pt x="12707" y="2"/>
                    <a:pt x="18379" y="3"/>
                  </a:cubicBezTo>
                  <a:cubicBezTo>
                    <a:pt x="20160" y="3"/>
                    <a:pt x="21600" y="9672"/>
                    <a:pt x="21600" y="21600"/>
                  </a:cubicBezTo>
                  <a:lnTo>
                    <a:pt x="20928" y="21600"/>
                  </a:lnTo>
                  <a:cubicBezTo>
                    <a:pt x="20928" y="12154"/>
                    <a:pt x="19785" y="4499"/>
                    <a:pt x="18375" y="4499"/>
                  </a:cubicBezTo>
                  <a:lnTo>
                    <a:pt x="0" y="4499"/>
                  </a:lnTo>
                  <a:lnTo>
                    <a:pt x="0" y="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00" name="Group 11"/>
          <p:cNvGrpSpPr/>
          <p:nvPr/>
        </p:nvGrpSpPr>
        <p:grpSpPr>
          <a:xfrm>
            <a:off x="4429885" y="1307109"/>
            <a:ext cx="1901054" cy="2306222"/>
            <a:chOff x="0" y="-1"/>
            <a:chExt cx="1901053" cy="2306221"/>
          </a:xfrm>
        </p:grpSpPr>
        <p:sp>
          <p:nvSpPr>
            <p:cNvPr id="297" name="Rounded Rectangle 8"/>
            <p:cNvSpPr/>
            <p:nvPr/>
          </p:nvSpPr>
          <p:spPr>
            <a:xfrm>
              <a:off x="1577335" y="1754036"/>
              <a:ext cx="323719" cy="552185"/>
            </a:xfrm>
            <a:custGeom>
              <a:avLst/>
              <a:gdLst/>
              <a:ahLst/>
              <a:cxnLst>
                <a:cxn ang="0">
                  <a:pos x="wd2" y="hd2"/>
                </a:cxn>
                <a:cxn ang="5400000">
                  <a:pos x="wd2" y="hd2"/>
                </a:cxn>
                <a:cxn ang="10800000">
                  <a:pos x="wd2" y="hd2"/>
                </a:cxn>
                <a:cxn ang="16200000">
                  <a:pos x="wd2" y="hd2"/>
                </a:cxn>
              </a:cxnLst>
              <a:rect l="0" t="0" r="r" b="b"/>
              <a:pathLst>
                <a:path w="21600" h="21243" extrusionOk="0">
                  <a:moveTo>
                    <a:pt x="17573" y="6191"/>
                  </a:moveTo>
                  <a:cubicBezTo>
                    <a:pt x="17573" y="7240"/>
                    <a:pt x="14541" y="8090"/>
                    <a:pt x="10800" y="8090"/>
                  </a:cubicBezTo>
                  <a:cubicBezTo>
                    <a:pt x="7059" y="8090"/>
                    <a:pt x="4027" y="7240"/>
                    <a:pt x="4027" y="6191"/>
                  </a:cubicBezTo>
                  <a:cubicBezTo>
                    <a:pt x="4027" y="5974"/>
                    <a:pt x="4156" y="5767"/>
                    <a:pt x="4393" y="5573"/>
                  </a:cubicBezTo>
                  <a:lnTo>
                    <a:pt x="0" y="8829"/>
                  </a:lnTo>
                  <a:cubicBezTo>
                    <a:pt x="0" y="9417"/>
                    <a:pt x="675" y="9963"/>
                    <a:pt x="1830" y="10417"/>
                  </a:cubicBezTo>
                  <a:cubicBezTo>
                    <a:pt x="2525" y="10690"/>
                    <a:pt x="3393" y="10929"/>
                    <a:pt x="4393" y="11124"/>
                  </a:cubicBezTo>
                  <a:cubicBezTo>
                    <a:pt x="5122" y="11265"/>
                    <a:pt x="5920" y="11384"/>
                    <a:pt x="6773" y="11474"/>
                  </a:cubicBezTo>
                  <a:cubicBezTo>
                    <a:pt x="7583" y="11560"/>
                    <a:pt x="8442" y="11621"/>
                    <a:pt x="9336" y="11653"/>
                  </a:cubicBezTo>
                  <a:cubicBezTo>
                    <a:pt x="9814" y="11670"/>
                    <a:pt x="10303" y="11679"/>
                    <a:pt x="10800" y="11679"/>
                  </a:cubicBezTo>
                  <a:cubicBezTo>
                    <a:pt x="11171" y="11679"/>
                    <a:pt x="11537" y="11674"/>
                    <a:pt x="11898" y="11664"/>
                  </a:cubicBezTo>
                  <a:cubicBezTo>
                    <a:pt x="12789" y="11641"/>
                    <a:pt x="13648" y="11588"/>
                    <a:pt x="14461" y="11511"/>
                  </a:cubicBezTo>
                  <a:cubicBezTo>
                    <a:pt x="15308" y="11430"/>
                    <a:pt x="16107" y="11323"/>
                    <a:pt x="16841" y="11192"/>
                  </a:cubicBezTo>
                  <a:cubicBezTo>
                    <a:pt x="17822" y="11017"/>
                    <a:pt x="18688" y="10800"/>
                    <a:pt x="19403" y="10552"/>
                  </a:cubicBezTo>
                  <a:cubicBezTo>
                    <a:pt x="20782" y="10074"/>
                    <a:pt x="21600" y="9477"/>
                    <a:pt x="21600" y="8829"/>
                  </a:cubicBezTo>
                  <a:lnTo>
                    <a:pt x="17308" y="5663"/>
                  </a:lnTo>
                  <a:cubicBezTo>
                    <a:pt x="17481" y="5830"/>
                    <a:pt x="17573" y="6007"/>
                    <a:pt x="17573" y="6191"/>
                  </a:cubicBezTo>
                  <a:close/>
                  <a:moveTo>
                    <a:pt x="13912" y="5135"/>
                  </a:moveTo>
                  <a:lnTo>
                    <a:pt x="13912" y="6191"/>
                  </a:lnTo>
                  <a:cubicBezTo>
                    <a:pt x="13912" y="6657"/>
                    <a:pt x="12437" y="7035"/>
                    <a:pt x="10617" y="7035"/>
                  </a:cubicBezTo>
                  <a:cubicBezTo>
                    <a:pt x="8797" y="7035"/>
                    <a:pt x="7322" y="6657"/>
                    <a:pt x="7322" y="6191"/>
                  </a:cubicBezTo>
                  <a:lnTo>
                    <a:pt x="7322" y="5135"/>
                  </a:lnTo>
                  <a:cubicBezTo>
                    <a:pt x="7322" y="5601"/>
                    <a:pt x="8797" y="5980"/>
                    <a:pt x="10617" y="5980"/>
                  </a:cubicBezTo>
                  <a:cubicBezTo>
                    <a:pt x="12437" y="5980"/>
                    <a:pt x="13912" y="5601"/>
                    <a:pt x="13912" y="5135"/>
                  </a:cubicBezTo>
                  <a:close/>
                  <a:moveTo>
                    <a:pt x="13912" y="6191"/>
                  </a:moveTo>
                  <a:cubicBezTo>
                    <a:pt x="13912" y="6657"/>
                    <a:pt x="12437" y="7035"/>
                    <a:pt x="10617" y="7035"/>
                  </a:cubicBezTo>
                  <a:cubicBezTo>
                    <a:pt x="8797" y="7035"/>
                    <a:pt x="7322" y="6657"/>
                    <a:pt x="7322" y="6191"/>
                  </a:cubicBezTo>
                  <a:lnTo>
                    <a:pt x="7322" y="4560"/>
                  </a:lnTo>
                  <a:cubicBezTo>
                    <a:pt x="5965" y="4788"/>
                    <a:pt x="4916" y="5146"/>
                    <a:pt x="4393" y="5573"/>
                  </a:cubicBezTo>
                  <a:cubicBezTo>
                    <a:pt x="4156" y="5767"/>
                    <a:pt x="4027" y="5974"/>
                    <a:pt x="4027" y="6191"/>
                  </a:cubicBezTo>
                  <a:cubicBezTo>
                    <a:pt x="4027" y="7240"/>
                    <a:pt x="7059" y="8090"/>
                    <a:pt x="10800" y="8090"/>
                  </a:cubicBezTo>
                  <a:cubicBezTo>
                    <a:pt x="14541" y="8090"/>
                    <a:pt x="17573" y="7240"/>
                    <a:pt x="17573" y="6191"/>
                  </a:cubicBezTo>
                  <a:cubicBezTo>
                    <a:pt x="17573" y="6007"/>
                    <a:pt x="17481" y="5830"/>
                    <a:pt x="17308" y="5663"/>
                  </a:cubicBezTo>
                  <a:cubicBezTo>
                    <a:pt x="16789" y="5158"/>
                    <a:pt x="15545" y="4740"/>
                    <a:pt x="13912" y="4503"/>
                  </a:cubicBezTo>
                  <a:lnTo>
                    <a:pt x="13912" y="5135"/>
                  </a:lnTo>
                  <a:close/>
                  <a:moveTo>
                    <a:pt x="13912" y="3024"/>
                  </a:moveTo>
                  <a:cubicBezTo>
                    <a:pt x="13912" y="3491"/>
                    <a:pt x="12437" y="3869"/>
                    <a:pt x="10617" y="3869"/>
                  </a:cubicBezTo>
                  <a:cubicBezTo>
                    <a:pt x="8797" y="3869"/>
                    <a:pt x="7322" y="3491"/>
                    <a:pt x="7322" y="3024"/>
                  </a:cubicBezTo>
                  <a:lnTo>
                    <a:pt x="7322" y="4080"/>
                  </a:lnTo>
                  <a:cubicBezTo>
                    <a:pt x="7322" y="4546"/>
                    <a:pt x="8797" y="4924"/>
                    <a:pt x="10617" y="4924"/>
                  </a:cubicBezTo>
                  <a:cubicBezTo>
                    <a:pt x="12437" y="4924"/>
                    <a:pt x="13912" y="4546"/>
                    <a:pt x="13912" y="4080"/>
                  </a:cubicBezTo>
                  <a:close/>
                  <a:moveTo>
                    <a:pt x="10617" y="5980"/>
                  </a:moveTo>
                  <a:cubicBezTo>
                    <a:pt x="12437" y="5980"/>
                    <a:pt x="13912" y="5601"/>
                    <a:pt x="13912" y="5135"/>
                  </a:cubicBezTo>
                  <a:lnTo>
                    <a:pt x="13912" y="4080"/>
                  </a:lnTo>
                  <a:cubicBezTo>
                    <a:pt x="13912" y="4546"/>
                    <a:pt x="12437" y="4924"/>
                    <a:pt x="10617" y="4924"/>
                  </a:cubicBezTo>
                  <a:cubicBezTo>
                    <a:pt x="8797" y="4924"/>
                    <a:pt x="7322" y="4546"/>
                    <a:pt x="7322" y="4080"/>
                  </a:cubicBezTo>
                  <a:lnTo>
                    <a:pt x="7322" y="5135"/>
                  </a:lnTo>
                  <a:cubicBezTo>
                    <a:pt x="7322" y="5601"/>
                    <a:pt x="8797" y="5980"/>
                    <a:pt x="10617" y="5980"/>
                  </a:cubicBezTo>
                  <a:close/>
                  <a:moveTo>
                    <a:pt x="10617" y="3869"/>
                  </a:moveTo>
                  <a:cubicBezTo>
                    <a:pt x="12437" y="3869"/>
                    <a:pt x="13912" y="3491"/>
                    <a:pt x="13912" y="3024"/>
                  </a:cubicBezTo>
                  <a:lnTo>
                    <a:pt x="13912" y="1969"/>
                  </a:lnTo>
                  <a:cubicBezTo>
                    <a:pt x="13912" y="2435"/>
                    <a:pt x="12437" y="2813"/>
                    <a:pt x="10617" y="2813"/>
                  </a:cubicBezTo>
                  <a:cubicBezTo>
                    <a:pt x="8797" y="2813"/>
                    <a:pt x="7322" y="2435"/>
                    <a:pt x="7322" y="1969"/>
                  </a:cubicBezTo>
                  <a:lnTo>
                    <a:pt x="7322" y="3024"/>
                  </a:lnTo>
                  <a:cubicBezTo>
                    <a:pt x="7322" y="3491"/>
                    <a:pt x="8797" y="3869"/>
                    <a:pt x="10617" y="3869"/>
                  </a:cubicBezTo>
                  <a:close/>
                  <a:moveTo>
                    <a:pt x="13912" y="702"/>
                  </a:moveTo>
                  <a:cubicBezTo>
                    <a:pt x="13912" y="1169"/>
                    <a:pt x="12437" y="1547"/>
                    <a:pt x="10617" y="1547"/>
                  </a:cubicBezTo>
                  <a:cubicBezTo>
                    <a:pt x="8797" y="1547"/>
                    <a:pt x="7322" y="1169"/>
                    <a:pt x="7322" y="702"/>
                  </a:cubicBezTo>
                  <a:lnTo>
                    <a:pt x="7322" y="1969"/>
                  </a:lnTo>
                  <a:cubicBezTo>
                    <a:pt x="7322" y="2435"/>
                    <a:pt x="8797" y="2813"/>
                    <a:pt x="10617" y="2813"/>
                  </a:cubicBezTo>
                  <a:cubicBezTo>
                    <a:pt x="12437" y="2813"/>
                    <a:pt x="13912" y="2435"/>
                    <a:pt x="13912" y="1969"/>
                  </a:cubicBezTo>
                  <a:close/>
                  <a:moveTo>
                    <a:pt x="6773" y="15681"/>
                  </a:moveTo>
                  <a:lnTo>
                    <a:pt x="6773" y="11474"/>
                  </a:lnTo>
                  <a:cubicBezTo>
                    <a:pt x="5920" y="11384"/>
                    <a:pt x="5122" y="11265"/>
                    <a:pt x="4393" y="11124"/>
                  </a:cubicBezTo>
                  <a:lnTo>
                    <a:pt x="4393" y="15304"/>
                  </a:lnTo>
                  <a:cubicBezTo>
                    <a:pt x="5122" y="15457"/>
                    <a:pt x="5920" y="15584"/>
                    <a:pt x="6773" y="15681"/>
                  </a:cubicBezTo>
                  <a:close/>
                  <a:moveTo>
                    <a:pt x="21600" y="14529"/>
                  </a:moveTo>
                  <a:lnTo>
                    <a:pt x="21600" y="12840"/>
                  </a:lnTo>
                  <a:cubicBezTo>
                    <a:pt x="21600" y="13535"/>
                    <a:pt x="20782" y="14176"/>
                    <a:pt x="19403" y="14690"/>
                  </a:cubicBezTo>
                  <a:cubicBezTo>
                    <a:pt x="18688" y="14957"/>
                    <a:pt x="17822" y="15190"/>
                    <a:pt x="16841" y="15377"/>
                  </a:cubicBezTo>
                  <a:cubicBezTo>
                    <a:pt x="16107" y="15518"/>
                    <a:pt x="15308" y="15634"/>
                    <a:pt x="14461" y="15720"/>
                  </a:cubicBezTo>
                  <a:cubicBezTo>
                    <a:pt x="13648" y="15803"/>
                    <a:pt x="12789" y="15860"/>
                    <a:pt x="11898" y="15885"/>
                  </a:cubicBezTo>
                  <a:cubicBezTo>
                    <a:pt x="11537" y="15895"/>
                    <a:pt x="11171" y="15901"/>
                    <a:pt x="10800" y="15901"/>
                  </a:cubicBezTo>
                  <a:cubicBezTo>
                    <a:pt x="10303" y="15901"/>
                    <a:pt x="9814" y="15891"/>
                    <a:pt x="9336" y="15873"/>
                  </a:cubicBezTo>
                  <a:cubicBezTo>
                    <a:pt x="8442" y="15838"/>
                    <a:pt x="7583" y="15773"/>
                    <a:pt x="6773" y="15681"/>
                  </a:cubicBezTo>
                  <a:cubicBezTo>
                    <a:pt x="5920" y="15584"/>
                    <a:pt x="5122" y="15457"/>
                    <a:pt x="4393" y="15304"/>
                  </a:cubicBezTo>
                  <a:cubicBezTo>
                    <a:pt x="4269" y="15278"/>
                    <a:pt x="4147" y="15251"/>
                    <a:pt x="4027" y="15224"/>
                  </a:cubicBezTo>
                  <a:lnTo>
                    <a:pt x="4027" y="16913"/>
                  </a:lnTo>
                  <a:cubicBezTo>
                    <a:pt x="4436" y="17006"/>
                    <a:pt x="4869" y="17091"/>
                    <a:pt x="5323" y="17167"/>
                  </a:cubicBezTo>
                  <a:cubicBezTo>
                    <a:pt x="6581" y="17377"/>
                    <a:pt x="8001" y="17517"/>
                    <a:pt x="9519" y="17568"/>
                  </a:cubicBezTo>
                  <a:cubicBezTo>
                    <a:pt x="9939" y="17582"/>
                    <a:pt x="10366" y="17589"/>
                    <a:pt x="10800" y="17589"/>
                  </a:cubicBezTo>
                  <a:cubicBezTo>
                    <a:pt x="11171" y="17589"/>
                    <a:pt x="11537" y="17584"/>
                    <a:pt x="11898" y="17574"/>
                  </a:cubicBezTo>
                  <a:cubicBezTo>
                    <a:pt x="13272" y="17534"/>
                    <a:pt x="14570" y="17422"/>
                    <a:pt x="15742" y="17251"/>
                  </a:cubicBezTo>
                  <a:cubicBezTo>
                    <a:pt x="19221" y="16742"/>
                    <a:pt x="21600" y="15714"/>
                    <a:pt x="21600" y="14529"/>
                  </a:cubicBezTo>
                  <a:close/>
                  <a:moveTo>
                    <a:pt x="4393" y="15304"/>
                  </a:moveTo>
                  <a:lnTo>
                    <a:pt x="4393" y="11124"/>
                  </a:lnTo>
                  <a:cubicBezTo>
                    <a:pt x="3393" y="10929"/>
                    <a:pt x="2525" y="10690"/>
                    <a:pt x="1830" y="10417"/>
                  </a:cubicBezTo>
                  <a:lnTo>
                    <a:pt x="1815" y="12052"/>
                  </a:lnTo>
                  <a:lnTo>
                    <a:pt x="4027" y="13684"/>
                  </a:lnTo>
                  <a:lnTo>
                    <a:pt x="4027" y="15224"/>
                  </a:lnTo>
                  <a:cubicBezTo>
                    <a:pt x="4147" y="15251"/>
                    <a:pt x="4269" y="15278"/>
                    <a:pt x="4393" y="15304"/>
                  </a:cubicBezTo>
                  <a:close/>
                  <a:moveTo>
                    <a:pt x="1830" y="10417"/>
                  </a:moveTo>
                  <a:cubicBezTo>
                    <a:pt x="675" y="9963"/>
                    <a:pt x="0" y="9417"/>
                    <a:pt x="0" y="8829"/>
                  </a:cubicBezTo>
                  <a:lnTo>
                    <a:pt x="0" y="10713"/>
                  </a:lnTo>
                  <a:lnTo>
                    <a:pt x="1815" y="12052"/>
                  </a:lnTo>
                  <a:close/>
                  <a:moveTo>
                    <a:pt x="9336" y="15873"/>
                  </a:moveTo>
                  <a:lnTo>
                    <a:pt x="9336" y="11653"/>
                  </a:lnTo>
                  <a:cubicBezTo>
                    <a:pt x="8442" y="11621"/>
                    <a:pt x="7583" y="11560"/>
                    <a:pt x="6773" y="11474"/>
                  </a:cubicBezTo>
                  <a:lnTo>
                    <a:pt x="6773" y="15681"/>
                  </a:lnTo>
                  <a:cubicBezTo>
                    <a:pt x="7583" y="15773"/>
                    <a:pt x="8442" y="15838"/>
                    <a:pt x="9336" y="15873"/>
                  </a:cubicBezTo>
                  <a:close/>
                  <a:moveTo>
                    <a:pt x="11898" y="17574"/>
                  </a:moveTo>
                  <a:lnTo>
                    <a:pt x="11898" y="19489"/>
                  </a:lnTo>
                  <a:cubicBezTo>
                    <a:pt x="12631" y="20122"/>
                    <a:pt x="15376" y="20017"/>
                    <a:pt x="15742" y="19384"/>
                  </a:cubicBezTo>
                  <a:lnTo>
                    <a:pt x="15742" y="17251"/>
                  </a:lnTo>
                  <a:cubicBezTo>
                    <a:pt x="14570" y="17422"/>
                    <a:pt x="13272" y="17534"/>
                    <a:pt x="11898" y="17574"/>
                  </a:cubicBezTo>
                  <a:close/>
                  <a:moveTo>
                    <a:pt x="9336" y="15873"/>
                  </a:moveTo>
                  <a:cubicBezTo>
                    <a:pt x="9814" y="15891"/>
                    <a:pt x="10303" y="15901"/>
                    <a:pt x="10800" y="15901"/>
                  </a:cubicBezTo>
                  <a:cubicBezTo>
                    <a:pt x="11171" y="15901"/>
                    <a:pt x="11537" y="15895"/>
                    <a:pt x="11898" y="15885"/>
                  </a:cubicBezTo>
                  <a:lnTo>
                    <a:pt x="11898" y="11664"/>
                  </a:lnTo>
                  <a:cubicBezTo>
                    <a:pt x="11537" y="11674"/>
                    <a:pt x="11171" y="11679"/>
                    <a:pt x="10800" y="11679"/>
                  </a:cubicBezTo>
                  <a:cubicBezTo>
                    <a:pt x="10303" y="11679"/>
                    <a:pt x="9814" y="11670"/>
                    <a:pt x="9336" y="11653"/>
                  </a:cubicBezTo>
                  <a:close/>
                  <a:moveTo>
                    <a:pt x="11898" y="11664"/>
                  </a:moveTo>
                  <a:lnTo>
                    <a:pt x="11898" y="15885"/>
                  </a:lnTo>
                  <a:cubicBezTo>
                    <a:pt x="12789" y="15860"/>
                    <a:pt x="13648" y="15803"/>
                    <a:pt x="14461" y="15720"/>
                  </a:cubicBezTo>
                  <a:lnTo>
                    <a:pt x="14461" y="11511"/>
                  </a:lnTo>
                  <a:cubicBezTo>
                    <a:pt x="13648" y="11588"/>
                    <a:pt x="12789" y="11641"/>
                    <a:pt x="11898" y="11664"/>
                  </a:cubicBezTo>
                  <a:close/>
                  <a:moveTo>
                    <a:pt x="14461" y="11511"/>
                  </a:moveTo>
                  <a:lnTo>
                    <a:pt x="14461" y="15720"/>
                  </a:lnTo>
                  <a:cubicBezTo>
                    <a:pt x="15308" y="15634"/>
                    <a:pt x="16107" y="15518"/>
                    <a:pt x="16841" y="15377"/>
                  </a:cubicBezTo>
                  <a:lnTo>
                    <a:pt x="16841" y="11192"/>
                  </a:lnTo>
                  <a:cubicBezTo>
                    <a:pt x="16107" y="11323"/>
                    <a:pt x="15308" y="11430"/>
                    <a:pt x="14461" y="11511"/>
                  </a:cubicBezTo>
                  <a:close/>
                  <a:moveTo>
                    <a:pt x="16841" y="11192"/>
                  </a:moveTo>
                  <a:lnTo>
                    <a:pt x="16841" y="15377"/>
                  </a:lnTo>
                  <a:cubicBezTo>
                    <a:pt x="17822" y="15190"/>
                    <a:pt x="18688" y="14957"/>
                    <a:pt x="19403" y="14690"/>
                  </a:cubicBezTo>
                  <a:lnTo>
                    <a:pt x="19403" y="10552"/>
                  </a:lnTo>
                  <a:cubicBezTo>
                    <a:pt x="18688" y="10800"/>
                    <a:pt x="17822" y="11017"/>
                    <a:pt x="16841" y="11192"/>
                  </a:cubicBezTo>
                  <a:close/>
                  <a:moveTo>
                    <a:pt x="21600" y="12840"/>
                  </a:moveTo>
                  <a:lnTo>
                    <a:pt x="21600" y="8829"/>
                  </a:lnTo>
                  <a:cubicBezTo>
                    <a:pt x="21600" y="9477"/>
                    <a:pt x="20782" y="10074"/>
                    <a:pt x="19403" y="10552"/>
                  </a:cubicBezTo>
                  <a:lnTo>
                    <a:pt x="19403" y="14690"/>
                  </a:lnTo>
                  <a:cubicBezTo>
                    <a:pt x="20782" y="14176"/>
                    <a:pt x="21600" y="13535"/>
                    <a:pt x="21600" y="12840"/>
                  </a:cubicBezTo>
                  <a:close/>
                  <a:moveTo>
                    <a:pt x="9519" y="17568"/>
                  </a:moveTo>
                  <a:cubicBezTo>
                    <a:pt x="8001" y="17517"/>
                    <a:pt x="6581" y="17377"/>
                    <a:pt x="5323" y="17167"/>
                  </a:cubicBezTo>
                  <a:lnTo>
                    <a:pt x="5323" y="20756"/>
                  </a:lnTo>
                  <a:cubicBezTo>
                    <a:pt x="5858" y="21178"/>
                    <a:pt x="8054" y="21600"/>
                    <a:pt x="9519" y="20756"/>
                  </a:cubicBezTo>
                  <a:close/>
                  <a:moveTo>
                    <a:pt x="10617" y="1547"/>
                  </a:moveTo>
                  <a:cubicBezTo>
                    <a:pt x="12437" y="1547"/>
                    <a:pt x="13912" y="1169"/>
                    <a:pt x="13912" y="702"/>
                  </a:cubicBezTo>
                  <a:cubicBezTo>
                    <a:pt x="13912" y="409"/>
                    <a:pt x="13330" y="151"/>
                    <a:pt x="12446" y="0"/>
                  </a:cubicBezTo>
                  <a:cubicBezTo>
                    <a:pt x="12413" y="566"/>
                    <a:pt x="11607" y="808"/>
                    <a:pt x="10617" y="808"/>
                  </a:cubicBezTo>
                  <a:cubicBezTo>
                    <a:pt x="9627" y="808"/>
                    <a:pt x="8821" y="566"/>
                    <a:pt x="8787" y="0"/>
                  </a:cubicBezTo>
                  <a:cubicBezTo>
                    <a:pt x="7904" y="151"/>
                    <a:pt x="7322" y="409"/>
                    <a:pt x="7322" y="702"/>
                  </a:cubicBezTo>
                  <a:cubicBezTo>
                    <a:pt x="7322" y="1169"/>
                    <a:pt x="8797" y="1547"/>
                    <a:pt x="10617" y="1547"/>
                  </a:cubicBezTo>
                  <a:close/>
                  <a:moveTo>
                    <a:pt x="13912" y="702"/>
                  </a:moveTo>
                  <a:lnTo>
                    <a:pt x="13912" y="6191"/>
                  </a:lnTo>
                  <a:moveTo>
                    <a:pt x="7322" y="702"/>
                  </a:moveTo>
                  <a:lnTo>
                    <a:pt x="7322" y="6191"/>
                  </a:lnTo>
                  <a:moveTo>
                    <a:pt x="10800" y="17589"/>
                  </a:moveTo>
                  <a:cubicBezTo>
                    <a:pt x="8801" y="17589"/>
                    <a:pt x="6929" y="17435"/>
                    <a:pt x="5323" y="17167"/>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298" name="Rounded Rectangle 9"/>
            <p:cNvSpPr/>
            <p:nvPr/>
          </p:nvSpPr>
          <p:spPr>
            <a:xfrm>
              <a:off x="1709017" y="263437"/>
              <a:ext cx="54870" cy="149060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588"/>
                  </a:lnTo>
                  <a:cubicBezTo>
                    <a:pt x="0" y="21592"/>
                    <a:pt x="2" y="21596"/>
                    <a:pt x="6" y="21600"/>
                  </a:cubicBezTo>
                  <a:moveTo>
                    <a:pt x="21600" y="0"/>
                  </a:moveTo>
                  <a:lnTo>
                    <a:pt x="21600" y="21588"/>
                  </a:lnTo>
                  <a:cubicBezTo>
                    <a:pt x="21600" y="21592"/>
                    <a:pt x="21598" y="21596"/>
                    <a:pt x="2159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299" name="Rounded Rectangle 10"/>
            <p:cNvSpPr/>
            <p:nvPr/>
          </p:nvSpPr>
          <p:spPr>
            <a:xfrm>
              <a:off x="0" y="-2"/>
              <a:ext cx="1763984" cy="26339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2"/>
                    <a:pt x="20160" y="3"/>
                    <a:pt x="18379" y="3"/>
                  </a:cubicBezTo>
                  <a:lnTo>
                    <a:pt x="0" y="0"/>
                  </a:lnTo>
                  <a:lnTo>
                    <a:pt x="0" y="4499"/>
                  </a:lnTo>
                  <a:lnTo>
                    <a:pt x="18375" y="4499"/>
                  </a:lnTo>
                  <a:cubicBezTo>
                    <a:pt x="19785" y="4499"/>
                    <a:pt x="20928" y="12154"/>
                    <a:pt x="20928" y="21597"/>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05" name="Group 15"/>
          <p:cNvGrpSpPr/>
          <p:nvPr/>
        </p:nvGrpSpPr>
        <p:grpSpPr>
          <a:xfrm>
            <a:off x="4429786" y="1735126"/>
            <a:ext cx="1637780" cy="2004338"/>
            <a:chOff x="-1" y="0"/>
            <a:chExt cx="1637778" cy="2004336"/>
          </a:xfrm>
        </p:grpSpPr>
        <p:sp>
          <p:nvSpPr>
            <p:cNvPr id="301" name="Rounded Rectangle 12"/>
            <p:cNvSpPr/>
            <p:nvPr/>
          </p:nvSpPr>
          <p:spPr>
            <a:xfrm>
              <a:off x="-2" y="-1"/>
              <a:ext cx="1500624" cy="19755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179" y="1"/>
                    <a:pt x="14187" y="3"/>
                    <a:pt x="18761" y="4"/>
                  </a:cubicBezTo>
                  <a:cubicBezTo>
                    <a:pt x="20331" y="4"/>
                    <a:pt x="21600" y="9673"/>
                    <a:pt x="21600" y="21600"/>
                  </a:cubicBezTo>
                  <a:lnTo>
                    <a:pt x="20810" y="21600"/>
                  </a:lnTo>
                  <a:cubicBezTo>
                    <a:pt x="20810" y="12982"/>
                    <a:pt x="19891" y="5999"/>
                    <a:pt x="18757" y="5999"/>
                  </a:cubicBezTo>
                  <a:lnTo>
                    <a:pt x="0" y="5999"/>
                  </a:lnTo>
                  <a:lnTo>
                    <a:pt x="0" y="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02" name="Rounded Rectangle 13"/>
            <p:cNvSpPr/>
            <p:nvPr/>
          </p:nvSpPr>
          <p:spPr>
            <a:xfrm>
              <a:off x="1314058" y="1452154"/>
              <a:ext cx="323720" cy="552182"/>
            </a:xfrm>
            <a:custGeom>
              <a:avLst/>
              <a:gdLst/>
              <a:ahLst/>
              <a:cxnLst>
                <a:cxn ang="0">
                  <a:pos x="wd2" y="hd2"/>
                </a:cxn>
                <a:cxn ang="5400000">
                  <a:pos x="wd2" y="hd2"/>
                </a:cxn>
                <a:cxn ang="10800000">
                  <a:pos x="wd2" y="hd2"/>
                </a:cxn>
                <a:cxn ang="16200000">
                  <a:pos x="wd2" y="hd2"/>
                </a:cxn>
              </a:cxnLst>
              <a:rect l="0" t="0" r="r" b="b"/>
              <a:pathLst>
                <a:path w="21600" h="21243" extrusionOk="0">
                  <a:moveTo>
                    <a:pt x="17573" y="6191"/>
                  </a:moveTo>
                  <a:cubicBezTo>
                    <a:pt x="17573" y="7240"/>
                    <a:pt x="14540" y="8090"/>
                    <a:pt x="10800" y="8090"/>
                  </a:cubicBezTo>
                  <a:cubicBezTo>
                    <a:pt x="7060" y="8090"/>
                    <a:pt x="4027" y="7240"/>
                    <a:pt x="4027" y="6191"/>
                  </a:cubicBezTo>
                  <a:cubicBezTo>
                    <a:pt x="4027" y="5974"/>
                    <a:pt x="4156" y="5767"/>
                    <a:pt x="4393" y="5573"/>
                  </a:cubicBezTo>
                  <a:lnTo>
                    <a:pt x="0" y="8829"/>
                  </a:lnTo>
                  <a:cubicBezTo>
                    <a:pt x="0" y="9417"/>
                    <a:pt x="675" y="9963"/>
                    <a:pt x="1830" y="10417"/>
                  </a:cubicBezTo>
                  <a:cubicBezTo>
                    <a:pt x="2525" y="10690"/>
                    <a:pt x="3393" y="10929"/>
                    <a:pt x="4393" y="11123"/>
                  </a:cubicBezTo>
                  <a:cubicBezTo>
                    <a:pt x="5122" y="11266"/>
                    <a:pt x="5921" y="11384"/>
                    <a:pt x="6773" y="11474"/>
                  </a:cubicBezTo>
                  <a:cubicBezTo>
                    <a:pt x="7583" y="11560"/>
                    <a:pt x="8442" y="11621"/>
                    <a:pt x="9336" y="11653"/>
                  </a:cubicBezTo>
                  <a:cubicBezTo>
                    <a:pt x="9814" y="11670"/>
                    <a:pt x="10303" y="11679"/>
                    <a:pt x="10800" y="11679"/>
                  </a:cubicBezTo>
                  <a:cubicBezTo>
                    <a:pt x="11171" y="11679"/>
                    <a:pt x="11537" y="11674"/>
                    <a:pt x="11898" y="11664"/>
                  </a:cubicBezTo>
                  <a:cubicBezTo>
                    <a:pt x="12789" y="11641"/>
                    <a:pt x="13648" y="11588"/>
                    <a:pt x="14461" y="11511"/>
                  </a:cubicBezTo>
                  <a:cubicBezTo>
                    <a:pt x="15309" y="11430"/>
                    <a:pt x="16107" y="11323"/>
                    <a:pt x="16841" y="11192"/>
                  </a:cubicBezTo>
                  <a:cubicBezTo>
                    <a:pt x="17822" y="11017"/>
                    <a:pt x="18688" y="10801"/>
                    <a:pt x="19403" y="10552"/>
                  </a:cubicBezTo>
                  <a:cubicBezTo>
                    <a:pt x="20782" y="10074"/>
                    <a:pt x="21600" y="9477"/>
                    <a:pt x="21600" y="8829"/>
                  </a:cubicBezTo>
                  <a:lnTo>
                    <a:pt x="17308" y="5663"/>
                  </a:lnTo>
                  <a:cubicBezTo>
                    <a:pt x="17481" y="5830"/>
                    <a:pt x="17573" y="6008"/>
                    <a:pt x="17573" y="6191"/>
                  </a:cubicBezTo>
                  <a:moveTo>
                    <a:pt x="13912" y="4080"/>
                  </a:moveTo>
                  <a:cubicBezTo>
                    <a:pt x="13912" y="4546"/>
                    <a:pt x="12437" y="4924"/>
                    <a:pt x="10617" y="4924"/>
                  </a:cubicBezTo>
                  <a:cubicBezTo>
                    <a:pt x="8797" y="4924"/>
                    <a:pt x="7322" y="4546"/>
                    <a:pt x="7322" y="4080"/>
                  </a:cubicBezTo>
                  <a:lnTo>
                    <a:pt x="7322" y="5135"/>
                  </a:lnTo>
                  <a:cubicBezTo>
                    <a:pt x="7322" y="5601"/>
                    <a:pt x="8797" y="5979"/>
                    <a:pt x="10617" y="5979"/>
                  </a:cubicBezTo>
                  <a:cubicBezTo>
                    <a:pt x="12437" y="5979"/>
                    <a:pt x="13912" y="5601"/>
                    <a:pt x="13912" y="5135"/>
                  </a:cubicBezTo>
                  <a:cubicBezTo>
                    <a:pt x="13912" y="5601"/>
                    <a:pt x="12437" y="5979"/>
                    <a:pt x="10617" y="5979"/>
                  </a:cubicBezTo>
                  <a:cubicBezTo>
                    <a:pt x="8797" y="5979"/>
                    <a:pt x="7322" y="5601"/>
                    <a:pt x="7322" y="5135"/>
                  </a:cubicBezTo>
                  <a:lnTo>
                    <a:pt x="7322" y="6191"/>
                  </a:lnTo>
                  <a:cubicBezTo>
                    <a:pt x="7322" y="6657"/>
                    <a:pt x="8797" y="7035"/>
                    <a:pt x="10617" y="7035"/>
                  </a:cubicBezTo>
                  <a:cubicBezTo>
                    <a:pt x="12437" y="7035"/>
                    <a:pt x="13912" y="6657"/>
                    <a:pt x="13912" y="6191"/>
                  </a:cubicBezTo>
                  <a:cubicBezTo>
                    <a:pt x="13912" y="6657"/>
                    <a:pt x="12437" y="7035"/>
                    <a:pt x="10617" y="7035"/>
                  </a:cubicBezTo>
                  <a:cubicBezTo>
                    <a:pt x="8797" y="7035"/>
                    <a:pt x="7322" y="6657"/>
                    <a:pt x="7322" y="6191"/>
                  </a:cubicBezTo>
                  <a:lnTo>
                    <a:pt x="7322" y="4560"/>
                  </a:lnTo>
                  <a:cubicBezTo>
                    <a:pt x="5965" y="4789"/>
                    <a:pt x="4916" y="5146"/>
                    <a:pt x="4393" y="5573"/>
                  </a:cubicBezTo>
                  <a:cubicBezTo>
                    <a:pt x="4156" y="5767"/>
                    <a:pt x="4027" y="5974"/>
                    <a:pt x="4027" y="6191"/>
                  </a:cubicBezTo>
                  <a:cubicBezTo>
                    <a:pt x="4027" y="7240"/>
                    <a:pt x="7060" y="8090"/>
                    <a:pt x="10800" y="8090"/>
                  </a:cubicBezTo>
                  <a:cubicBezTo>
                    <a:pt x="14540" y="8090"/>
                    <a:pt x="17573" y="7240"/>
                    <a:pt x="17573" y="6191"/>
                  </a:cubicBezTo>
                  <a:cubicBezTo>
                    <a:pt x="17573" y="6008"/>
                    <a:pt x="17481" y="5830"/>
                    <a:pt x="17308" y="5663"/>
                  </a:cubicBezTo>
                  <a:cubicBezTo>
                    <a:pt x="16789" y="5158"/>
                    <a:pt x="15545" y="4740"/>
                    <a:pt x="13912" y="4503"/>
                  </a:cubicBezTo>
                  <a:lnTo>
                    <a:pt x="13912" y="4080"/>
                  </a:lnTo>
                  <a:moveTo>
                    <a:pt x="13912" y="3024"/>
                  </a:moveTo>
                  <a:cubicBezTo>
                    <a:pt x="13912" y="3491"/>
                    <a:pt x="12437" y="3869"/>
                    <a:pt x="10617" y="3869"/>
                  </a:cubicBezTo>
                  <a:cubicBezTo>
                    <a:pt x="8797" y="3869"/>
                    <a:pt x="7322" y="3491"/>
                    <a:pt x="7322" y="3024"/>
                  </a:cubicBezTo>
                  <a:lnTo>
                    <a:pt x="7322" y="4080"/>
                  </a:lnTo>
                  <a:cubicBezTo>
                    <a:pt x="7322" y="4546"/>
                    <a:pt x="8797" y="4924"/>
                    <a:pt x="10617" y="4924"/>
                  </a:cubicBezTo>
                  <a:cubicBezTo>
                    <a:pt x="12437" y="4924"/>
                    <a:pt x="13912" y="4546"/>
                    <a:pt x="13912" y="4080"/>
                  </a:cubicBezTo>
                  <a:lnTo>
                    <a:pt x="13912" y="3024"/>
                  </a:lnTo>
                  <a:moveTo>
                    <a:pt x="10617" y="3869"/>
                  </a:moveTo>
                  <a:cubicBezTo>
                    <a:pt x="12437" y="3869"/>
                    <a:pt x="13912" y="3491"/>
                    <a:pt x="13912" y="3024"/>
                  </a:cubicBezTo>
                  <a:lnTo>
                    <a:pt x="13912" y="1969"/>
                  </a:lnTo>
                  <a:cubicBezTo>
                    <a:pt x="13912" y="2435"/>
                    <a:pt x="12437" y="2813"/>
                    <a:pt x="10617" y="2813"/>
                  </a:cubicBezTo>
                  <a:cubicBezTo>
                    <a:pt x="8797" y="2813"/>
                    <a:pt x="7322" y="2435"/>
                    <a:pt x="7322" y="1969"/>
                  </a:cubicBezTo>
                  <a:lnTo>
                    <a:pt x="7322" y="3024"/>
                  </a:lnTo>
                  <a:cubicBezTo>
                    <a:pt x="7322" y="3491"/>
                    <a:pt x="8797" y="3869"/>
                    <a:pt x="10617" y="3869"/>
                  </a:cubicBezTo>
                  <a:moveTo>
                    <a:pt x="13912" y="702"/>
                  </a:moveTo>
                  <a:cubicBezTo>
                    <a:pt x="13912" y="1169"/>
                    <a:pt x="12437" y="1547"/>
                    <a:pt x="10617" y="1547"/>
                  </a:cubicBezTo>
                  <a:cubicBezTo>
                    <a:pt x="8797" y="1547"/>
                    <a:pt x="7322" y="1169"/>
                    <a:pt x="7322" y="702"/>
                  </a:cubicBezTo>
                  <a:lnTo>
                    <a:pt x="7322" y="1969"/>
                  </a:lnTo>
                  <a:cubicBezTo>
                    <a:pt x="7322" y="2435"/>
                    <a:pt x="8797" y="2813"/>
                    <a:pt x="10617" y="2813"/>
                  </a:cubicBezTo>
                  <a:cubicBezTo>
                    <a:pt x="12437" y="2813"/>
                    <a:pt x="13912" y="2435"/>
                    <a:pt x="13912" y="1969"/>
                  </a:cubicBezTo>
                  <a:lnTo>
                    <a:pt x="13912" y="702"/>
                  </a:lnTo>
                  <a:moveTo>
                    <a:pt x="4393" y="11123"/>
                  </a:moveTo>
                  <a:cubicBezTo>
                    <a:pt x="3393" y="10929"/>
                    <a:pt x="2525" y="10690"/>
                    <a:pt x="1830" y="10417"/>
                  </a:cubicBezTo>
                  <a:lnTo>
                    <a:pt x="1808" y="12798"/>
                  </a:lnTo>
                  <a:lnTo>
                    <a:pt x="3295" y="13895"/>
                  </a:lnTo>
                  <a:lnTo>
                    <a:pt x="3295" y="15041"/>
                  </a:lnTo>
                  <a:cubicBezTo>
                    <a:pt x="3640" y="15135"/>
                    <a:pt x="4007" y="15223"/>
                    <a:pt x="4393" y="15304"/>
                  </a:cubicBezTo>
                  <a:cubicBezTo>
                    <a:pt x="5122" y="15457"/>
                    <a:pt x="5921" y="15584"/>
                    <a:pt x="6773" y="15681"/>
                  </a:cubicBezTo>
                  <a:cubicBezTo>
                    <a:pt x="7583" y="15773"/>
                    <a:pt x="8442" y="15838"/>
                    <a:pt x="9336" y="15873"/>
                  </a:cubicBezTo>
                  <a:cubicBezTo>
                    <a:pt x="9814" y="15891"/>
                    <a:pt x="10303" y="15901"/>
                    <a:pt x="10800" y="15901"/>
                  </a:cubicBezTo>
                  <a:cubicBezTo>
                    <a:pt x="11171" y="15901"/>
                    <a:pt x="11537" y="15895"/>
                    <a:pt x="11898" y="15885"/>
                  </a:cubicBezTo>
                  <a:cubicBezTo>
                    <a:pt x="12789" y="15859"/>
                    <a:pt x="13648" y="15803"/>
                    <a:pt x="14461" y="15720"/>
                  </a:cubicBezTo>
                  <a:cubicBezTo>
                    <a:pt x="15309" y="15634"/>
                    <a:pt x="16107" y="15518"/>
                    <a:pt x="16841" y="15378"/>
                  </a:cubicBezTo>
                  <a:cubicBezTo>
                    <a:pt x="17822" y="15189"/>
                    <a:pt x="18688" y="14957"/>
                    <a:pt x="19403" y="14690"/>
                  </a:cubicBezTo>
                  <a:cubicBezTo>
                    <a:pt x="20782" y="14176"/>
                    <a:pt x="21600" y="13535"/>
                    <a:pt x="21600" y="12840"/>
                  </a:cubicBezTo>
                  <a:lnTo>
                    <a:pt x="21600" y="8829"/>
                  </a:lnTo>
                  <a:cubicBezTo>
                    <a:pt x="21600" y="9477"/>
                    <a:pt x="20782" y="10074"/>
                    <a:pt x="19403" y="10552"/>
                  </a:cubicBezTo>
                  <a:cubicBezTo>
                    <a:pt x="18688" y="10801"/>
                    <a:pt x="17822" y="11017"/>
                    <a:pt x="16841" y="11192"/>
                  </a:cubicBezTo>
                  <a:cubicBezTo>
                    <a:pt x="16107" y="11323"/>
                    <a:pt x="15309" y="11430"/>
                    <a:pt x="14461" y="11511"/>
                  </a:cubicBezTo>
                  <a:cubicBezTo>
                    <a:pt x="13648" y="11588"/>
                    <a:pt x="12789" y="11641"/>
                    <a:pt x="11898" y="11664"/>
                  </a:cubicBezTo>
                  <a:cubicBezTo>
                    <a:pt x="11537" y="11674"/>
                    <a:pt x="11171" y="11679"/>
                    <a:pt x="10800" y="11679"/>
                  </a:cubicBezTo>
                  <a:cubicBezTo>
                    <a:pt x="10303" y="11679"/>
                    <a:pt x="9814" y="11670"/>
                    <a:pt x="9336" y="11653"/>
                  </a:cubicBezTo>
                  <a:cubicBezTo>
                    <a:pt x="8442" y="11621"/>
                    <a:pt x="7583" y="11560"/>
                    <a:pt x="6773" y="11474"/>
                  </a:cubicBezTo>
                  <a:cubicBezTo>
                    <a:pt x="5921" y="11384"/>
                    <a:pt x="5122" y="11266"/>
                    <a:pt x="4393" y="11123"/>
                  </a:cubicBezTo>
                  <a:moveTo>
                    <a:pt x="21600" y="14529"/>
                  </a:moveTo>
                  <a:lnTo>
                    <a:pt x="21600" y="12840"/>
                  </a:lnTo>
                  <a:cubicBezTo>
                    <a:pt x="21600" y="13535"/>
                    <a:pt x="20782" y="14176"/>
                    <a:pt x="19403" y="14690"/>
                  </a:cubicBezTo>
                  <a:cubicBezTo>
                    <a:pt x="18688" y="14957"/>
                    <a:pt x="17822" y="15189"/>
                    <a:pt x="16841" y="15378"/>
                  </a:cubicBezTo>
                  <a:cubicBezTo>
                    <a:pt x="16107" y="15518"/>
                    <a:pt x="15309" y="15634"/>
                    <a:pt x="14461" y="15720"/>
                  </a:cubicBezTo>
                  <a:cubicBezTo>
                    <a:pt x="13648" y="15803"/>
                    <a:pt x="12789" y="15859"/>
                    <a:pt x="11898" y="15885"/>
                  </a:cubicBezTo>
                  <a:cubicBezTo>
                    <a:pt x="11537" y="15895"/>
                    <a:pt x="11171" y="15901"/>
                    <a:pt x="10800" y="15901"/>
                  </a:cubicBezTo>
                  <a:cubicBezTo>
                    <a:pt x="10303" y="15901"/>
                    <a:pt x="9814" y="15891"/>
                    <a:pt x="9336" y="15873"/>
                  </a:cubicBezTo>
                  <a:cubicBezTo>
                    <a:pt x="8442" y="15838"/>
                    <a:pt x="7583" y="15773"/>
                    <a:pt x="6773" y="15681"/>
                  </a:cubicBezTo>
                  <a:cubicBezTo>
                    <a:pt x="5921" y="15584"/>
                    <a:pt x="5122" y="15457"/>
                    <a:pt x="4393" y="15304"/>
                  </a:cubicBezTo>
                  <a:cubicBezTo>
                    <a:pt x="4007" y="15223"/>
                    <a:pt x="3640" y="15135"/>
                    <a:pt x="3295" y="15041"/>
                  </a:cubicBezTo>
                  <a:lnTo>
                    <a:pt x="3295" y="16730"/>
                  </a:lnTo>
                  <a:cubicBezTo>
                    <a:pt x="3906" y="16897"/>
                    <a:pt x="4586" y="17044"/>
                    <a:pt x="5323" y="17167"/>
                  </a:cubicBezTo>
                  <a:cubicBezTo>
                    <a:pt x="6581" y="17377"/>
                    <a:pt x="8001" y="17517"/>
                    <a:pt x="9519" y="17568"/>
                  </a:cubicBezTo>
                  <a:cubicBezTo>
                    <a:pt x="9939" y="17582"/>
                    <a:pt x="10367" y="17589"/>
                    <a:pt x="10800" y="17589"/>
                  </a:cubicBezTo>
                  <a:cubicBezTo>
                    <a:pt x="11171" y="17589"/>
                    <a:pt x="11537" y="17584"/>
                    <a:pt x="11898" y="17574"/>
                  </a:cubicBezTo>
                  <a:cubicBezTo>
                    <a:pt x="13272" y="17534"/>
                    <a:pt x="14570" y="17422"/>
                    <a:pt x="15742" y="17251"/>
                  </a:cubicBezTo>
                  <a:cubicBezTo>
                    <a:pt x="19221" y="16742"/>
                    <a:pt x="21600" y="15714"/>
                    <a:pt x="21600" y="14529"/>
                  </a:cubicBezTo>
                  <a:moveTo>
                    <a:pt x="9519" y="17568"/>
                  </a:moveTo>
                  <a:cubicBezTo>
                    <a:pt x="8001" y="17517"/>
                    <a:pt x="6581" y="17377"/>
                    <a:pt x="5323" y="17167"/>
                  </a:cubicBezTo>
                  <a:lnTo>
                    <a:pt x="5323" y="20756"/>
                  </a:lnTo>
                  <a:cubicBezTo>
                    <a:pt x="5858" y="21178"/>
                    <a:pt x="8054" y="21600"/>
                    <a:pt x="9519" y="20756"/>
                  </a:cubicBezTo>
                  <a:lnTo>
                    <a:pt x="9519" y="17568"/>
                  </a:lnTo>
                  <a:moveTo>
                    <a:pt x="11898" y="17574"/>
                  </a:moveTo>
                  <a:lnTo>
                    <a:pt x="11898" y="19489"/>
                  </a:lnTo>
                  <a:cubicBezTo>
                    <a:pt x="12631" y="20122"/>
                    <a:pt x="15376" y="20017"/>
                    <a:pt x="15742" y="19384"/>
                  </a:cubicBezTo>
                  <a:lnTo>
                    <a:pt x="15742" y="17251"/>
                  </a:lnTo>
                  <a:cubicBezTo>
                    <a:pt x="14570" y="17422"/>
                    <a:pt x="13272" y="17534"/>
                    <a:pt x="11898" y="17574"/>
                  </a:cubicBezTo>
                  <a:moveTo>
                    <a:pt x="1830" y="10417"/>
                  </a:moveTo>
                  <a:cubicBezTo>
                    <a:pt x="675" y="9963"/>
                    <a:pt x="0" y="9417"/>
                    <a:pt x="0" y="8829"/>
                  </a:cubicBezTo>
                  <a:lnTo>
                    <a:pt x="0" y="11465"/>
                  </a:lnTo>
                  <a:lnTo>
                    <a:pt x="1808" y="12798"/>
                  </a:lnTo>
                  <a:lnTo>
                    <a:pt x="1830" y="10417"/>
                  </a:lnTo>
                  <a:moveTo>
                    <a:pt x="10617" y="1547"/>
                  </a:moveTo>
                  <a:cubicBezTo>
                    <a:pt x="12437" y="1547"/>
                    <a:pt x="13912" y="1169"/>
                    <a:pt x="13912" y="702"/>
                  </a:cubicBezTo>
                  <a:cubicBezTo>
                    <a:pt x="13912" y="409"/>
                    <a:pt x="13330" y="151"/>
                    <a:pt x="12446" y="0"/>
                  </a:cubicBezTo>
                  <a:cubicBezTo>
                    <a:pt x="12413" y="566"/>
                    <a:pt x="11607" y="808"/>
                    <a:pt x="10617" y="808"/>
                  </a:cubicBezTo>
                  <a:cubicBezTo>
                    <a:pt x="9627" y="808"/>
                    <a:pt x="8821" y="566"/>
                    <a:pt x="8787" y="0"/>
                  </a:cubicBezTo>
                  <a:cubicBezTo>
                    <a:pt x="7904" y="151"/>
                    <a:pt x="7322" y="409"/>
                    <a:pt x="7322" y="702"/>
                  </a:cubicBezTo>
                  <a:cubicBezTo>
                    <a:pt x="7322" y="1169"/>
                    <a:pt x="8797" y="1547"/>
                    <a:pt x="10617" y="1547"/>
                  </a:cubicBezTo>
                  <a:moveTo>
                    <a:pt x="8787" y="0"/>
                  </a:moveTo>
                  <a:lnTo>
                    <a:pt x="12446" y="0"/>
                  </a:lnTo>
                  <a:cubicBezTo>
                    <a:pt x="12413" y="566"/>
                    <a:pt x="11607" y="808"/>
                    <a:pt x="10617" y="808"/>
                  </a:cubicBezTo>
                  <a:cubicBezTo>
                    <a:pt x="9627" y="808"/>
                    <a:pt x="8821" y="566"/>
                    <a:pt x="8787" y="0"/>
                  </a:cubicBezTo>
                  <a:moveTo>
                    <a:pt x="10800" y="17589"/>
                  </a:moveTo>
                  <a:lnTo>
                    <a:pt x="5323" y="17167"/>
                  </a:lnTo>
                  <a:cubicBezTo>
                    <a:pt x="6929" y="17435"/>
                    <a:pt x="8801" y="17589"/>
                    <a:pt x="10800" y="17589"/>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03" name="Rounded Rectangle 14"/>
            <p:cNvSpPr/>
            <p:nvPr/>
          </p:nvSpPr>
          <p:spPr>
            <a:xfrm>
              <a:off x="1445739" y="197489"/>
              <a:ext cx="54870" cy="1254668"/>
            </a:xfrm>
            <a:custGeom>
              <a:avLst/>
              <a:gdLst/>
              <a:ahLst/>
              <a:cxnLst>
                <a:cxn ang="0">
                  <a:pos x="wd2" y="hd2"/>
                </a:cxn>
                <a:cxn ang="5400000">
                  <a:pos x="wd2" y="hd2"/>
                </a:cxn>
                <a:cxn ang="10800000">
                  <a:pos x="wd2" y="hd2"/>
                </a:cxn>
                <a:cxn ang="16200000">
                  <a:pos x="wd2" y="hd2"/>
                </a:cxn>
              </a:cxnLst>
              <a:rect l="0" t="0" r="r" b="b"/>
              <a:pathLst>
                <a:path w="21600" h="21600" extrusionOk="0">
                  <a:moveTo>
                    <a:pt x="0" y="21586"/>
                  </a:moveTo>
                  <a:lnTo>
                    <a:pt x="0" y="0"/>
                  </a:lnTo>
                  <a:lnTo>
                    <a:pt x="21600" y="0"/>
                  </a:lnTo>
                  <a:lnTo>
                    <a:pt x="21600" y="21586"/>
                  </a:lnTo>
                  <a:cubicBezTo>
                    <a:pt x="21600" y="21590"/>
                    <a:pt x="21598" y="21595"/>
                    <a:pt x="21594" y="21600"/>
                  </a:cubicBezTo>
                  <a:lnTo>
                    <a:pt x="6" y="21600"/>
                  </a:lnTo>
                  <a:cubicBezTo>
                    <a:pt x="2" y="21595"/>
                    <a:pt x="0" y="21590"/>
                    <a:pt x="0" y="21586"/>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04" name="Rounded Rectangle 17"/>
            <p:cNvSpPr/>
            <p:nvPr/>
          </p:nvSpPr>
          <p:spPr>
            <a:xfrm>
              <a:off x="1314058" y="1451206"/>
              <a:ext cx="323720" cy="553109"/>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59" y="8113"/>
                    <a:pt x="4027" y="7264"/>
                    <a:pt x="4027" y="6217"/>
                  </a:cubicBezTo>
                  <a:cubicBezTo>
                    <a:pt x="4027" y="6001"/>
                    <a:pt x="4156" y="5793"/>
                    <a:pt x="4393" y="5600"/>
                  </a:cubicBezTo>
                  <a:lnTo>
                    <a:pt x="0" y="8851"/>
                  </a:lnTo>
                  <a:cubicBezTo>
                    <a:pt x="0" y="9438"/>
                    <a:pt x="675" y="9983"/>
                    <a:pt x="1830" y="10436"/>
                  </a:cubicBezTo>
                  <a:cubicBezTo>
                    <a:pt x="2525" y="10708"/>
                    <a:pt x="3393" y="10947"/>
                    <a:pt x="4393" y="11141"/>
                  </a:cubicBezTo>
                  <a:cubicBezTo>
                    <a:pt x="5122" y="11283"/>
                    <a:pt x="5920"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8"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close/>
                  <a:moveTo>
                    <a:pt x="13912" y="5163"/>
                  </a:moveTo>
                  <a:lnTo>
                    <a:pt x="13912" y="6217"/>
                  </a:lnTo>
                  <a:cubicBezTo>
                    <a:pt x="13912" y="6682"/>
                    <a:pt x="12437" y="7060"/>
                    <a:pt x="10617" y="7060"/>
                  </a:cubicBezTo>
                  <a:cubicBezTo>
                    <a:pt x="8797" y="7060"/>
                    <a:pt x="7322" y="6682"/>
                    <a:pt x="7322" y="6217"/>
                  </a:cubicBezTo>
                  <a:lnTo>
                    <a:pt x="7322" y="5163"/>
                  </a:lnTo>
                  <a:cubicBezTo>
                    <a:pt x="7322" y="5628"/>
                    <a:pt x="8797" y="6006"/>
                    <a:pt x="10617" y="6006"/>
                  </a:cubicBezTo>
                  <a:cubicBezTo>
                    <a:pt x="12437" y="6006"/>
                    <a:pt x="13912" y="5628"/>
                    <a:pt x="13912" y="5163"/>
                  </a:cubicBezTo>
                  <a:close/>
                  <a:moveTo>
                    <a:pt x="13912" y="6217"/>
                  </a:move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59" y="8113"/>
                    <a:pt x="10800" y="8113"/>
                  </a:cubicBezTo>
                  <a:cubicBezTo>
                    <a:pt x="14541" y="8113"/>
                    <a:pt x="17573" y="7264"/>
                    <a:pt x="17573" y="6217"/>
                  </a:cubicBezTo>
                  <a:cubicBezTo>
                    <a:pt x="17573" y="6034"/>
                    <a:pt x="17481" y="5857"/>
                    <a:pt x="17308" y="5690"/>
                  </a:cubicBezTo>
                  <a:cubicBezTo>
                    <a:pt x="16789" y="5186"/>
                    <a:pt x="15545" y="4769"/>
                    <a:pt x="13912" y="4532"/>
                  </a:cubicBezTo>
                  <a:lnTo>
                    <a:pt x="13912" y="5163"/>
                  </a:lnTo>
                  <a:close/>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close/>
                  <a:moveTo>
                    <a:pt x="10617" y="6006"/>
                  </a:moveTo>
                  <a:cubicBezTo>
                    <a:pt x="12437" y="6006"/>
                    <a:pt x="13912" y="5628"/>
                    <a:pt x="13912" y="5163"/>
                  </a:cubicBezTo>
                  <a:lnTo>
                    <a:pt x="13912" y="4109"/>
                  </a:lnTo>
                  <a:cubicBezTo>
                    <a:pt x="13912" y="4575"/>
                    <a:pt x="12437" y="4952"/>
                    <a:pt x="10617" y="4952"/>
                  </a:cubicBezTo>
                  <a:cubicBezTo>
                    <a:pt x="8797" y="4952"/>
                    <a:pt x="7322" y="4575"/>
                    <a:pt x="7322" y="4109"/>
                  </a:cubicBezTo>
                  <a:lnTo>
                    <a:pt x="7322" y="5163"/>
                  </a:lnTo>
                  <a:cubicBezTo>
                    <a:pt x="7322" y="5628"/>
                    <a:pt x="8797" y="6006"/>
                    <a:pt x="10617" y="6006"/>
                  </a:cubicBezTo>
                  <a:close/>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close/>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close/>
                  <a:moveTo>
                    <a:pt x="6773" y="15691"/>
                  </a:moveTo>
                  <a:lnTo>
                    <a:pt x="6773" y="11491"/>
                  </a:lnTo>
                  <a:cubicBezTo>
                    <a:pt x="5920" y="11401"/>
                    <a:pt x="5122" y="11283"/>
                    <a:pt x="4393" y="11141"/>
                  </a:cubicBezTo>
                  <a:lnTo>
                    <a:pt x="4393" y="15315"/>
                  </a:lnTo>
                  <a:cubicBezTo>
                    <a:pt x="5122" y="15467"/>
                    <a:pt x="5920" y="15594"/>
                    <a:pt x="6773" y="15691"/>
                  </a:cubicBezTo>
                  <a:close/>
                  <a:moveTo>
                    <a:pt x="21600" y="14540"/>
                  </a:moveTo>
                  <a:lnTo>
                    <a:pt x="21600" y="12855"/>
                  </a:lnTo>
                  <a:cubicBezTo>
                    <a:pt x="21600" y="13549"/>
                    <a:pt x="20782" y="14189"/>
                    <a:pt x="19403" y="14702"/>
                  </a:cubicBezTo>
                  <a:cubicBezTo>
                    <a:pt x="18688" y="14968"/>
                    <a:pt x="17822" y="15200"/>
                    <a:pt x="16841" y="15388"/>
                  </a:cubicBezTo>
                  <a:cubicBezTo>
                    <a:pt x="16107" y="15528"/>
                    <a:pt x="15308"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0" y="15594"/>
                    <a:pt x="5122" y="15467"/>
                    <a:pt x="4393" y="15315"/>
                  </a:cubicBezTo>
                  <a:cubicBezTo>
                    <a:pt x="4007" y="15234"/>
                    <a:pt x="3640" y="15146"/>
                    <a:pt x="3295" y="15052"/>
                  </a:cubicBezTo>
                  <a:lnTo>
                    <a:pt x="3295" y="16738"/>
                  </a:lnTo>
                  <a:cubicBezTo>
                    <a:pt x="3906" y="16905"/>
                    <a:pt x="4587" y="17052"/>
                    <a:pt x="5323" y="17175"/>
                  </a:cubicBezTo>
                  <a:cubicBezTo>
                    <a:pt x="6581" y="17384"/>
                    <a:pt x="8001" y="17524"/>
                    <a:pt x="9519" y="17575"/>
                  </a:cubicBezTo>
                  <a:cubicBezTo>
                    <a:pt x="9939" y="17589"/>
                    <a:pt x="10366" y="17596"/>
                    <a:pt x="10800" y="17596"/>
                  </a:cubicBezTo>
                  <a:cubicBezTo>
                    <a:pt x="11171" y="17596"/>
                    <a:pt x="11537" y="17591"/>
                    <a:pt x="11898" y="17580"/>
                  </a:cubicBezTo>
                  <a:cubicBezTo>
                    <a:pt x="13272" y="17541"/>
                    <a:pt x="14570" y="17429"/>
                    <a:pt x="15742" y="17258"/>
                  </a:cubicBezTo>
                  <a:cubicBezTo>
                    <a:pt x="19221" y="16751"/>
                    <a:pt x="21600" y="15724"/>
                    <a:pt x="21600" y="14540"/>
                  </a:cubicBezTo>
                  <a:close/>
                  <a:moveTo>
                    <a:pt x="9336" y="15882"/>
                  </a:moveTo>
                  <a:lnTo>
                    <a:pt x="9336" y="11670"/>
                  </a:lnTo>
                  <a:cubicBezTo>
                    <a:pt x="8442" y="11638"/>
                    <a:pt x="7583" y="11577"/>
                    <a:pt x="6773" y="11491"/>
                  </a:cubicBezTo>
                  <a:lnTo>
                    <a:pt x="6773" y="15691"/>
                  </a:lnTo>
                  <a:cubicBezTo>
                    <a:pt x="7583" y="15783"/>
                    <a:pt x="8442" y="15848"/>
                    <a:pt x="9336" y="15882"/>
                  </a:cubicBezTo>
                  <a:close/>
                  <a:moveTo>
                    <a:pt x="9519" y="17575"/>
                  </a:moveTo>
                  <a:cubicBezTo>
                    <a:pt x="8001" y="17524"/>
                    <a:pt x="6581" y="17384"/>
                    <a:pt x="5323" y="17175"/>
                  </a:cubicBezTo>
                  <a:lnTo>
                    <a:pt x="5323" y="20757"/>
                  </a:lnTo>
                  <a:cubicBezTo>
                    <a:pt x="5858" y="21179"/>
                    <a:pt x="8054" y="21600"/>
                    <a:pt x="9519" y="20757"/>
                  </a:cubicBezTo>
                  <a:close/>
                  <a:moveTo>
                    <a:pt x="11898" y="17580"/>
                  </a:moveTo>
                  <a:lnTo>
                    <a:pt x="11898" y="19493"/>
                  </a:lnTo>
                  <a:cubicBezTo>
                    <a:pt x="12631" y="20125"/>
                    <a:pt x="15376" y="20020"/>
                    <a:pt x="15742" y="19387"/>
                  </a:cubicBezTo>
                  <a:lnTo>
                    <a:pt x="15742" y="17258"/>
                  </a:lnTo>
                  <a:cubicBezTo>
                    <a:pt x="14570" y="17429"/>
                    <a:pt x="13272" y="17541"/>
                    <a:pt x="11898" y="17580"/>
                  </a:cubicBezTo>
                  <a:close/>
                  <a:moveTo>
                    <a:pt x="9336" y="15882"/>
                  </a:moveTo>
                  <a:cubicBezTo>
                    <a:pt x="9814" y="15901"/>
                    <a:pt x="10303" y="15910"/>
                    <a:pt x="10800" y="15910"/>
                  </a:cubicBezTo>
                  <a:cubicBezTo>
                    <a:pt x="11171" y="15910"/>
                    <a:pt x="11537" y="15905"/>
                    <a:pt x="11898" y="15895"/>
                  </a:cubicBezTo>
                  <a:lnTo>
                    <a:pt x="11898" y="11681"/>
                  </a:lnTo>
                  <a:cubicBezTo>
                    <a:pt x="11537" y="11691"/>
                    <a:pt x="11171" y="11696"/>
                    <a:pt x="10800" y="11696"/>
                  </a:cubicBezTo>
                  <a:cubicBezTo>
                    <a:pt x="10303" y="11696"/>
                    <a:pt x="9814" y="11687"/>
                    <a:pt x="9336" y="11670"/>
                  </a:cubicBezTo>
                  <a:close/>
                  <a:moveTo>
                    <a:pt x="11898" y="11681"/>
                  </a:moveTo>
                  <a:lnTo>
                    <a:pt x="11898" y="15895"/>
                  </a:lnTo>
                  <a:cubicBezTo>
                    <a:pt x="12789" y="15869"/>
                    <a:pt x="13648" y="15813"/>
                    <a:pt x="14461" y="15730"/>
                  </a:cubicBezTo>
                  <a:lnTo>
                    <a:pt x="14461" y="11528"/>
                  </a:lnTo>
                  <a:cubicBezTo>
                    <a:pt x="13648" y="11605"/>
                    <a:pt x="12789" y="11657"/>
                    <a:pt x="11898" y="11681"/>
                  </a:cubicBezTo>
                  <a:close/>
                  <a:moveTo>
                    <a:pt x="14461" y="11528"/>
                  </a:moveTo>
                  <a:lnTo>
                    <a:pt x="14461" y="15730"/>
                  </a:lnTo>
                  <a:cubicBezTo>
                    <a:pt x="15308" y="15644"/>
                    <a:pt x="16107" y="15528"/>
                    <a:pt x="16841" y="15388"/>
                  </a:cubicBezTo>
                  <a:lnTo>
                    <a:pt x="16841" y="11209"/>
                  </a:lnTo>
                  <a:cubicBezTo>
                    <a:pt x="16107" y="11340"/>
                    <a:pt x="15308" y="11448"/>
                    <a:pt x="14461" y="11528"/>
                  </a:cubicBezTo>
                  <a:close/>
                  <a:moveTo>
                    <a:pt x="16841" y="11209"/>
                  </a:moveTo>
                  <a:lnTo>
                    <a:pt x="16841" y="15388"/>
                  </a:lnTo>
                  <a:cubicBezTo>
                    <a:pt x="17822" y="15200"/>
                    <a:pt x="18688" y="14968"/>
                    <a:pt x="19403" y="14702"/>
                  </a:cubicBezTo>
                  <a:lnTo>
                    <a:pt x="19403" y="10571"/>
                  </a:lnTo>
                  <a:cubicBezTo>
                    <a:pt x="18688" y="10819"/>
                    <a:pt x="17822" y="11035"/>
                    <a:pt x="16841" y="11209"/>
                  </a:cubicBezTo>
                  <a:close/>
                  <a:moveTo>
                    <a:pt x="21600" y="12855"/>
                  </a:moveTo>
                  <a:lnTo>
                    <a:pt x="21600" y="8851"/>
                  </a:lnTo>
                  <a:cubicBezTo>
                    <a:pt x="21600" y="9497"/>
                    <a:pt x="20782" y="10093"/>
                    <a:pt x="19403" y="10571"/>
                  </a:cubicBezTo>
                  <a:lnTo>
                    <a:pt x="19403" y="14702"/>
                  </a:lnTo>
                  <a:cubicBezTo>
                    <a:pt x="20782" y="14189"/>
                    <a:pt x="21600" y="13549"/>
                    <a:pt x="21600" y="12855"/>
                  </a:cubicBezTo>
                  <a:close/>
                  <a:moveTo>
                    <a:pt x="4393" y="15315"/>
                  </a:moveTo>
                  <a:lnTo>
                    <a:pt x="4393" y="11141"/>
                  </a:lnTo>
                  <a:cubicBezTo>
                    <a:pt x="3393" y="10947"/>
                    <a:pt x="2525" y="10708"/>
                    <a:pt x="1830" y="10436"/>
                  </a:cubicBezTo>
                  <a:lnTo>
                    <a:pt x="1808" y="12813"/>
                  </a:lnTo>
                  <a:lnTo>
                    <a:pt x="3295" y="13908"/>
                  </a:lnTo>
                  <a:lnTo>
                    <a:pt x="3295" y="15052"/>
                  </a:lnTo>
                  <a:cubicBezTo>
                    <a:pt x="3640" y="15146"/>
                    <a:pt x="4007" y="15234"/>
                    <a:pt x="4393" y="15315"/>
                  </a:cubicBezTo>
                  <a:close/>
                  <a:moveTo>
                    <a:pt x="1830" y="10436"/>
                  </a:moveTo>
                  <a:cubicBezTo>
                    <a:pt x="675" y="9983"/>
                    <a:pt x="0" y="9438"/>
                    <a:pt x="0" y="8851"/>
                  </a:cubicBezTo>
                  <a:lnTo>
                    <a:pt x="0" y="11482"/>
                  </a:lnTo>
                  <a:lnTo>
                    <a:pt x="1808" y="12813"/>
                  </a:lnTo>
                  <a:close/>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close/>
                  <a:moveTo>
                    <a:pt x="13912" y="738"/>
                  </a:moveTo>
                  <a:lnTo>
                    <a:pt x="13912" y="6217"/>
                  </a:lnTo>
                  <a:moveTo>
                    <a:pt x="7322" y="738"/>
                  </a:moveTo>
                  <a:lnTo>
                    <a:pt x="7322" y="6217"/>
                  </a:lnTo>
                  <a:moveTo>
                    <a:pt x="10800" y="17596"/>
                  </a:moveTo>
                  <a:cubicBezTo>
                    <a:pt x="8801" y="17596"/>
                    <a:pt x="6929" y="17442"/>
                    <a:pt x="5323" y="17175"/>
                  </a:cubicBezTo>
                  <a:moveTo>
                    <a:pt x="8786" y="0"/>
                  </a:moveTo>
                  <a:cubicBezTo>
                    <a:pt x="8786" y="12"/>
                    <a:pt x="8787" y="24"/>
                    <a:pt x="8787" y="36"/>
                  </a:cubicBezTo>
                  <a:moveTo>
                    <a:pt x="12447" y="0"/>
                  </a:moveTo>
                  <a:cubicBezTo>
                    <a:pt x="12447" y="12"/>
                    <a:pt x="12447" y="24"/>
                    <a:pt x="12446" y="3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09" name="Group 19"/>
          <p:cNvGrpSpPr/>
          <p:nvPr/>
        </p:nvGrpSpPr>
        <p:grpSpPr>
          <a:xfrm>
            <a:off x="2957447" y="1952930"/>
            <a:ext cx="1637781" cy="2004315"/>
            <a:chOff x="-1" y="0"/>
            <a:chExt cx="1637779" cy="2004314"/>
          </a:xfrm>
        </p:grpSpPr>
        <p:sp>
          <p:nvSpPr>
            <p:cNvPr id="306" name="Rounded Rectangle 16"/>
            <p:cNvSpPr/>
            <p:nvPr/>
          </p:nvSpPr>
          <p:spPr>
            <a:xfrm>
              <a:off x="-2" y="0"/>
              <a:ext cx="1500624" cy="19755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3"/>
                    <a:pt x="20331" y="4"/>
                    <a:pt x="18761" y="4"/>
                  </a:cubicBezTo>
                  <a:lnTo>
                    <a:pt x="0" y="0"/>
                  </a:lnTo>
                  <a:lnTo>
                    <a:pt x="0" y="5999"/>
                  </a:lnTo>
                  <a:lnTo>
                    <a:pt x="18757" y="5999"/>
                  </a:lnTo>
                  <a:cubicBezTo>
                    <a:pt x="19891" y="5999"/>
                    <a:pt x="20810" y="12982"/>
                    <a:pt x="20810" y="2159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07" name="Rounded Rectangle 17"/>
            <p:cNvSpPr/>
            <p:nvPr/>
          </p:nvSpPr>
          <p:spPr>
            <a:xfrm>
              <a:off x="1314060" y="1451206"/>
              <a:ext cx="323719" cy="553109"/>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59" y="8113"/>
                    <a:pt x="4027" y="7264"/>
                    <a:pt x="4027" y="6217"/>
                  </a:cubicBezTo>
                  <a:cubicBezTo>
                    <a:pt x="4027" y="6001"/>
                    <a:pt x="4156" y="5793"/>
                    <a:pt x="4393" y="5600"/>
                  </a:cubicBezTo>
                  <a:lnTo>
                    <a:pt x="0" y="8851"/>
                  </a:lnTo>
                  <a:cubicBezTo>
                    <a:pt x="0" y="9438"/>
                    <a:pt x="675" y="9983"/>
                    <a:pt x="1830" y="10436"/>
                  </a:cubicBezTo>
                  <a:cubicBezTo>
                    <a:pt x="2525" y="10708"/>
                    <a:pt x="3393" y="10947"/>
                    <a:pt x="4393" y="11141"/>
                  </a:cubicBezTo>
                  <a:cubicBezTo>
                    <a:pt x="5122" y="11283"/>
                    <a:pt x="5920"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8"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close/>
                  <a:moveTo>
                    <a:pt x="13912" y="5163"/>
                  </a:moveTo>
                  <a:lnTo>
                    <a:pt x="13912" y="6217"/>
                  </a:lnTo>
                  <a:cubicBezTo>
                    <a:pt x="13912" y="6682"/>
                    <a:pt x="12437" y="7060"/>
                    <a:pt x="10617" y="7060"/>
                  </a:cubicBezTo>
                  <a:cubicBezTo>
                    <a:pt x="8797" y="7060"/>
                    <a:pt x="7322" y="6682"/>
                    <a:pt x="7322" y="6217"/>
                  </a:cubicBezTo>
                  <a:lnTo>
                    <a:pt x="7322" y="5163"/>
                  </a:lnTo>
                  <a:cubicBezTo>
                    <a:pt x="7322" y="5628"/>
                    <a:pt x="8797" y="6006"/>
                    <a:pt x="10617" y="6006"/>
                  </a:cubicBezTo>
                  <a:cubicBezTo>
                    <a:pt x="12437" y="6006"/>
                    <a:pt x="13912" y="5628"/>
                    <a:pt x="13912" y="5163"/>
                  </a:cubicBezTo>
                  <a:close/>
                  <a:moveTo>
                    <a:pt x="13912" y="6217"/>
                  </a:move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59" y="8113"/>
                    <a:pt x="10800" y="8113"/>
                  </a:cubicBezTo>
                  <a:cubicBezTo>
                    <a:pt x="14541" y="8113"/>
                    <a:pt x="17573" y="7264"/>
                    <a:pt x="17573" y="6217"/>
                  </a:cubicBezTo>
                  <a:cubicBezTo>
                    <a:pt x="17573" y="6034"/>
                    <a:pt x="17481" y="5857"/>
                    <a:pt x="17308" y="5690"/>
                  </a:cubicBezTo>
                  <a:cubicBezTo>
                    <a:pt x="16789" y="5186"/>
                    <a:pt x="15545" y="4769"/>
                    <a:pt x="13912" y="4532"/>
                  </a:cubicBezTo>
                  <a:lnTo>
                    <a:pt x="13912" y="5163"/>
                  </a:lnTo>
                  <a:close/>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close/>
                  <a:moveTo>
                    <a:pt x="10617" y="6006"/>
                  </a:moveTo>
                  <a:cubicBezTo>
                    <a:pt x="12437" y="6006"/>
                    <a:pt x="13912" y="5628"/>
                    <a:pt x="13912" y="5163"/>
                  </a:cubicBezTo>
                  <a:lnTo>
                    <a:pt x="13912" y="4109"/>
                  </a:lnTo>
                  <a:cubicBezTo>
                    <a:pt x="13912" y="4575"/>
                    <a:pt x="12437" y="4952"/>
                    <a:pt x="10617" y="4952"/>
                  </a:cubicBezTo>
                  <a:cubicBezTo>
                    <a:pt x="8797" y="4952"/>
                    <a:pt x="7322" y="4575"/>
                    <a:pt x="7322" y="4109"/>
                  </a:cubicBezTo>
                  <a:lnTo>
                    <a:pt x="7322" y="5163"/>
                  </a:lnTo>
                  <a:cubicBezTo>
                    <a:pt x="7322" y="5628"/>
                    <a:pt x="8797" y="6006"/>
                    <a:pt x="10617" y="6006"/>
                  </a:cubicBezTo>
                  <a:close/>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close/>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close/>
                  <a:moveTo>
                    <a:pt x="6773" y="15691"/>
                  </a:moveTo>
                  <a:lnTo>
                    <a:pt x="6773" y="11491"/>
                  </a:lnTo>
                  <a:cubicBezTo>
                    <a:pt x="5920" y="11401"/>
                    <a:pt x="5122" y="11283"/>
                    <a:pt x="4393" y="11141"/>
                  </a:cubicBezTo>
                  <a:lnTo>
                    <a:pt x="4393" y="15315"/>
                  </a:lnTo>
                  <a:cubicBezTo>
                    <a:pt x="5122" y="15467"/>
                    <a:pt x="5920" y="15594"/>
                    <a:pt x="6773" y="15691"/>
                  </a:cubicBezTo>
                  <a:close/>
                  <a:moveTo>
                    <a:pt x="21600" y="14540"/>
                  </a:moveTo>
                  <a:lnTo>
                    <a:pt x="21600" y="12855"/>
                  </a:lnTo>
                  <a:cubicBezTo>
                    <a:pt x="21600" y="13549"/>
                    <a:pt x="20782" y="14189"/>
                    <a:pt x="19403" y="14702"/>
                  </a:cubicBezTo>
                  <a:cubicBezTo>
                    <a:pt x="18688" y="14968"/>
                    <a:pt x="17822" y="15200"/>
                    <a:pt x="16841" y="15388"/>
                  </a:cubicBezTo>
                  <a:cubicBezTo>
                    <a:pt x="16107" y="15528"/>
                    <a:pt x="15308"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0" y="15594"/>
                    <a:pt x="5122" y="15467"/>
                    <a:pt x="4393" y="15315"/>
                  </a:cubicBezTo>
                  <a:cubicBezTo>
                    <a:pt x="4007" y="15234"/>
                    <a:pt x="3640" y="15146"/>
                    <a:pt x="3295" y="15052"/>
                  </a:cubicBezTo>
                  <a:lnTo>
                    <a:pt x="3295" y="16738"/>
                  </a:lnTo>
                  <a:cubicBezTo>
                    <a:pt x="3906" y="16905"/>
                    <a:pt x="4587" y="17052"/>
                    <a:pt x="5323" y="17175"/>
                  </a:cubicBezTo>
                  <a:cubicBezTo>
                    <a:pt x="6581" y="17384"/>
                    <a:pt x="8001" y="17524"/>
                    <a:pt x="9519" y="17575"/>
                  </a:cubicBezTo>
                  <a:cubicBezTo>
                    <a:pt x="9939" y="17589"/>
                    <a:pt x="10366" y="17596"/>
                    <a:pt x="10800" y="17596"/>
                  </a:cubicBezTo>
                  <a:cubicBezTo>
                    <a:pt x="11171" y="17596"/>
                    <a:pt x="11537" y="17591"/>
                    <a:pt x="11898" y="17580"/>
                  </a:cubicBezTo>
                  <a:cubicBezTo>
                    <a:pt x="13272" y="17541"/>
                    <a:pt x="14570" y="17429"/>
                    <a:pt x="15742" y="17258"/>
                  </a:cubicBezTo>
                  <a:cubicBezTo>
                    <a:pt x="19221" y="16751"/>
                    <a:pt x="21600" y="15724"/>
                    <a:pt x="21600" y="14540"/>
                  </a:cubicBezTo>
                  <a:close/>
                  <a:moveTo>
                    <a:pt x="9336" y="15882"/>
                  </a:moveTo>
                  <a:lnTo>
                    <a:pt x="9336" y="11670"/>
                  </a:lnTo>
                  <a:cubicBezTo>
                    <a:pt x="8442" y="11638"/>
                    <a:pt x="7583" y="11577"/>
                    <a:pt x="6773" y="11491"/>
                  </a:cubicBezTo>
                  <a:lnTo>
                    <a:pt x="6773" y="15691"/>
                  </a:lnTo>
                  <a:cubicBezTo>
                    <a:pt x="7583" y="15783"/>
                    <a:pt x="8442" y="15848"/>
                    <a:pt x="9336" y="15882"/>
                  </a:cubicBezTo>
                  <a:close/>
                  <a:moveTo>
                    <a:pt x="9519" y="17575"/>
                  </a:moveTo>
                  <a:cubicBezTo>
                    <a:pt x="8001" y="17524"/>
                    <a:pt x="6581" y="17384"/>
                    <a:pt x="5323" y="17175"/>
                  </a:cubicBezTo>
                  <a:lnTo>
                    <a:pt x="5323" y="20757"/>
                  </a:lnTo>
                  <a:cubicBezTo>
                    <a:pt x="5858" y="21179"/>
                    <a:pt x="8054" y="21600"/>
                    <a:pt x="9519" y="20757"/>
                  </a:cubicBezTo>
                  <a:close/>
                  <a:moveTo>
                    <a:pt x="11898" y="17580"/>
                  </a:moveTo>
                  <a:lnTo>
                    <a:pt x="11898" y="19493"/>
                  </a:lnTo>
                  <a:cubicBezTo>
                    <a:pt x="12631" y="20125"/>
                    <a:pt x="15376" y="20020"/>
                    <a:pt x="15742" y="19387"/>
                  </a:cubicBezTo>
                  <a:lnTo>
                    <a:pt x="15742" y="17258"/>
                  </a:lnTo>
                  <a:cubicBezTo>
                    <a:pt x="14570" y="17429"/>
                    <a:pt x="13272" y="17541"/>
                    <a:pt x="11898" y="17580"/>
                  </a:cubicBezTo>
                  <a:close/>
                  <a:moveTo>
                    <a:pt x="9336" y="15882"/>
                  </a:moveTo>
                  <a:cubicBezTo>
                    <a:pt x="9814" y="15901"/>
                    <a:pt x="10303" y="15910"/>
                    <a:pt x="10800" y="15910"/>
                  </a:cubicBezTo>
                  <a:cubicBezTo>
                    <a:pt x="11171" y="15910"/>
                    <a:pt x="11537" y="15905"/>
                    <a:pt x="11898" y="15895"/>
                  </a:cubicBezTo>
                  <a:lnTo>
                    <a:pt x="11898" y="11681"/>
                  </a:lnTo>
                  <a:cubicBezTo>
                    <a:pt x="11537" y="11691"/>
                    <a:pt x="11171" y="11696"/>
                    <a:pt x="10800" y="11696"/>
                  </a:cubicBezTo>
                  <a:cubicBezTo>
                    <a:pt x="10303" y="11696"/>
                    <a:pt x="9814" y="11687"/>
                    <a:pt x="9336" y="11670"/>
                  </a:cubicBezTo>
                  <a:close/>
                  <a:moveTo>
                    <a:pt x="11898" y="11681"/>
                  </a:moveTo>
                  <a:lnTo>
                    <a:pt x="11898" y="15895"/>
                  </a:lnTo>
                  <a:cubicBezTo>
                    <a:pt x="12789" y="15869"/>
                    <a:pt x="13648" y="15813"/>
                    <a:pt x="14461" y="15730"/>
                  </a:cubicBezTo>
                  <a:lnTo>
                    <a:pt x="14461" y="11528"/>
                  </a:lnTo>
                  <a:cubicBezTo>
                    <a:pt x="13648" y="11605"/>
                    <a:pt x="12789" y="11657"/>
                    <a:pt x="11898" y="11681"/>
                  </a:cubicBezTo>
                  <a:close/>
                  <a:moveTo>
                    <a:pt x="14461" y="11528"/>
                  </a:moveTo>
                  <a:lnTo>
                    <a:pt x="14461" y="15730"/>
                  </a:lnTo>
                  <a:cubicBezTo>
                    <a:pt x="15308" y="15644"/>
                    <a:pt x="16107" y="15528"/>
                    <a:pt x="16841" y="15388"/>
                  </a:cubicBezTo>
                  <a:lnTo>
                    <a:pt x="16841" y="11209"/>
                  </a:lnTo>
                  <a:cubicBezTo>
                    <a:pt x="16107" y="11340"/>
                    <a:pt x="15308" y="11448"/>
                    <a:pt x="14461" y="11528"/>
                  </a:cubicBezTo>
                  <a:close/>
                  <a:moveTo>
                    <a:pt x="16841" y="11209"/>
                  </a:moveTo>
                  <a:lnTo>
                    <a:pt x="16841" y="15388"/>
                  </a:lnTo>
                  <a:cubicBezTo>
                    <a:pt x="17822" y="15200"/>
                    <a:pt x="18688" y="14968"/>
                    <a:pt x="19403" y="14702"/>
                  </a:cubicBezTo>
                  <a:lnTo>
                    <a:pt x="19403" y="10571"/>
                  </a:lnTo>
                  <a:cubicBezTo>
                    <a:pt x="18688" y="10819"/>
                    <a:pt x="17822" y="11035"/>
                    <a:pt x="16841" y="11209"/>
                  </a:cubicBezTo>
                  <a:close/>
                  <a:moveTo>
                    <a:pt x="21600" y="12855"/>
                  </a:moveTo>
                  <a:lnTo>
                    <a:pt x="21600" y="8851"/>
                  </a:lnTo>
                  <a:cubicBezTo>
                    <a:pt x="21600" y="9497"/>
                    <a:pt x="20782" y="10093"/>
                    <a:pt x="19403" y="10571"/>
                  </a:cubicBezTo>
                  <a:lnTo>
                    <a:pt x="19403" y="14702"/>
                  </a:lnTo>
                  <a:cubicBezTo>
                    <a:pt x="20782" y="14189"/>
                    <a:pt x="21600" y="13549"/>
                    <a:pt x="21600" y="12855"/>
                  </a:cubicBezTo>
                  <a:close/>
                  <a:moveTo>
                    <a:pt x="4393" y="15315"/>
                  </a:moveTo>
                  <a:lnTo>
                    <a:pt x="4393" y="11141"/>
                  </a:lnTo>
                  <a:cubicBezTo>
                    <a:pt x="3393" y="10947"/>
                    <a:pt x="2525" y="10708"/>
                    <a:pt x="1830" y="10436"/>
                  </a:cubicBezTo>
                  <a:lnTo>
                    <a:pt x="1808" y="12813"/>
                  </a:lnTo>
                  <a:lnTo>
                    <a:pt x="3295" y="13908"/>
                  </a:lnTo>
                  <a:lnTo>
                    <a:pt x="3295" y="15052"/>
                  </a:lnTo>
                  <a:cubicBezTo>
                    <a:pt x="3640" y="15146"/>
                    <a:pt x="4007" y="15234"/>
                    <a:pt x="4393" y="15315"/>
                  </a:cubicBezTo>
                  <a:close/>
                  <a:moveTo>
                    <a:pt x="1830" y="10436"/>
                  </a:moveTo>
                  <a:cubicBezTo>
                    <a:pt x="675" y="9983"/>
                    <a:pt x="0" y="9438"/>
                    <a:pt x="0" y="8851"/>
                  </a:cubicBezTo>
                  <a:lnTo>
                    <a:pt x="0" y="11482"/>
                  </a:lnTo>
                  <a:lnTo>
                    <a:pt x="1808" y="12813"/>
                  </a:lnTo>
                  <a:close/>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close/>
                  <a:moveTo>
                    <a:pt x="13912" y="738"/>
                  </a:moveTo>
                  <a:lnTo>
                    <a:pt x="13912" y="6217"/>
                  </a:lnTo>
                  <a:moveTo>
                    <a:pt x="7322" y="738"/>
                  </a:moveTo>
                  <a:lnTo>
                    <a:pt x="7322" y="6217"/>
                  </a:lnTo>
                  <a:moveTo>
                    <a:pt x="10800" y="17596"/>
                  </a:moveTo>
                  <a:cubicBezTo>
                    <a:pt x="8801" y="17596"/>
                    <a:pt x="6929" y="17442"/>
                    <a:pt x="5323" y="17175"/>
                  </a:cubicBezTo>
                  <a:moveTo>
                    <a:pt x="8786" y="0"/>
                  </a:moveTo>
                  <a:cubicBezTo>
                    <a:pt x="8786" y="12"/>
                    <a:pt x="8787" y="24"/>
                    <a:pt x="8787" y="36"/>
                  </a:cubicBezTo>
                  <a:moveTo>
                    <a:pt x="12447" y="0"/>
                  </a:moveTo>
                  <a:cubicBezTo>
                    <a:pt x="12447" y="12"/>
                    <a:pt x="12447" y="24"/>
                    <a:pt x="12446" y="3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08" name="Rounded Rectangle 18"/>
            <p:cNvSpPr/>
            <p:nvPr/>
          </p:nvSpPr>
          <p:spPr>
            <a:xfrm>
              <a:off x="1445740" y="197490"/>
              <a:ext cx="54870" cy="125466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586"/>
                  </a:lnTo>
                  <a:cubicBezTo>
                    <a:pt x="0" y="21590"/>
                    <a:pt x="2" y="21595"/>
                    <a:pt x="6" y="21600"/>
                  </a:cubicBezTo>
                  <a:moveTo>
                    <a:pt x="21600" y="0"/>
                  </a:moveTo>
                  <a:lnTo>
                    <a:pt x="21600" y="21586"/>
                  </a:lnTo>
                  <a:cubicBezTo>
                    <a:pt x="21600" y="21590"/>
                    <a:pt x="21598" y="21595"/>
                    <a:pt x="2159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13" name="Group 23"/>
          <p:cNvGrpSpPr/>
          <p:nvPr/>
        </p:nvGrpSpPr>
        <p:grpSpPr>
          <a:xfrm>
            <a:off x="4429788" y="2163115"/>
            <a:ext cx="1363465" cy="1708048"/>
            <a:chOff x="0" y="0"/>
            <a:chExt cx="1363464" cy="1708047"/>
          </a:xfrm>
        </p:grpSpPr>
        <p:sp>
          <p:nvSpPr>
            <p:cNvPr id="310" name="Rounded Rectangle 20"/>
            <p:cNvSpPr/>
            <p:nvPr/>
          </p:nvSpPr>
          <p:spPr>
            <a:xfrm>
              <a:off x="1039745" y="1155865"/>
              <a:ext cx="323720" cy="552183"/>
            </a:xfrm>
            <a:custGeom>
              <a:avLst/>
              <a:gdLst/>
              <a:ahLst/>
              <a:cxnLst>
                <a:cxn ang="0">
                  <a:pos x="wd2" y="hd2"/>
                </a:cxn>
                <a:cxn ang="5400000">
                  <a:pos x="wd2" y="hd2"/>
                </a:cxn>
                <a:cxn ang="10800000">
                  <a:pos x="wd2" y="hd2"/>
                </a:cxn>
                <a:cxn ang="16200000">
                  <a:pos x="wd2" y="hd2"/>
                </a:cxn>
              </a:cxnLst>
              <a:rect l="0" t="0" r="r" b="b"/>
              <a:pathLst>
                <a:path w="21600" h="21243" extrusionOk="0">
                  <a:moveTo>
                    <a:pt x="17573" y="6191"/>
                  </a:moveTo>
                  <a:cubicBezTo>
                    <a:pt x="17573" y="7240"/>
                    <a:pt x="14540" y="8090"/>
                    <a:pt x="10800" y="8090"/>
                  </a:cubicBezTo>
                  <a:cubicBezTo>
                    <a:pt x="7060" y="8090"/>
                    <a:pt x="4027" y="7240"/>
                    <a:pt x="4027" y="6191"/>
                  </a:cubicBezTo>
                  <a:cubicBezTo>
                    <a:pt x="4027" y="5974"/>
                    <a:pt x="4156" y="5767"/>
                    <a:pt x="4393" y="5573"/>
                  </a:cubicBezTo>
                  <a:lnTo>
                    <a:pt x="0" y="8829"/>
                  </a:lnTo>
                  <a:cubicBezTo>
                    <a:pt x="0" y="9417"/>
                    <a:pt x="674" y="9963"/>
                    <a:pt x="1830" y="10417"/>
                  </a:cubicBezTo>
                  <a:cubicBezTo>
                    <a:pt x="2525" y="10690"/>
                    <a:pt x="3393" y="10929"/>
                    <a:pt x="4393" y="11123"/>
                  </a:cubicBezTo>
                  <a:cubicBezTo>
                    <a:pt x="5122" y="11266"/>
                    <a:pt x="5921" y="11384"/>
                    <a:pt x="6773" y="11474"/>
                  </a:cubicBezTo>
                  <a:cubicBezTo>
                    <a:pt x="7583" y="11560"/>
                    <a:pt x="8442" y="11621"/>
                    <a:pt x="9336" y="11653"/>
                  </a:cubicBezTo>
                  <a:cubicBezTo>
                    <a:pt x="9814" y="11670"/>
                    <a:pt x="10303" y="11679"/>
                    <a:pt x="10800" y="11679"/>
                  </a:cubicBezTo>
                  <a:cubicBezTo>
                    <a:pt x="11171" y="11679"/>
                    <a:pt x="11537" y="11674"/>
                    <a:pt x="11898" y="11664"/>
                  </a:cubicBezTo>
                  <a:cubicBezTo>
                    <a:pt x="12789" y="11641"/>
                    <a:pt x="13648" y="11588"/>
                    <a:pt x="14461" y="11511"/>
                  </a:cubicBezTo>
                  <a:cubicBezTo>
                    <a:pt x="15309" y="11430"/>
                    <a:pt x="16107" y="11323"/>
                    <a:pt x="16841" y="11192"/>
                  </a:cubicBezTo>
                  <a:cubicBezTo>
                    <a:pt x="17822" y="11017"/>
                    <a:pt x="18688" y="10801"/>
                    <a:pt x="19403" y="10552"/>
                  </a:cubicBezTo>
                  <a:cubicBezTo>
                    <a:pt x="20782" y="10074"/>
                    <a:pt x="21600" y="9477"/>
                    <a:pt x="21600" y="8829"/>
                  </a:cubicBezTo>
                  <a:lnTo>
                    <a:pt x="17308" y="5663"/>
                  </a:lnTo>
                  <a:cubicBezTo>
                    <a:pt x="17481" y="5830"/>
                    <a:pt x="17573" y="6008"/>
                    <a:pt x="17573" y="6191"/>
                  </a:cubicBezTo>
                  <a:moveTo>
                    <a:pt x="13912" y="4080"/>
                  </a:moveTo>
                  <a:cubicBezTo>
                    <a:pt x="13912" y="4546"/>
                    <a:pt x="12437" y="4924"/>
                    <a:pt x="10617" y="4924"/>
                  </a:cubicBezTo>
                  <a:cubicBezTo>
                    <a:pt x="8797" y="4924"/>
                    <a:pt x="7322" y="4546"/>
                    <a:pt x="7322" y="4080"/>
                  </a:cubicBezTo>
                  <a:lnTo>
                    <a:pt x="7322" y="5135"/>
                  </a:lnTo>
                  <a:cubicBezTo>
                    <a:pt x="7322" y="5601"/>
                    <a:pt x="8797" y="5979"/>
                    <a:pt x="10617" y="5979"/>
                  </a:cubicBezTo>
                  <a:cubicBezTo>
                    <a:pt x="12437" y="5979"/>
                    <a:pt x="13912" y="5601"/>
                    <a:pt x="13912" y="5135"/>
                  </a:cubicBezTo>
                  <a:cubicBezTo>
                    <a:pt x="13912" y="5601"/>
                    <a:pt x="12437" y="5979"/>
                    <a:pt x="10617" y="5979"/>
                  </a:cubicBezTo>
                  <a:cubicBezTo>
                    <a:pt x="8797" y="5979"/>
                    <a:pt x="7322" y="5601"/>
                    <a:pt x="7322" y="5135"/>
                  </a:cubicBezTo>
                  <a:lnTo>
                    <a:pt x="7322" y="6191"/>
                  </a:lnTo>
                  <a:cubicBezTo>
                    <a:pt x="7322" y="6657"/>
                    <a:pt x="8797" y="7035"/>
                    <a:pt x="10617" y="7035"/>
                  </a:cubicBezTo>
                  <a:cubicBezTo>
                    <a:pt x="12437" y="7035"/>
                    <a:pt x="13912" y="6657"/>
                    <a:pt x="13912" y="6191"/>
                  </a:cubicBezTo>
                  <a:cubicBezTo>
                    <a:pt x="13912" y="6657"/>
                    <a:pt x="12437" y="7035"/>
                    <a:pt x="10617" y="7035"/>
                  </a:cubicBezTo>
                  <a:cubicBezTo>
                    <a:pt x="8797" y="7035"/>
                    <a:pt x="7322" y="6657"/>
                    <a:pt x="7322" y="6191"/>
                  </a:cubicBezTo>
                  <a:lnTo>
                    <a:pt x="7322" y="4560"/>
                  </a:lnTo>
                  <a:cubicBezTo>
                    <a:pt x="5965" y="4789"/>
                    <a:pt x="4916" y="5146"/>
                    <a:pt x="4393" y="5573"/>
                  </a:cubicBezTo>
                  <a:cubicBezTo>
                    <a:pt x="4156" y="5767"/>
                    <a:pt x="4027" y="5974"/>
                    <a:pt x="4027" y="6191"/>
                  </a:cubicBezTo>
                  <a:cubicBezTo>
                    <a:pt x="4027" y="7240"/>
                    <a:pt x="7060" y="8090"/>
                    <a:pt x="10800" y="8090"/>
                  </a:cubicBezTo>
                  <a:cubicBezTo>
                    <a:pt x="14540" y="8090"/>
                    <a:pt x="17573" y="7240"/>
                    <a:pt x="17573" y="6191"/>
                  </a:cubicBezTo>
                  <a:cubicBezTo>
                    <a:pt x="17573" y="6008"/>
                    <a:pt x="17481" y="5830"/>
                    <a:pt x="17308" y="5663"/>
                  </a:cubicBezTo>
                  <a:cubicBezTo>
                    <a:pt x="16789" y="5158"/>
                    <a:pt x="15545" y="4740"/>
                    <a:pt x="13912" y="4503"/>
                  </a:cubicBezTo>
                  <a:lnTo>
                    <a:pt x="13912" y="4080"/>
                  </a:lnTo>
                  <a:moveTo>
                    <a:pt x="13912" y="3024"/>
                  </a:moveTo>
                  <a:cubicBezTo>
                    <a:pt x="13912" y="3491"/>
                    <a:pt x="12437" y="3869"/>
                    <a:pt x="10617" y="3869"/>
                  </a:cubicBezTo>
                  <a:cubicBezTo>
                    <a:pt x="8797" y="3869"/>
                    <a:pt x="7322" y="3491"/>
                    <a:pt x="7322" y="3024"/>
                  </a:cubicBezTo>
                  <a:lnTo>
                    <a:pt x="7322" y="4080"/>
                  </a:lnTo>
                  <a:cubicBezTo>
                    <a:pt x="7322" y="4546"/>
                    <a:pt x="8797" y="4924"/>
                    <a:pt x="10617" y="4924"/>
                  </a:cubicBezTo>
                  <a:cubicBezTo>
                    <a:pt x="12437" y="4924"/>
                    <a:pt x="13912" y="4546"/>
                    <a:pt x="13912" y="4080"/>
                  </a:cubicBezTo>
                  <a:lnTo>
                    <a:pt x="13912" y="3024"/>
                  </a:lnTo>
                  <a:moveTo>
                    <a:pt x="10617" y="3869"/>
                  </a:moveTo>
                  <a:cubicBezTo>
                    <a:pt x="12437" y="3869"/>
                    <a:pt x="13912" y="3491"/>
                    <a:pt x="13912" y="3024"/>
                  </a:cubicBezTo>
                  <a:lnTo>
                    <a:pt x="13912" y="1969"/>
                  </a:lnTo>
                  <a:cubicBezTo>
                    <a:pt x="13912" y="2435"/>
                    <a:pt x="12437" y="2813"/>
                    <a:pt x="10617" y="2813"/>
                  </a:cubicBezTo>
                  <a:cubicBezTo>
                    <a:pt x="8797" y="2813"/>
                    <a:pt x="7322" y="2435"/>
                    <a:pt x="7322" y="1969"/>
                  </a:cubicBezTo>
                  <a:lnTo>
                    <a:pt x="7322" y="3024"/>
                  </a:lnTo>
                  <a:cubicBezTo>
                    <a:pt x="7322" y="3491"/>
                    <a:pt x="8797" y="3869"/>
                    <a:pt x="10617" y="3869"/>
                  </a:cubicBezTo>
                  <a:moveTo>
                    <a:pt x="13912" y="702"/>
                  </a:moveTo>
                  <a:cubicBezTo>
                    <a:pt x="13912" y="1169"/>
                    <a:pt x="12437" y="1547"/>
                    <a:pt x="10617" y="1547"/>
                  </a:cubicBezTo>
                  <a:cubicBezTo>
                    <a:pt x="8797" y="1547"/>
                    <a:pt x="7322" y="1169"/>
                    <a:pt x="7322" y="702"/>
                  </a:cubicBezTo>
                  <a:lnTo>
                    <a:pt x="7322" y="1969"/>
                  </a:lnTo>
                  <a:cubicBezTo>
                    <a:pt x="7322" y="2435"/>
                    <a:pt x="8797" y="2813"/>
                    <a:pt x="10617" y="2813"/>
                  </a:cubicBezTo>
                  <a:cubicBezTo>
                    <a:pt x="12437" y="2813"/>
                    <a:pt x="13912" y="2435"/>
                    <a:pt x="13912" y="1969"/>
                  </a:cubicBezTo>
                  <a:lnTo>
                    <a:pt x="13912" y="702"/>
                  </a:lnTo>
                  <a:moveTo>
                    <a:pt x="9519" y="17568"/>
                  </a:moveTo>
                  <a:cubicBezTo>
                    <a:pt x="8001" y="17517"/>
                    <a:pt x="6581" y="17377"/>
                    <a:pt x="5323" y="17167"/>
                  </a:cubicBezTo>
                  <a:lnTo>
                    <a:pt x="5323" y="20756"/>
                  </a:lnTo>
                  <a:cubicBezTo>
                    <a:pt x="5858" y="21178"/>
                    <a:pt x="8054" y="21600"/>
                    <a:pt x="9519" y="20756"/>
                  </a:cubicBezTo>
                  <a:lnTo>
                    <a:pt x="9519" y="17568"/>
                  </a:lnTo>
                  <a:moveTo>
                    <a:pt x="11898" y="17574"/>
                  </a:moveTo>
                  <a:lnTo>
                    <a:pt x="11898" y="19489"/>
                  </a:lnTo>
                  <a:cubicBezTo>
                    <a:pt x="12631" y="20122"/>
                    <a:pt x="15376" y="20017"/>
                    <a:pt x="15742" y="19384"/>
                  </a:cubicBezTo>
                  <a:lnTo>
                    <a:pt x="15742" y="17251"/>
                  </a:lnTo>
                  <a:cubicBezTo>
                    <a:pt x="14570" y="17422"/>
                    <a:pt x="13272" y="17534"/>
                    <a:pt x="11898" y="17574"/>
                  </a:cubicBezTo>
                  <a:moveTo>
                    <a:pt x="21600" y="14529"/>
                  </a:moveTo>
                  <a:lnTo>
                    <a:pt x="21600" y="12840"/>
                  </a:lnTo>
                  <a:cubicBezTo>
                    <a:pt x="21600" y="13535"/>
                    <a:pt x="20782" y="14176"/>
                    <a:pt x="19403" y="14690"/>
                  </a:cubicBezTo>
                  <a:cubicBezTo>
                    <a:pt x="18688" y="14957"/>
                    <a:pt x="17822" y="15189"/>
                    <a:pt x="16841" y="15378"/>
                  </a:cubicBezTo>
                  <a:cubicBezTo>
                    <a:pt x="16107" y="15518"/>
                    <a:pt x="15309" y="15634"/>
                    <a:pt x="14461" y="15720"/>
                  </a:cubicBezTo>
                  <a:cubicBezTo>
                    <a:pt x="13648" y="15803"/>
                    <a:pt x="12789" y="15859"/>
                    <a:pt x="11898" y="15885"/>
                  </a:cubicBezTo>
                  <a:cubicBezTo>
                    <a:pt x="11537" y="15895"/>
                    <a:pt x="11171" y="15901"/>
                    <a:pt x="10800" y="15901"/>
                  </a:cubicBezTo>
                  <a:cubicBezTo>
                    <a:pt x="10303" y="15901"/>
                    <a:pt x="9814" y="15891"/>
                    <a:pt x="9336" y="15873"/>
                  </a:cubicBezTo>
                  <a:cubicBezTo>
                    <a:pt x="8442" y="15838"/>
                    <a:pt x="7583" y="15773"/>
                    <a:pt x="6773" y="15681"/>
                  </a:cubicBezTo>
                  <a:cubicBezTo>
                    <a:pt x="5921" y="15584"/>
                    <a:pt x="5122" y="15457"/>
                    <a:pt x="4393" y="15304"/>
                  </a:cubicBezTo>
                  <a:cubicBezTo>
                    <a:pt x="4269" y="15278"/>
                    <a:pt x="4147" y="15252"/>
                    <a:pt x="4027" y="15224"/>
                  </a:cubicBezTo>
                  <a:lnTo>
                    <a:pt x="4027" y="16913"/>
                  </a:lnTo>
                  <a:cubicBezTo>
                    <a:pt x="4436" y="17006"/>
                    <a:pt x="4869" y="17091"/>
                    <a:pt x="5323" y="17167"/>
                  </a:cubicBezTo>
                  <a:cubicBezTo>
                    <a:pt x="6581" y="17377"/>
                    <a:pt x="8001" y="17517"/>
                    <a:pt x="9519" y="17568"/>
                  </a:cubicBezTo>
                  <a:cubicBezTo>
                    <a:pt x="9939" y="17582"/>
                    <a:pt x="10367" y="17589"/>
                    <a:pt x="10800" y="17589"/>
                  </a:cubicBezTo>
                  <a:cubicBezTo>
                    <a:pt x="11171" y="17589"/>
                    <a:pt x="11537" y="17584"/>
                    <a:pt x="11898" y="17574"/>
                  </a:cubicBezTo>
                  <a:cubicBezTo>
                    <a:pt x="13272" y="17534"/>
                    <a:pt x="14570" y="17422"/>
                    <a:pt x="15742" y="17251"/>
                  </a:cubicBezTo>
                  <a:cubicBezTo>
                    <a:pt x="19221" y="16742"/>
                    <a:pt x="21600" y="15714"/>
                    <a:pt x="21600" y="14529"/>
                  </a:cubicBezTo>
                  <a:moveTo>
                    <a:pt x="19403" y="14690"/>
                  </a:moveTo>
                  <a:cubicBezTo>
                    <a:pt x="20782" y="14176"/>
                    <a:pt x="21600" y="13535"/>
                    <a:pt x="21600" y="12840"/>
                  </a:cubicBezTo>
                  <a:lnTo>
                    <a:pt x="21600" y="8829"/>
                  </a:lnTo>
                  <a:cubicBezTo>
                    <a:pt x="21600" y="9477"/>
                    <a:pt x="20782" y="10074"/>
                    <a:pt x="19403" y="10552"/>
                  </a:cubicBezTo>
                  <a:cubicBezTo>
                    <a:pt x="18688" y="10801"/>
                    <a:pt x="17822" y="11017"/>
                    <a:pt x="16841" y="11192"/>
                  </a:cubicBezTo>
                  <a:cubicBezTo>
                    <a:pt x="16107" y="11323"/>
                    <a:pt x="15309" y="11430"/>
                    <a:pt x="14461" y="11511"/>
                  </a:cubicBezTo>
                  <a:cubicBezTo>
                    <a:pt x="13648" y="11588"/>
                    <a:pt x="12789" y="11641"/>
                    <a:pt x="11898" y="11664"/>
                  </a:cubicBezTo>
                  <a:cubicBezTo>
                    <a:pt x="11537" y="11674"/>
                    <a:pt x="11171" y="11679"/>
                    <a:pt x="10800" y="11679"/>
                  </a:cubicBezTo>
                  <a:cubicBezTo>
                    <a:pt x="10303" y="11679"/>
                    <a:pt x="9814" y="11670"/>
                    <a:pt x="9336" y="11653"/>
                  </a:cubicBezTo>
                  <a:cubicBezTo>
                    <a:pt x="8442" y="11621"/>
                    <a:pt x="7583" y="11560"/>
                    <a:pt x="6773" y="11474"/>
                  </a:cubicBezTo>
                  <a:cubicBezTo>
                    <a:pt x="5921" y="11384"/>
                    <a:pt x="5122" y="11266"/>
                    <a:pt x="4393" y="11123"/>
                  </a:cubicBezTo>
                  <a:cubicBezTo>
                    <a:pt x="3393" y="10929"/>
                    <a:pt x="2525" y="10690"/>
                    <a:pt x="1830" y="10417"/>
                  </a:cubicBezTo>
                  <a:cubicBezTo>
                    <a:pt x="674" y="9963"/>
                    <a:pt x="0" y="9417"/>
                    <a:pt x="0" y="8829"/>
                  </a:cubicBezTo>
                  <a:lnTo>
                    <a:pt x="0" y="10502"/>
                  </a:lnTo>
                  <a:lnTo>
                    <a:pt x="1817" y="11842"/>
                  </a:lnTo>
                  <a:lnTo>
                    <a:pt x="4027" y="13473"/>
                  </a:lnTo>
                  <a:lnTo>
                    <a:pt x="4027" y="15224"/>
                  </a:lnTo>
                  <a:cubicBezTo>
                    <a:pt x="4147" y="15252"/>
                    <a:pt x="4269" y="15278"/>
                    <a:pt x="4393" y="15304"/>
                  </a:cubicBezTo>
                  <a:cubicBezTo>
                    <a:pt x="5122" y="15457"/>
                    <a:pt x="5921" y="15584"/>
                    <a:pt x="6773" y="15681"/>
                  </a:cubicBezTo>
                  <a:cubicBezTo>
                    <a:pt x="7583" y="15773"/>
                    <a:pt x="8442" y="15838"/>
                    <a:pt x="9336" y="15873"/>
                  </a:cubicBezTo>
                  <a:cubicBezTo>
                    <a:pt x="9814" y="15891"/>
                    <a:pt x="10303" y="15901"/>
                    <a:pt x="10800" y="15901"/>
                  </a:cubicBezTo>
                  <a:cubicBezTo>
                    <a:pt x="11171" y="15901"/>
                    <a:pt x="11537" y="15895"/>
                    <a:pt x="11898" y="15885"/>
                  </a:cubicBezTo>
                  <a:cubicBezTo>
                    <a:pt x="12789" y="15859"/>
                    <a:pt x="13648" y="15803"/>
                    <a:pt x="14461" y="15720"/>
                  </a:cubicBezTo>
                  <a:cubicBezTo>
                    <a:pt x="15309" y="15634"/>
                    <a:pt x="16107" y="15518"/>
                    <a:pt x="16841" y="15378"/>
                  </a:cubicBezTo>
                  <a:cubicBezTo>
                    <a:pt x="17822" y="15189"/>
                    <a:pt x="18688" y="14957"/>
                    <a:pt x="19403" y="14690"/>
                  </a:cubicBezTo>
                  <a:moveTo>
                    <a:pt x="10617" y="1547"/>
                  </a:moveTo>
                  <a:cubicBezTo>
                    <a:pt x="12437" y="1547"/>
                    <a:pt x="13912" y="1169"/>
                    <a:pt x="13912" y="702"/>
                  </a:cubicBezTo>
                  <a:cubicBezTo>
                    <a:pt x="13912" y="409"/>
                    <a:pt x="13330" y="151"/>
                    <a:pt x="12446" y="0"/>
                  </a:cubicBezTo>
                  <a:cubicBezTo>
                    <a:pt x="12413" y="566"/>
                    <a:pt x="11607" y="808"/>
                    <a:pt x="10617" y="808"/>
                  </a:cubicBezTo>
                  <a:cubicBezTo>
                    <a:pt x="9627" y="808"/>
                    <a:pt x="8821" y="566"/>
                    <a:pt x="8787" y="0"/>
                  </a:cubicBezTo>
                  <a:cubicBezTo>
                    <a:pt x="7904" y="151"/>
                    <a:pt x="7322" y="409"/>
                    <a:pt x="7322" y="702"/>
                  </a:cubicBezTo>
                  <a:cubicBezTo>
                    <a:pt x="7322" y="1169"/>
                    <a:pt x="8797" y="1547"/>
                    <a:pt x="10617" y="1547"/>
                  </a:cubicBezTo>
                  <a:moveTo>
                    <a:pt x="8787" y="0"/>
                  </a:moveTo>
                  <a:lnTo>
                    <a:pt x="12446" y="0"/>
                  </a:lnTo>
                  <a:cubicBezTo>
                    <a:pt x="12413" y="566"/>
                    <a:pt x="11607" y="808"/>
                    <a:pt x="10617" y="808"/>
                  </a:cubicBezTo>
                  <a:cubicBezTo>
                    <a:pt x="9627" y="808"/>
                    <a:pt x="8821" y="566"/>
                    <a:pt x="8787" y="0"/>
                  </a:cubicBezTo>
                  <a:moveTo>
                    <a:pt x="10800" y="17589"/>
                  </a:moveTo>
                  <a:lnTo>
                    <a:pt x="5323" y="17167"/>
                  </a:lnTo>
                  <a:cubicBezTo>
                    <a:pt x="6929" y="17435"/>
                    <a:pt x="8801" y="17589"/>
                    <a:pt x="10800" y="17589"/>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11" name="Rounded Rectangle 21"/>
            <p:cNvSpPr/>
            <p:nvPr/>
          </p:nvSpPr>
          <p:spPr>
            <a:xfrm>
              <a:off x="1171416" y="197516"/>
              <a:ext cx="54869" cy="958390"/>
            </a:xfrm>
            <a:custGeom>
              <a:avLst/>
              <a:gdLst/>
              <a:ahLst/>
              <a:cxnLst>
                <a:cxn ang="0">
                  <a:pos x="wd2" y="hd2"/>
                </a:cxn>
                <a:cxn ang="5400000">
                  <a:pos x="wd2" y="hd2"/>
                </a:cxn>
                <a:cxn ang="10800000">
                  <a:pos x="wd2" y="hd2"/>
                </a:cxn>
                <a:cxn ang="16200000">
                  <a:pos x="wd2" y="hd2"/>
                </a:cxn>
              </a:cxnLst>
              <a:rect l="0" t="0" r="r" b="b"/>
              <a:pathLst>
                <a:path w="21600" h="21600" extrusionOk="0">
                  <a:moveTo>
                    <a:pt x="0" y="21581"/>
                  </a:moveTo>
                  <a:lnTo>
                    <a:pt x="0" y="0"/>
                  </a:lnTo>
                  <a:lnTo>
                    <a:pt x="21600" y="0"/>
                  </a:lnTo>
                  <a:lnTo>
                    <a:pt x="21600" y="21581"/>
                  </a:lnTo>
                  <a:cubicBezTo>
                    <a:pt x="21600" y="21588"/>
                    <a:pt x="21598" y="21594"/>
                    <a:pt x="21594" y="21600"/>
                  </a:cubicBezTo>
                  <a:lnTo>
                    <a:pt x="6" y="21600"/>
                  </a:lnTo>
                  <a:cubicBezTo>
                    <a:pt x="2" y="21594"/>
                    <a:pt x="0" y="21588"/>
                    <a:pt x="0" y="21581"/>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12" name="Rounded Rectangle 22"/>
            <p:cNvSpPr/>
            <p:nvPr/>
          </p:nvSpPr>
          <p:spPr>
            <a:xfrm>
              <a:off x="-1" y="0"/>
              <a:ext cx="1226286" cy="1975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4946" y="0"/>
                    <a:pt x="13391" y="0"/>
                    <a:pt x="18124" y="0"/>
                  </a:cubicBezTo>
                  <a:cubicBezTo>
                    <a:pt x="20045" y="0"/>
                    <a:pt x="21600" y="9671"/>
                    <a:pt x="21600" y="21600"/>
                  </a:cubicBezTo>
                  <a:lnTo>
                    <a:pt x="20634" y="21600"/>
                  </a:lnTo>
                  <a:cubicBezTo>
                    <a:pt x="20634" y="12985"/>
                    <a:pt x="19509" y="6000"/>
                    <a:pt x="18121" y="6000"/>
                  </a:cubicBezTo>
                  <a:lnTo>
                    <a:pt x="0" y="6000"/>
                  </a:lnTo>
                  <a:lnTo>
                    <a:pt x="0" y="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17" name="Group 27"/>
          <p:cNvGrpSpPr/>
          <p:nvPr/>
        </p:nvGrpSpPr>
        <p:grpSpPr>
          <a:xfrm>
            <a:off x="4429787" y="2163113"/>
            <a:ext cx="1363467" cy="1708034"/>
            <a:chOff x="-1" y="-1"/>
            <a:chExt cx="1363466" cy="1708032"/>
          </a:xfrm>
        </p:grpSpPr>
        <p:sp>
          <p:nvSpPr>
            <p:cNvPr id="314" name="Rounded Rectangle 24"/>
            <p:cNvSpPr/>
            <p:nvPr/>
          </p:nvSpPr>
          <p:spPr>
            <a:xfrm>
              <a:off x="1039744" y="1154923"/>
              <a:ext cx="323721" cy="553109"/>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59" y="8113"/>
                    <a:pt x="4027" y="7264"/>
                    <a:pt x="4027" y="6217"/>
                  </a:cubicBezTo>
                  <a:cubicBezTo>
                    <a:pt x="4027" y="6001"/>
                    <a:pt x="4156" y="5793"/>
                    <a:pt x="4393" y="5600"/>
                  </a:cubicBezTo>
                  <a:lnTo>
                    <a:pt x="0" y="8851"/>
                  </a:lnTo>
                  <a:cubicBezTo>
                    <a:pt x="0" y="9438"/>
                    <a:pt x="675" y="9983"/>
                    <a:pt x="1830" y="10436"/>
                  </a:cubicBezTo>
                  <a:cubicBezTo>
                    <a:pt x="2525" y="10708"/>
                    <a:pt x="3393" y="10947"/>
                    <a:pt x="4393" y="11141"/>
                  </a:cubicBezTo>
                  <a:cubicBezTo>
                    <a:pt x="5122" y="11283"/>
                    <a:pt x="5920"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8"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close/>
                  <a:moveTo>
                    <a:pt x="13912" y="5163"/>
                  </a:moveTo>
                  <a:lnTo>
                    <a:pt x="13912" y="6217"/>
                  </a:lnTo>
                  <a:cubicBezTo>
                    <a:pt x="13912" y="6682"/>
                    <a:pt x="12437" y="7060"/>
                    <a:pt x="10617" y="7060"/>
                  </a:cubicBezTo>
                  <a:cubicBezTo>
                    <a:pt x="8797" y="7060"/>
                    <a:pt x="7322" y="6682"/>
                    <a:pt x="7322" y="6217"/>
                  </a:cubicBezTo>
                  <a:lnTo>
                    <a:pt x="7322" y="5163"/>
                  </a:lnTo>
                  <a:cubicBezTo>
                    <a:pt x="7322" y="5628"/>
                    <a:pt x="8797" y="6006"/>
                    <a:pt x="10617" y="6006"/>
                  </a:cubicBezTo>
                  <a:cubicBezTo>
                    <a:pt x="12437" y="6006"/>
                    <a:pt x="13912" y="5628"/>
                    <a:pt x="13912" y="5163"/>
                  </a:cubicBezTo>
                  <a:close/>
                  <a:moveTo>
                    <a:pt x="13912" y="6217"/>
                  </a:move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59" y="8113"/>
                    <a:pt x="10800" y="8113"/>
                  </a:cubicBezTo>
                  <a:cubicBezTo>
                    <a:pt x="14541" y="8113"/>
                    <a:pt x="17573" y="7264"/>
                    <a:pt x="17573" y="6217"/>
                  </a:cubicBezTo>
                  <a:cubicBezTo>
                    <a:pt x="17573" y="6034"/>
                    <a:pt x="17481" y="5857"/>
                    <a:pt x="17308" y="5690"/>
                  </a:cubicBezTo>
                  <a:cubicBezTo>
                    <a:pt x="16789" y="5186"/>
                    <a:pt x="15545" y="4769"/>
                    <a:pt x="13912" y="4532"/>
                  </a:cubicBezTo>
                  <a:lnTo>
                    <a:pt x="13912" y="5163"/>
                  </a:lnTo>
                  <a:close/>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close/>
                  <a:moveTo>
                    <a:pt x="10617" y="6006"/>
                  </a:moveTo>
                  <a:cubicBezTo>
                    <a:pt x="12437" y="6006"/>
                    <a:pt x="13912" y="5628"/>
                    <a:pt x="13912" y="5163"/>
                  </a:cubicBezTo>
                  <a:lnTo>
                    <a:pt x="13912" y="4109"/>
                  </a:lnTo>
                  <a:cubicBezTo>
                    <a:pt x="13912" y="4575"/>
                    <a:pt x="12437" y="4952"/>
                    <a:pt x="10617" y="4952"/>
                  </a:cubicBezTo>
                  <a:cubicBezTo>
                    <a:pt x="8797" y="4952"/>
                    <a:pt x="7322" y="4575"/>
                    <a:pt x="7322" y="4109"/>
                  </a:cubicBezTo>
                  <a:lnTo>
                    <a:pt x="7322" y="5163"/>
                  </a:lnTo>
                  <a:cubicBezTo>
                    <a:pt x="7322" y="5628"/>
                    <a:pt x="8797" y="6006"/>
                    <a:pt x="10617" y="6006"/>
                  </a:cubicBezTo>
                  <a:close/>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close/>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close/>
                  <a:moveTo>
                    <a:pt x="9519" y="17575"/>
                  </a:moveTo>
                  <a:cubicBezTo>
                    <a:pt x="8002" y="17524"/>
                    <a:pt x="6581" y="17384"/>
                    <a:pt x="5323" y="17175"/>
                  </a:cubicBezTo>
                  <a:lnTo>
                    <a:pt x="5323" y="20757"/>
                  </a:lnTo>
                  <a:cubicBezTo>
                    <a:pt x="5858" y="21179"/>
                    <a:pt x="8054" y="21600"/>
                    <a:pt x="9519" y="20757"/>
                  </a:cubicBezTo>
                  <a:close/>
                  <a:moveTo>
                    <a:pt x="11898" y="17580"/>
                  </a:moveTo>
                  <a:lnTo>
                    <a:pt x="11898" y="19493"/>
                  </a:lnTo>
                  <a:cubicBezTo>
                    <a:pt x="12630" y="20125"/>
                    <a:pt x="15376" y="20020"/>
                    <a:pt x="15742" y="19387"/>
                  </a:cubicBezTo>
                  <a:lnTo>
                    <a:pt x="15742" y="17258"/>
                  </a:lnTo>
                  <a:cubicBezTo>
                    <a:pt x="14570" y="17429"/>
                    <a:pt x="13272" y="17541"/>
                    <a:pt x="11898" y="17580"/>
                  </a:cubicBezTo>
                  <a:close/>
                  <a:moveTo>
                    <a:pt x="21600" y="14540"/>
                  </a:moveTo>
                  <a:lnTo>
                    <a:pt x="21600" y="12855"/>
                  </a:lnTo>
                  <a:cubicBezTo>
                    <a:pt x="21600" y="13549"/>
                    <a:pt x="20782" y="14189"/>
                    <a:pt x="19403" y="14702"/>
                  </a:cubicBezTo>
                  <a:cubicBezTo>
                    <a:pt x="18688" y="14968"/>
                    <a:pt x="17822" y="15200"/>
                    <a:pt x="16841" y="15388"/>
                  </a:cubicBezTo>
                  <a:cubicBezTo>
                    <a:pt x="16107" y="15528"/>
                    <a:pt x="15308"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0" y="15594"/>
                    <a:pt x="5122" y="15467"/>
                    <a:pt x="4393" y="15315"/>
                  </a:cubicBezTo>
                  <a:cubicBezTo>
                    <a:pt x="4269" y="15289"/>
                    <a:pt x="4147" y="15262"/>
                    <a:pt x="4027" y="15235"/>
                  </a:cubicBezTo>
                  <a:lnTo>
                    <a:pt x="4027" y="16921"/>
                  </a:lnTo>
                  <a:cubicBezTo>
                    <a:pt x="4436" y="17014"/>
                    <a:pt x="4869" y="17099"/>
                    <a:pt x="5323" y="17175"/>
                  </a:cubicBezTo>
                  <a:cubicBezTo>
                    <a:pt x="6581" y="17384"/>
                    <a:pt x="8002" y="17524"/>
                    <a:pt x="9519" y="17575"/>
                  </a:cubicBezTo>
                  <a:cubicBezTo>
                    <a:pt x="9939" y="17589"/>
                    <a:pt x="10366" y="17596"/>
                    <a:pt x="10800" y="17596"/>
                  </a:cubicBezTo>
                  <a:cubicBezTo>
                    <a:pt x="11171" y="17596"/>
                    <a:pt x="11537" y="17591"/>
                    <a:pt x="11898" y="17580"/>
                  </a:cubicBezTo>
                  <a:cubicBezTo>
                    <a:pt x="13272" y="17541"/>
                    <a:pt x="14570" y="17429"/>
                    <a:pt x="15742" y="17258"/>
                  </a:cubicBezTo>
                  <a:cubicBezTo>
                    <a:pt x="19221" y="16751"/>
                    <a:pt x="21600" y="15724"/>
                    <a:pt x="21600" y="14540"/>
                  </a:cubicBezTo>
                  <a:close/>
                  <a:moveTo>
                    <a:pt x="9336" y="15882"/>
                  </a:moveTo>
                  <a:cubicBezTo>
                    <a:pt x="9814" y="15901"/>
                    <a:pt x="10303" y="15910"/>
                    <a:pt x="10800" y="15910"/>
                  </a:cubicBezTo>
                  <a:cubicBezTo>
                    <a:pt x="11171" y="15910"/>
                    <a:pt x="11537" y="15905"/>
                    <a:pt x="11898" y="15895"/>
                  </a:cubicBezTo>
                  <a:lnTo>
                    <a:pt x="11898" y="11681"/>
                  </a:lnTo>
                  <a:cubicBezTo>
                    <a:pt x="11537" y="11691"/>
                    <a:pt x="11171" y="11696"/>
                    <a:pt x="10800" y="11696"/>
                  </a:cubicBezTo>
                  <a:cubicBezTo>
                    <a:pt x="10303" y="11696"/>
                    <a:pt x="9814" y="11687"/>
                    <a:pt x="9336" y="11670"/>
                  </a:cubicBezTo>
                  <a:close/>
                  <a:moveTo>
                    <a:pt x="9336" y="15882"/>
                  </a:moveTo>
                  <a:lnTo>
                    <a:pt x="9336" y="11670"/>
                  </a:lnTo>
                  <a:cubicBezTo>
                    <a:pt x="8442" y="11638"/>
                    <a:pt x="7583" y="11577"/>
                    <a:pt x="6773" y="11491"/>
                  </a:cubicBezTo>
                  <a:lnTo>
                    <a:pt x="6773" y="15691"/>
                  </a:lnTo>
                  <a:cubicBezTo>
                    <a:pt x="7583" y="15783"/>
                    <a:pt x="8442" y="15848"/>
                    <a:pt x="9336" y="15882"/>
                  </a:cubicBezTo>
                  <a:close/>
                  <a:moveTo>
                    <a:pt x="6773" y="15691"/>
                  </a:moveTo>
                  <a:lnTo>
                    <a:pt x="6773" y="11491"/>
                  </a:lnTo>
                  <a:cubicBezTo>
                    <a:pt x="5920" y="11401"/>
                    <a:pt x="5122" y="11283"/>
                    <a:pt x="4393" y="11141"/>
                  </a:cubicBezTo>
                  <a:lnTo>
                    <a:pt x="4393" y="15315"/>
                  </a:lnTo>
                  <a:cubicBezTo>
                    <a:pt x="5122" y="15467"/>
                    <a:pt x="5920" y="15594"/>
                    <a:pt x="6773" y="15691"/>
                  </a:cubicBezTo>
                  <a:close/>
                  <a:moveTo>
                    <a:pt x="4393" y="15315"/>
                  </a:moveTo>
                  <a:lnTo>
                    <a:pt x="4393" y="11141"/>
                  </a:lnTo>
                  <a:cubicBezTo>
                    <a:pt x="3393" y="10947"/>
                    <a:pt x="2525" y="10708"/>
                    <a:pt x="1830" y="10436"/>
                  </a:cubicBezTo>
                  <a:lnTo>
                    <a:pt x="1817" y="11859"/>
                  </a:lnTo>
                  <a:lnTo>
                    <a:pt x="4027" y="13487"/>
                  </a:lnTo>
                  <a:lnTo>
                    <a:pt x="4027" y="15235"/>
                  </a:lnTo>
                  <a:cubicBezTo>
                    <a:pt x="4147" y="15262"/>
                    <a:pt x="4269" y="15289"/>
                    <a:pt x="4393" y="15315"/>
                  </a:cubicBezTo>
                  <a:close/>
                  <a:moveTo>
                    <a:pt x="1830" y="10436"/>
                  </a:moveTo>
                  <a:cubicBezTo>
                    <a:pt x="675" y="9983"/>
                    <a:pt x="0" y="9438"/>
                    <a:pt x="0" y="8851"/>
                  </a:cubicBezTo>
                  <a:lnTo>
                    <a:pt x="0" y="10521"/>
                  </a:lnTo>
                  <a:lnTo>
                    <a:pt x="1817" y="11859"/>
                  </a:lnTo>
                  <a:close/>
                  <a:moveTo>
                    <a:pt x="11898" y="11681"/>
                  </a:moveTo>
                  <a:lnTo>
                    <a:pt x="11898" y="15895"/>
                  </a:lnTo>
                  <a:cubicBezTo>
                    <a:pt x="12789" y="15869"/>
                    <a:pt x="13648" y="15813"/>
                    <a:pt x="14461" y="15730"/>
                  </a:cubicBezTo>
                  <a:lnTo>
                    <a:pt x="14461" y="11528"/>
                  </a:lnTo>
                  <a:cubicBezTo>
                    <a:pt x="13648" y="11605"/>
                    <a:pt x="12789" y="11657"/>
                    <a:pt x="11898" y="11681"/>
                  </a:cubicBezTo>
                  <a:close/>
                  <a:moveTo>
                    <a:pt x="14461" y="11528"/>
                  </a:moveTo>
                  <a:lnTo>
                    <a:pt x="14461" y="15730"/>
                  </a:lnTo>
                  <a:cubicBezTo>
                    <a:pt x="15308" y="15644"/>
                    <a:pt x="16107" y="15528"/>
                    <a:pt x="16841" y="15388"/>
                  </a:cubicBezTo>
                  <a:lnTo>
                    <a:pt x="16841" y="11209"/>
                  </a:lnTo>
                  <a:cubicBezTo>
                    <a:pt x="16107" y="11340"/>
                    <a:pt x="15308" y="11448"/>
                    <a:pt x="14461" y="11528"/>
                  </a:cubicBezTo>
                  <a:close/>
                  <a:moveTo>
                    <a:pt x="16841" y="11209"/>
                  </a:moveTo>
                  <a:lnTo>
                    <a:pt x="16841" y="15388"/>
                  </a:lnTo>
                  <a:cubicBezTo>
                    <a:pt x="17822" y="15200"/>
                    <a:pt x="18688" y="14968"/>
                    <a:pt x="19403" y="14702"/>
                  </a:cubicBezTo>
                  <a:lnTo>
                    <a:pt x="19403" y="10571"/>
                  </a:lnTo>
                  <a:cubicBezTo>
                    <a:pt x="18688" y="10819"/>
                    <a:pt x="17822" y="11035"/>
                    <a:pt x="16841" y="11209"/>
                  </a:cubicBezTo>
                  <a:close/>
                  <a:moveTo>
                    <a:pt x="21600" y="12855"/>
                  </a:moveTo>
                  <a:lnTo>
                    <a:pt x="21600" y="8851"/>
                  </a:lnTo>
                  <a:cubicBezTo>
                    <a:pt x="21600" y="9497"/>
                    <a:pt x="20782" y="10093"/>
                    <a:pt x="19403" y="10571"/>
                  </a:cubicBezTo>
                  <a:lnTo>
                    <a:pt x="19403" y="14702"/>
                  </a:lnTo>
                  <a:cubicBezTo>
                    <a:pt x="20782" y="14189"/>
                    <a:pt x="21600" y="13549"/>
                    <a:pt x="21600" y="12855"/>
                  </a:cubicBezTo>
                  <a:close/>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close/>
                  <a:moveTo>
                    <a:pt x="13912" y="738"/>
                  </a:moveTo>
                  <a:lnTo>
                    <a:pt x="13912" y="6217"/>
                  </a:lnTo>
                  <a:moveTo>
                    <a:pt x="7322" y="738"/>
                  </a:moveTo>
                  <a:lnTo>
                    <a:pt x="7322" y="6217"/>
                  </a:lnTo>
                  <a:moveTo>
                    <a:pt x="10800" y="17596"/>
                  </a:moveTo>
                  <a:cubicBezTo>
                    <a:pt x="8801" y="17596"/>
                    <a:pt x="6929" y="17442"/>
                    <a:pt x="5323" y="17175"/>
                  </a:cubicBezTo>
                  <a:moveTo>
                    <a:pt x="8786" y="0"/>
                  </a:moveTo>
                  <a:cubicBezTo>
                    <a:pt x="8786" y="12"/>
                    <a:pt x="8787" y="24"/>
                    <a:pt x="8787" y="36"/>
                  </a:cubicBezTo>
                  <a:moveTo>
                    <a:pt x="12447" y="0"/>
                  </a:moveTo>
                  <a:cubicBezTo>
                    <a:pt x="12447" y="12"/>
                    <a:pt x="12447" y="24"/>
                    <a:pt x="12446" y="3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15" name="Rounded Rectangle 25"/>
            <p:cNvSpPr/>
            <p:nvPr/>
          </p:nvSpPr>
          <p:spPr>
            <a:xfrm>
              <a:off x="1171415" y="197489"/>
              <a:ext cx="54869" cy="95838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581"/>
                  </a:lnTo>
                  <a:cubicBezTo>
                    <a:pt x="0" y="21588"/>
                    <a:pt x="2" y="21594"/>
                    <a:pt x="6" y="21600"/>
                  </a:cubicBezTo>
                  <a:moveTo>
                    <a:pt x="21600" y="0"/>
                  </a:moveTo>
                  <a:lnTo>
                    <a:pt x="21600" y="21581"/>
                  </a:lnTo>
                  <a:cubicBezTo>
                    <a:pt x="21600" y="21588"/>
                    <a:pt x="21598" y="21594"/>
                    <a:pt x="2159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16" name="Rounded Rectangle 26"/>
            <p:cNvSpPr/>
            <p:nvPr/>
          </p:nvSpPr>
          <p:spPr>
            <a:xfrm>
              <a:off x="-2" y="-2"/>
              <a:ext cx="1226287" cy="19752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1"/>
                    <a:pt x="20045" y="0"/>
                    <a:pt x="18124" y="0"/>
                  </a:cubicBezTo>
                  <a:lnTo>
                    <a:pt x="0" y="0"/>
                  </a:lnTo>
                  <a:lnTo>
                    <a:pt x="0" y="6000"/>
                  </a:lnTo>
                  <a:lnTo>
                    <a:pt x="18121" y="6000"/>
                  </a:lnTo>
                  <a:cubicBezTo>
                    <a:pt x="19509" y="6000"/>
                    <a:pt x="20634" y="12984"/>
                    <a:pt x="2063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21" name="Group 31"/>
          <p:cNvGrpSpPr/>
          <p:nvPr/>
        </p:nvGrpSpPr>
        <p:grpSpPr>
          <a:xfrm>
            <a:off x="4429787" y="2591079"/>
            <a:ext cx="1100093" cy="1400830"/>
            <a:chOff x="0" y="0"/>
            <a:chExt cx="1100092" cy="1400829"/>
          </a:xfrm>
        </p:grpSpPr>
        <p:sp>
          <p:nvSpPr>
            <p:cNvPr id="318" name="Rounded Rectangle 28"/>
            <p:cNvSpPr/>
            <p:nvPr/>
          </p:nvSpPr>
          <p:spPr>
            <a:xfrm>
              <a:off x="776371" y="848648"/>
              <a:ext cx="323721" cy="552182"/>
            </a:xfrm>
            <a:custGeom>
              <a:avLst/>
              <a:gdLst/>
              <a:ahLst/>
              <a:cxnLst>
                <a:cxn ang="0">
                  <a:pos x="wd2" y="hd2"/>
                </a:cxn>
                <a:cxn ang="5400000">
                  <a:pos x="wd2" y="hd2"/>
                </a:cxn>
                <a:cxn ang="10800000">
                  <a:pos x="wd2" y="hd2"/>
                </a:cxn>
                <a:cxn ang="16200000">
                  <a:pos x="wd2" y="hd2"/>
                </a:cxn>
              </a:cxnLst>
              <a:rect l="0" t="0" r="r" b="b"/>
              <a:pathLst>
                <a:path w="21600" h="21243" extrusionOk="0">
                  <a:moveTo>
                    <a:pt x="17573" y="6191"/>
                  </a:moveTo>
                  <a:cubicBezTo>
                    <a:pt x="17573" y="7240"/>
                    <a:pt x="14540" y="8090"/>
                    <a:pt x="10800" y="8090"/>
                  </a:cubicBezTo>
                  <a:cubicBezTo>
                    <a:pt x="7060" y="8090"/>
                    <a:pt x="4027" y="7240"/>
                    <a:pt x="4027" y="6191"/>
                  </a:cubicBezTo>
                  <a:cubicBezTo>
                    <a:pt x="4027" y="5974"/>
                    <a:pt x="4156" y="5767"/>
                    <a:pt x="4393" y="5573"/>
                  </a:cubicBezTo>
                  <a:lnTo>
                    <a:pt x="0" y="8829"/>
                  </a:lnTo>
                  <a:cubicBezTo>
                    <a:pt x="0" y="9417"/>
                    <a:pt x="674" y="9963"/>
                    <a:pt x="1830" y="10417"/>
                  </a:cubicBezTo>
                  <a:cubicBezTo>
                    <a:pt x="2525" y="10690"/>
                    <a:pt x="3393" y="10929"/>
                    <a:pt x="4393" y="11123"/>
                  </a:cubicBezTo>
                  <a:cubicBezTo>
                    <a:pt x="5122" y="11265"/>
                    <a:pt x="5921" y="11384"/>
                    <a:pt x="6773" y="11474"/>
                  </a:cubicBezTo>
                  <a:cubicBezTo>
                    <a:pt x="7583" y="11560"/>
                    <a:pt x="8442" y="11621"/>
                    <a:pt x="9336" y="11653"/>
                  </a:cubicBezTo>
                  <a:cubicBezTo>
                    <a:pt x="9814" y="11670"/>
                    <a:pt x="10303" y="11679"/>
                    <a:pt x="10800" y="11679"/>
                  </a:cubicBezTo>
                  <a:cubicBezTo>
                    <a:pt x="11171" y="11679"/>
                    <a:pt x="11537" y="11674"/>
                    <a:pt x="11898" y="11664"/>
                  </a:cubicBezTo>
                  <a:cubicBezTo>
                    <a:pt x="12789" y="11641"/>
                    <a:pt x="13648" y="11588"/>
                    <a:pt x="14461" y="11511"/>
                  </a:cubicBezTo>
                  <a:cubicBezTo>
                    <a:pt x="15309" y="11430"/>
                    <a:pt x="16107" y="11323"/>
                    <a:pt x="16841" y="11192"/>
                  </a:cubicBezTo>
                  <a:cubicBezTo>
                    <a:pt x="17822" y="11017"/>
                    <a:pt x="18688" y="10800"/>
                    <a:pt x="19403" y="10552"/>
                  </a:cubicBezTo>
                  <a:cubicBezTo>
                    <a:pt x="20782" y="10074"/>
                    <a:pt x="21600" y="9477"/>
                    <a:pt x="21600" y="8829"/>
                  </a:cubicBezTo>
                  <a:lnTo>
                    <a:pt x="17308" y="5663"/>
                  </a:lnTo>
                  <a:cubicBezTo>
                    <a:pt x="17481" y="5830"/>
                    <a:pt x="17573" y="6008"/>
                    <a:pt x="17573" y="6191"/>
                  </a:cubicBezTo>
                  <a:moveTo>
                    <a:pt x="13912" y="4080"/>
                  </a:moveTo>
                  <a:cubicBezTo>
                    <a:pt x="13912" y="4546"/>
                    <a:pt x="12437" y="4924"/>
                    <a:pt x="10617" y="4924"/>
                  </a:cubicBezTo>
                  <a:cubicBezTo>
                    <a:pt x="8797" y="4924"/>
                    <a:pt x="7322" y="4546"/>
                    <a:pt x="7322" y="4080"/>
                  </a:cubicBezTo>
                  <a:lnTo>
                    <a:pt x="7322" y="5135"/>
                  </a:lnTo>
                  <a:cubicBezTo>
                    <a:pt x="7322" y="5601"/>
                    <a:pt x="8797" y="5979"/>
                    <a:pt x="10617" y="5979"/>
                  </a:cubicBezTo>
                  <a:cubicBezTo>
                    <a:pt x="12437" y="5979"/>
                    <a:pt x="13912" y="5601"/>
                    <a:pt x="13912" y="5135"/>
                  </a:cubicBezTo>
                  <a:cubicBezTo>
                    <a:pt x="13912" y="5601"/>
                    <a:pt x="12437" y="5979"/>
                    <a:pt x="10617" y="5979"/>
                  </a:cubicBezTo>
                  <a:cubicBezTo>
                    <a:pt x="8797" y="5979"/>
                    <a:pt x="7322" y="5601"/>
                    <a:pt x="7322" y="5135"/>
                  </a:cubicBezTo>
                  <a:lnTo>
                    <a:pt x="7322" y="6191"/>
                  </a:lnTo>
                  <a:cubicBezTo>
                    <a:pt x="7322" y="6657"/>
                    <a:pt x="8797" y="7035"/>
                    <a:pt x="10617" y="7035"/>
                  </a:cubicBezTo>
                  <a:cubicBezTo>
                    <a:pt x="12437" y="7035"/>
                    <a:pt x="13912" y="6657"/>
                    <a:pt x="13912" y="6191"/>
                  </a:cubicBezTo>
                  <a:cubicBezTo>
                    <a:pt x="13912" y="6657"/>
                    <a:pt x="12437" y="7035"/>
                    <a:pt x="10617" y="7035"/>
                  </a:cubicBezTo>
                  <a:cubicBezTo>
                    <a:pt x="8797" y="7035"/>
                    <a:pt x="7322" y="6657"/>
                    <a:pt x="7322" y="6191"/>
                  </a:cubicBezTo>
                  <a:lnTo>
                    <a:pt x="7322" y="4560"/>
                  </a:lnTo>
                  <a:cubicBezTo>
                    <a:pt x="5965" y="4788"/>
                    <a:pt x="4916" y="5146"/>
                    <a:pt x="4393" y="5573"/>
                  </a:cubicBezTo>
                  <a:cubicBezTo>
                    <a:pt x="4156" y="5767"/>
                    <a:pt x="4027" y="5974"/>
                    <a:pt x="4027" y="6191"/>
                  </a:cubicBezTo>
                  <a:cubicBezTo>
                    <a:pt x="4027" y="7240"/>
                    <a:pt x="7060" y="8090"/>
                    <a:pt x="10800" y="8090"/>
                  </a:cubicBezTo>
                  <a:cubicBezTo>
                    <a:pt x="14540" y="8090"/>
                    <a:pt x="17573" y="7240"/>
                    <a:pt x="17573" y="6191"/>
                  </a:cubicBezTo>
                  <a:cubicBezTo>
                    <a:pt x="17573" y="6008"/>
                    <a:pt x="17481" y="5830"/>
                    <a:pt x="17308" y="5663"/>
                  </a:cubicBezTo>
                  <a:cubicBezTo>
                    <a:pt x="16789" y="5158"/>
                    <a:pt x="15545" y="4740"/>
                    <a:pt x="13912" y="4503"/>
                  </a:cubicBezTo>
                  <a:lnTo>
                    <a:pt x="13912" y="4080"/>
                  </a:lnTo>
                  <a:moveTo>
                    <a:pt x="13912" y="3024"/>
                  </a:moveTo>
                  <a:cubicBezTo>
                    <a:pt x="13912" y="3491"/>
                    <a:pt x="12437" y="3869"/>
                    <a:pt x="10617" y="3869"/>
                  </a:cubicBezTo>
                  <a:cubicBezTo>
                    <a:pt x="8797" y="3869"/>
                    <a:pt x="7322" y="3491"/>
                    <a:pt x="7322" y="3024"/>
                  </a:cubicBezTo>
                  <a:lnTo>
                    <a:pt x="7322" y="4080"/>
                  </a:lnTo>
                  <a:cubicBezTo>
                    <a:pt x="7322" y="4546"/>
                    <a:pt x="8797" y="4924"/>
                    <a:pt x="10617" y="4924"/>
                  </a:cubicBezTo>
                  <a:cubicBezTo>
                    <a:pt x="12437" y="4924"/>
                    <a:pt x="13912" y="4546"/>
                    <a:pt x="13912" y="4080"/>
                  </a:cubicBezTo>
                  <a:lnTo>
                    <a:pt x="13912" y="3024"/>
                  </a:lnTo>
                  <a:moveTo>
                    <a:pt x="10617" y="3869"/>
                  </a:moveTo>
                  <a:cubicBezTo>
                    <a:pt x="12437" y="3869"/>
                    <a:pt x="13912" y="3491"/>
                    <a:pt x="13912" y="3024"/>
                  </a:cubicBezTo>
                  <a:lnTo>
                    <a:pt x="13912" y="1969"/>
                  </a:lnTo>
                  <a:cubicBezTo>
                    <a:pt x="13912" y="2435"/>
                    <a:pt x="12437" y="2813"/>
                    <a:pt x="10617" y="2813"/>
                  </a:cubicBezTo>
                  <a:cubicBezTo>
                    <a:pt x="8797" y="2813"/>
                    <a:pt x="7322" y="2435"/>
                    <a:pt x="7322" y="1969"/>
                  </a:cubicBezTo>
                  <a:lnTo>
                    <a:pt x="7322" y="3024"/>
                  </a:lnTo>
                  <a:cubicBezTo>
                    <a:pt x="7322" y="3491"/>
                    <a:pt x="8797" y="3869"/>
                    <a:pt x="10617" y="3869"/>
                  </a:cubicBezTo>
                  <a:moveTo>
                    <a:pt x="13912" y="702"/>
                  </a:moveTo>
                  <a:cubicBezTo>
                    <a:pt x="13912" y="1169"/>
                    <a:pt x="12437" y="1547"/>
                    <a:pt x="10617" y="1547"/>
                  </a:cubicBezTo>
                  <a:cubicBezTo>
                    <a:pt x="8797" y="1547"/>
                    <a:pt x="7322" y="1169"/>
                    <a:pt x="7322" y="702"/>
                  </a:cubicBezTo>
                  <a:lnTo>
                    <a:pt x="7322" y="1969"/>
                  </a:lnTo>
                  <a:cubicBezTo>
                    <a:pt x="7322" y="2435"/>
                    <a:pt x="8797" y="2813"/>
                    <a:pt x="10617" y="2813"/>
                  </a:cubicBezTo>
                  <a:cubicBezTo>
                    <a:pt x="12437" y="2813"/>
                    <a:pt x="13912" y="2435"/>
                    <a:pt x="13912" y="1969"/>
                  </a:cubicBezTo>
                  <a:lnTo>
                    <a:pt x="13912" y="702"/>
                  </a:lnTo>
                  <a:moveTo>
                    <a:pt x="9519" y="17568"/>
                  </a:moveTo>
                  <a:cubicBezTo>
                    <a:pt x="8001" y="17517"/>
                    <a:pt x="6581" y="17377"/>
                    <a:pt x="5323" y="17167"/>
                  </a:cubicBezTo>
                  <a:lnTo>
                    <a:pt x="5323" y="20756"/>
                  </a:lnTo>
                  <a:cubicBezTo>
                    <a:pt x="5858" y="21178"/>
                    <a:pt x="8054" y="21600"/>
                    <a:pt x="9519" y="20756"/>
                  </a:cubicBezTo>
                  <a:lnTo>
                    <a:pt x="9519" y="17568"/>
                  </a:lnTo>
                  <a:moveTo>
                    <a:pt x="21600" y="14529"/>
                  </a:moveTo>
                  <a:lnTo>
                    <a:pt x="21600" y="12840"/>
                  </a:lnTo>
                  <a:cubicBezTo>
                    <a:pt x="21600" y="13535"/>
                    <a:pt x="20782" y="14176"/>
                    <a:pt x="19403" y="14690"/>
                  </a:cubicBezTo>
                  <a:cubicBezTo>
                    <a:pt x="18688" y="14957"/>
                    <a:pt x="17822" y="15189"/>
                    <a:pt x="16841" y="15378"/>
                  </a:cubicBezTo>
                  <a:cubicBezTo>
                    <a:pt x="16107" y="15518"/>
                    <a:pt x="15309" y="15634"/>
                    <a:pt x="14461" y="15720"/>
                  </a:cubicBezTo>
                  <a:cubicBezTo>
                    <a:pt x="13648" y="15803"/>
                    <a:pt x="12789" y="15859"/>
                    <a:pt x="11898" y="15885"/>
                  </a:cubicBezTo>
                  <a:cubicBezTo>
                    <a:pt x="11537" y="15895"/>
                    <a:pt x="11171" y="15901"/>
                    <a:pt x="10800" y="15901"/>
                  </a:cubicBezTo>
                  <a:cubicBezTo>
                    <a:pt x="10303" y="15901"/>
                    <a:pt x="9814" y="15891"/>
                    <a:pt x="9336" y="15873"/>
                  </a:cubicBezTo>
                  <a:cubicBezTo>
                    <a:pt x="8442" y="15838"/>
                    <a:pt x="7583" y="15773"/>
                    <a:pt x="6773" y="15681"/>
                  </a:cubicBezTo>
                  <a:cubicBezTo>
                    <a:pt x="5921" y="15584"/>
                    <a:pt x="5122" y="15456"/>
                    <a:pt x="4393" y="15304"/>
                  </a:cubicBezTo>
                  <a:cubicBezTo>
                    <a:pt x="4269" y="15278"/>
                    <a:pt x="4147" y="15252"/>
                    <a:pt x="4027" y="15224"/>
                  </a:cubicBezTo>
                  <a:lnTo>
                    <a:pt x="4027" y="16913"/>
                  </a:lnTo>
                  <a:cubicBezTo>
                    <a:pt x="4436" y="17006"/>
                    <a:pt x="4869" y="17091"/>
                    <a:pt x="5323" y="17167"/>
                  </a:cubicBezTo>
                  <a:cubicBezTo>
                    <a:pt x="6581" y="17377"/>
                    <a:pt x="8001" y="17517"/>
                    <a:pt x="9519" y="17568"/>
                  </a:cubicBezTo>
                  <a:cubicBezTo>
                    <a:pt x="9939" y="17582"/>
                    <a:pt x="10367" y="17589"/>
                    <a:pt x="10800" y="17589"/>
                  </a:cubicBezTo>
                  <a:cubicBezTo>
                    <a:pt x="11171" y="17589"/>
                    <a:pt x="11537" y="17584"/>
                    <a:pt x="11898" y="17574"/>
                  </a:cubicBezTo>
                  <a:cubicBezTo>
                    <a:pt x="13272" y="17534"/>
                    <a:pt x="14570" y="17422"/>
                    <a:pt x="15742" y="17251"/>
                  </a:cubicBezTo>
                  <a:cubicBezTo>
                    <a:pt x="19221" y="16742"/>
                    <a:pt x="21600" y="15714"/>
                    <a:pt x="21600" y="14529"/>
                  </a:cubicBezTo>
                  <a:moveTo>
                    <a:pt x="19403" y="14690"/>
                  </a:moveTo>
                  <a:cubicBezTo>
                    <a:pt x="20782" y="14176"/>
                    <a:pt x="21600" y="13535"/>
                    <a:pt x="21600" y="12840"/>
                  </a:cubicBezTo>
                  <a:lnTo>
                    <a:pt x="21600" y="8829"/>
                  </a:lnTo>
                  <a:cubicBezTo>
                    <a:pt x="21600" y="9477"/>
                    <a:pt x="20782" y="10074"/>
                    <a:pt x="19403" y="10552"/>
                  </a:cubicBezTo>
                  <a:cubicBezTo>
                    <a:pt x="18688" y="10800"/>
                    <a:pt x="17822" y="11017"/>
                    <a:pt x="16841" y="11192"/>
                  </a:cubicBezTo>
                  <a:cubicBezTo>
                    <a:pt x="16107" y="11323"/>
                    <a:pt x="15309" y="11430"/>
                    <a:pt x="14461" y="11511"/>
                  </a:cubicBezTo>
                  <a:cubicBezTo>
                    <a:pt x="13648" y="11588"/>
                    <a:pt x="12789" y="11641"/>
                    <a:pt x="11898" y="11664"/>
                  </a:cubicBezTo>
                  <a:cubicBezTo>
                    <a:pt x="11537" y="11674"/>
                    <a:pt x="11171" y="11679"/>
                    <a:pt x="10800" y="11679"/>
                  </a:cubicBezTo>
                  <a:cubicBezTo>
                    <a:pt x="10303" y="11679"/>
                    <a:pt x="9814" y="11670"/>
                    <a:pt x="9336" y="11653"/>
                  </a:cubicBezTo>
                  <a:cubicBezTo>
                    <a:pt x="8442" y="11621"/>
                    <a:pt x="7583" y="11560"/>
                    <a:pt x="6773" y="11474"/>
                  </a:cubicBezTo>
                  <a:cubicBezTo>
                    <a:pt x="5921" y="11384"/>
                    <a:pt x="5122" y="11265"/>
                    <a:pt x="4393" y="11123"/>
                  </a:cubicBezTo>
                  <a:cubicBezTo>
                    <a:pt x="3393" y="10929"/>
                    <a:pt x="2525" y="10690"/>
                    <a:pt x="1830" y="10417"/>
                  </a:cubicBezTo>
                  <a:cubicBezTo>
                    <a:pt x="674" y="9963"/>
                    <a:pt x="0" y="9417"/>
                    <a:pt x="0" y="8829"/>
                  </a:cubicBezTo>
                  <a:lnTo>
                    <a:pt x="0" y="10713"/>
                  </a:lnTo>
                  <a:lnTo>
                    <a:pt x="1815" y="12052"/>
                  </a:lnTo>
                  <a:lnTo>
                    <a:pt x="4027" y="13684"/>
                  </a:lnTo>
                  <a:lnTo>
                    <a:pt x="4027" y="15224"/>
                  </a:lnTo>
                  <a:cubicBezTo>
                    <a:pt x="4147" y="15252"/>
                    <a:pt x="4269" y="15278"/>
                    <a:pt x="4393" y="15304"/>
                  </a:cubicBezTo>
                  <a:cubicBezTo>
                    <a:pt x="5122" y="15456"/>
                    <a:pt x="5921" y="15584"/>
                    <a:pt x="6773" y="15681"/>
                  </a:cubicBezTo>
                  <a:cubicBezTo>
                    <a:pt x="7583" y="15773"/>
                    <a:pt x="8442" y="15838"/>
                    <a:pt x="9336" y="15873"/>
                  </a:cubicBezTo>
                  <a:cubicBezTo>
                    <a:pt x="9814" y="15891"/>
                    <a:pt x="10303" y="15901"/>
                    <a:pt x="10800" y="15901"/>
                  </a:cubicBezTo>
                  <a:cubicBezTo>
                    <a:pt x="11171" y="15901"/>
                    <a:pt x="11537" y="15895"/>
                    <a:pt x="11898" y="15885"/>
                  </a:cubicBezTo>
                  <a:cubicBezTo>
                    <a:pt x="12789" y="15859"/>
                    <a:pt x="13648" y="15803"/>
                    <a:pt x="14461" y="15720"/>
                  </a:cubicBezTo>
                  <a:cubicBezTo>
                    <a:pt x="15309" y="15634"/>
                    <a:pt x="16107" y="15518"/>
                    <a:pt x="16841" y="15378"/>
                  </a:cubicBezTo>
                  <a:cubicBezTo>
                    <a:pt x="17822" y="15189"/>
                    <a:pt x="18688" y="14957"/>
                    <a:pt x="19403" y="14690"/>
                  </a:cubicBezTo>
                  <a:moveTo>
                    <a:pt x="11898" y="17574"/>
                  </a:moveTo>
                  <a:lnTo>
                    <a:pt x="11898" y="19489"/>
                  </a:lnTo>
                  <a:cubicBezTo>
                    <a:pt x="12631" y="20122"/>
                    <a:pt x="15376" y="20017"/>
                    <a:pt x="15742" y="19384"/>
                  </a:cubicBezTo>
                  <a:lnTo>
                    <a:pt x="15742" y="17251"/>
                  </a:lnTo>
                  <a:cubicBezTo>
                    <a:pt x="14570" y="17422"/>
                    <a:pt x="13272" y="17534"/>
                    <a:pt x="11898" y="17574"/>
                  </a:cubicBezTo>
                  <a:moveTo>
                    <a:pt x="10617" y="1547"/>
                  </a:moveTo>
                  <a:cubicBezTo>
                    <a:pt x="12437" y="1547"/>
                    <a:pt x="13912" y="1169"/>
                    <a:pt x="13912" y="702"/>
                  </a:cubicBezTo>
                  <a:cubicBezTo>
                    <a:pt x="13912" y="409"/>
                    <a:pt x="13330" y="151"/>
                    <a:pt x="12446" y="0"/>
                  </a:cubicBezTo>
                  <a:cubicBezTo>
                    <a:pt x="12413" y="566"/>
                    <a:pt x="11607" y="808"/>
                    <a:pt x="10617" y="808"/>
                  </a:cubicBezTo>
                  <a:cubicBezTo>
                    <a:pt x="9627" y="808"/>
                    <a:pt x="8821" y="566"/>
                    <a:pt x="8787" y="0"/>
                  </a:cubicBezTo>
                  <a:cubicBezTo>
                    <a:pt x="7904" y="151"/>
                    <a:pt x="7322" y="409"/>
                    <a:pt x="7322" y="702"/>
                  </a:cubicBezTo>
                  <a:cubicBezTo>
                    <a:pt x="7322" y="1169"/>
                    <a:pt x="8797" y="1547"/>
                    <a:pt x="10617" y="1547"/>
                  </a:cubicBezTo>
                  <a:moveTo>
                    <a:pt x="8787" y="0"/>
                  </a:moveTo>
                  <a:lnTo>
                    <a:pt x="12446" y="0"/>
                  </a:lnTo>
                  <a:cubicBezTo>
                    <a:pt x="12413" y="566"/>
                    <a:pt x="11607" y="808"/>
                    <a:pt x="10617" y="808"/>
                  </a:cubicBezTo>
                  <a:cubicBezTo>
                    <a:pt x="9627" y="808"/>
                    <a:pt x="8821" y="566"/>
                    <a:pt x="8787" y="0"/>
                  </a:cubicBezTo>
                  <a:moveTo>
                    <a:pt x="10800" y="17589"/>
                  </a:moveTo>
                  <a:lnTo>
                    <a:pt x="5323" y="17167"/>
                  </a:lnTo>
                  <a:cubicBezTo>
                    <a:pt x="6929" y="17435"/>
                    <a:pt x="8801" y="17589"/>
                    <a:pt x="10800" y="17589"/>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19" name="Rounded Rectangle 29"/>
            <p:cNvSpPr/>
            <p:nvPr/>
          </p:nvSpPr>
          <p:spPr>
            <a:xfrm>
              <a:off x="908051" y="197522"/>
              <a:ext cx="54870" cy="651128"/>
            </a:xfrm>
            <a:custGeom>
              <a:avLst/>
              <a:gdLst/>
              <a:ahLst/>
              <a:cxnLst>
                <a:cxn ang="0">
                  <a:pos x="wd2" y="hd2"/>
                </a:cxn>
                <a:cxn ang="5400000">
                  <a:pos x="wd2" y="hd2"/>
                </a:cxn>
                <a:cxn ang="10800000">
                  <a:pos x="wd2" y="hd2"/>
                </a:cxn>
                <a:cxn ang="16200000">
                  <a:pos x="wd2" y="hd2"/>
                </a:cxn>
              </a:cxnLst>
              <a:rect l="0" t="0" r="r" b="b"/>
              <a:pathLst>
                <a:path w="21600" h="21600" extrusionOk="0">
                  <a:moveTo>
                    <a:pt x="0" y="21573"/>
                  </a:moveTo>
                  <a:lnTo>
                    <a:pt x="0" y="0"/>
                  </a:lnTo>
                  <a:lnTo>
                    <a:pt x="21600" y="0"/>
                  </a:lnTo>
                  <a:lnTo>
                    <a:pt x="21600" y="21573"/>
                  </a:lnTo>
                  <a:cubicBezTo>
                    <a:pt x="21600" y="21582"/>
                    <a:pt x="21598" y="21591"/>
                    <a:pt x="21594" y="21600"/>
                  </a:cubicBezTo>
                  <a:lnTo>
                    <a:pt x="6" y="21600"/>
                  </a:lnTo>
                  <a:cubicBezTo>
                    <a:pt x="2" y="21591"/>
                    <a:pt x="0" y="21582"/>
                    <a:pt x="0" y="21573"/>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20" name="Rounded Rectangle 30"/>
            <p:cNvSpPr/>
            <p:nvPr/>
          </p:nvSpPr>
          <p:spPr>
            <a:xfrm>
              <a:off x="-1" y="0"/>
              <a:ext cx="962923" cy="197524"/>
            </a:xfrm>
            <a:custGeom>
              <a:avLst/>
              <a:gdLst/>
              <a:ahLst/>
              <a:cxnLst>
                <a:cxn ang="0">
                  <a:pos x="wd2" y="hd2"/>
                </a:cxn>
                <a:cxn ang="5400000">
                  <a:pos x="wd2" y="hd2"/>
                </a:cxn>
                <a:cxn ang="10800000">
                  <a:pos x="wd2" y="hd2"/>
                </a:cxn>
                <a:cxn ang="16200000">
                  <a:pos x="wd2" y="hd2"/>
                </a:cxn>
              </a:cxnLst>
              <a:rect l="0" t="0" r="r" b="b"/>
              <a:pathLst>
                <a:path w="21600" h="21600" extrusionOk="0">
                  <a:moveTo>
                    <a:pt x="0" y="6000"/>
                  </a:moveTo>
                  <a:lnTo>
                    <a:pt x="17169" y="6000"/>
                  </a:lnTo>
                  <a:cubicBezTo>
                    <a:pt x="18936" y="6000"/>
                    <a:pt x="20369" y="12985"/>
                    <a:pt x="20369" y="21600"/>
                  </a:cubicBezTo>
                  <a:lnTo>
                    <a:pt x="21600" y="21600"/>
                  </a:lnTo>
                  <a:cubicBezTo>
                    <a:pt x="21600" y="9674"/>
                    <a:pt x="19620" y="4"/>
                    <a:pt x="17173" y="3"/>
                  </a:cubicBezTo>
                  <a:cubicBezTo>
                    <a:pt x="12328" y="2"/>
                    <a:pt x="4633" y="0"/>
                    <a:pt x="0" y="0"/>
                  </a:cubicBezTo>
                  <a:lnTo>
                    <a:pt x="0" y="600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25" name="Group 35"/>
          <p:cNvGrpSpPr/>
          <p:nvPr/>
        </p:nvGrpSpPr>
        <p:grpSpPr>
          <a:xfrm>
            <a:off x="4429787" y="2591079"/>
            <a:ext cx="1100093" cy="1400808"/>
            <a:chOff x="0" y="0"/>
            <a:chExt cx="1100092" cy="1400807"/>
          </a:xfrm>
        </p:grpSpPr>
        <p:sp>
          <p:nvSpPr>
            <p:cNvPr id="322" name="Rounded Rectangle 32"/>
            <p:cNvSpPr/>
            <p:nvPr/>
          </p:nvSpPr>
          <p:spPr>
            <a:xfrm>
              <a:off x="776371" y="847698"/>
              <a:ext cx="323721" cy="553110"/>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59" y="8113"/>
                    <a:pt x="4027" y="7264"/>
                    <a:pt x="4027" y="6217"/>
                  </a:cubicBezTo>
                  <a:cubicBezTo>
                    <a:pt x="4027" y="6001"/>
                    <a:pt x="4156" y="5793"/>
                    <a:pt x="4393" y="5600"/>
                  </a:cubicBezTo>
                  <a:lnTo>
                    <a:pt x="0" y="8851"/>
                  </a:lnTo>
                  <a:cubicBezTo>
                    <a:pt x="0" y="9438"/>
                    <a:pt x="675" y="9983"/>
                    <a:pt x="1830" y="10436"/>
                  </a:cubicBezTo>
                  <a:cubicBezTo>
                    <a:pt x="2525" y="10708"/>
                    <a:pt x="3393" y="10947"/>
                    <a:pt x="4393" y="11141"/>
                  </a:cubicBezTo>
                  <a:cubicBezTo>
                    <a:pt x="5122" y="11283"/>
                    <a:pt x="5920"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8"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close/>
                  <a:moveTo>
                    <a:pt x="13912" y="5163"/>
                  </a:moveTo>
                  <a:lnTo>
                    <a:pt x="13912" y="6217"/>
                  </a:lnTo>
                  <a:cubicBezTo>
                    <a:pt x="13912" y="6682"/>
                    <a:pt x="12437" y="7060"/>
                    <a:pt x="10617" y="7060"/>
                  </a:cubicBezTo>
                  <a:cubicBezTo>
                    <a:pt x="8797" y="7060"/>
                    <a:pt x="7322" y="6682"/>
                    <a:pt x="7322" y="6217"/>
                  </a:cubicBezTo>
                  <a:lnTo>
                    <a:pt x="7322" y="5163"/>
                  </a:lnTo>
                  <a:cubicBezTo>
                    <a:pt x="7322" y="5628"/>
                    <a:pt x="8797" y="6006"/>
                    <a:pt x="10617" y="6006"/>
                  </a:cubicBezTo>
                  <a:cubicBezTo>
                    <a:pt x="12437" y="6006"/>
                    <a:pt x="13912" y="5628"/>
                    <a:pt x="13912" y="5163"/>
                  </a:cubicBezTo>
                  <a:close/>
                  <a:moveTo>
                    <a:pt x="13912" y="6217"/>
                  </a:move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59" y="8113"/>
                    <a:pt x="10800" y="8113"/>
                  </a:cubicBezTo>
                  <a:cubicBezTo>
                    <a:pt x="14541" y="8113"/>
                    <a:pt x="17573" y="7264"/>
                    <a:pt x="17573" y="6217"/>
                  </a:cubicBezTo>
                  <a:cubicBezTo>
                    <a:pt x="17573" y="6034"/>
                    <a:pt x="17481" y="5857"/>
                    <a:pt x="17308" y="5690"/>
                  </a:cubicBezTo>
                  <a:cubicBezTo>
                    <a:pt x="16789" y="5186"/>
                    <a:pt x="15545" y="4769"/>
                    <a:pt x="13912" y="4532"/>
                  </a:cubicBezTo>
                  <a:lnTo>
                    <a:pt x="13912" y="5163"/>
                  </a:lnTo>
                  <a:close/>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close/>
                  <a:moveTo>
                    <a:pt x="10617" y="6006"/>
                  </a:moveTo>
                  <a:cubicBezTo>
                    <a:pt x="12437" y="6006"/>
                    <a:pt x="13912" y="5628"/>
                    <a:pt x="13912" y="5163"/>
                  </a:cubicBezTo>
                  <a:lnTo>
                    <a:pt x="13912" y="4109"/>
                  </a:lnTo>
                  <a:cubicBezTo>
                    <a:pt x="13912" y="4575"/>
                    <a:pt x="12437" y="4952"/>
                    <a:pt x="10617" y="4952"/>
                  </a:cubicBezTo>
                  <a:cubicBezTo>
                    <a:pt x="8797" y="4952"/>
                    <a:pt x="7322" y="4575"/>
                    <a:pt x="7322" y="4109"/>
                  </a:cubicBezTo>
                  <a:lnTo>
                    <a:pt x="7322" y="5163"/>
                  </a:lnTo>
                  <a:cubicBezTo>
                    <a:pt x="7322" y="5628"/>
                    <a:pt x="8797" y="6006"/>
                    <a:pt x="10617" y="6006"/>
                  </a:cubicBezTo>
                  <a:close/>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close/>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close/>
                  <a:moveTo>
                    <a:pt x="9519" y="17575"/>
                  </a:moveTo>
                  <a:cubicBezTo>
                    <a:pt x="8001" y="17524"/>
                    <a:pt x="6581" y="17384"/>
                    <a:pt x="5323" y="17175"/>
                  </a:cubicBezTo>
                  <a:lnTo>
                    <a:pt x="5323" y="20757"/>
                  </a:lnTo>
                  <a:cubicBezTo>
                    <a:pt x="5858" y="21179"/>
                    <a:pt x="8054" y="21600"/>
                    <a:pt x="9519" y="20757"/>
                  </a:cubicBezTo>
                  <a:close/>
                  <a:moveTo>
                    <a:pt x="21600" y="14540"/>
                  </a:moveTo>
                  <a:lnTo>
                    <a:pt x="21600" y="12855"/>
                  </a:lnTo>
                  <a:cubicBezTo>
                    <a:pt x="21600" y="13549"/>
                    <a:pt x="20782" y="14189"/>
                    <a:pt x="19403" y="14702"/>
                  </a:cubicBezTo>
                  <a:cubicBezTo>
                    <a:pt x="18688" y="14968"/>
                    <a:pt x="17822" y="15200"/>
                    <a:pt x="16841" y="15388"/>
                  </a:cubicBezTo>
                  <a:cubicBezTo>
                    <a:pt x="16107" y="15528"/>
                    <a:pt x="15308"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0" y="15594"/>
                    <a:pt x="5122" y="15467"/>
                    <a:pt x="4393" y="15315"/>
                  </a:cubicBezTo>
                  <a:cubicBezTo>
                    <a:pt x="4269" y="15289"/>
                    <a:pt x="4147" y="15262"/>
                    <a:pt x="4027" y="15235"/>
                  </a:cubicBezTo>
                  <a:lnTo>
                    <a:pt x="4027" y="16921"/>
                  </a:lnTo>
                  <a:cubicBezTo>
                    <a:pt x="4436" y="17014"/>
                    <a:pt x="4869" y="17099"/>
                    <a:pt x="5323" y="17175"/>
                  </a:cubicBezTo>
                  <a:cubicBezTo>
                    <a:pt x="6581" y="17384"/>
                    <a:pt x="8001" y="17524"/>
                    <a:pt x="9519" y="17575"/>
                  </a:cubicBezTo>
                  <a:cubicBezTo>
                    <a:pt x="9939" y="17589"/>
                    <a:pt x="10366" y="17596"/>
                    <a:pt x="10800" y="17596"/>
                  </a:cubicBezTo>
                  <a:cubicBezTo>
                    <a:pt x="11171" y="17596"/>
                    <a:pt x="11537" y="17591"/>
                    <a:pt x="11898" y="17580"/>
                  </a:cubicBezTo>
                  <a:cubicBezTo>
                    <a:pt x="13272" y="17541"/>
                    <a:pt x="14570" y="17429"/>
                    <a:pt x="15742" y="17258"/>
                  </a:cubicBezTo>
                  <a:cubicBezTo>
                    <a:pt x="19221" y="16751"/>
                    <a:pt x="21600" y="15724"/>
                    <a:pt x="21600" y="14540"/>
                  </a:cubicBezTo>
                  <a:close/>
                  <a:moveTo>
                    <a:pt x="1830" y="10436"/>
                  </a:moveTo>
                  <a:cubicBezTo>
                    <a:pt x="675" y="9983"/>
                    <a:pt x="0" y="9438"/>
                    <a:pt x="0" y="8851"/>
                  </a:cubicBezTo>
                  <a:lnTo>
                    <a:pt x="0" y="10732"/>
                  </a:lnTo>
                  <a:lnTo>
                    <a:pt x="1815" y="12068"/>
                  </a:lnTo>
                  <a:close/>
                  <a:moveTo>
                    <a:pt x="4393" y="15315"/>
                  </a:moveTo>
                  <a:lnTo>
                    <a:pt x="4393" y="11141"/>
                  </a:lnTo>
                  <a:cubicBezTo>
                    <a:pt x="3393" y="10947"/>
                    <a:pt x="2525" y="10708"/>
                    <a:pt x="1830" y="10436"/>
                  </a:cubicBezTo>
                  <a:lnTo>
                    <a:pt x="1815" y="12068"/>
                  </a:lnTo>
                  <a:lnTo>
                    <a:pt x="4027" y="13698"/>
                  </a:lnTo>
                  <a:lnTo>
                    <a:pt x="4027" y="15235"/>
                  </a:lnTo>
                  <a:cubicBezTo>
                    <a:pt x="4147" y="15262"/>
                    <a:pt x="4269" y="15289"/>
                    <a:pt x="4393" y="15315"/>
                  </a:cubicBezTo>
                  <a:close/>
                  <a:moveTo>
                    <a:pt x="6773" y="15691"/>
                  </a:moveTo>
                  <a:lnTo>
                    <a:pt x="6773" y="11491"/>
                  </a:lnTo>
                  <a:cubicBezTo>
                    <a:pt x="5920" y="11401"/>
                    <a:pt x="5122" y="11283"/>
                    <a:pt x="4393" y="11141"/>
                  </a:cubicBezTo>
                  <a:lnTo>
                    <a:pt x="4393" y="15315"/>
                  </a:lnTo>
                  <a:cubicBezTo>
                    <a:pt x="5122" y="15467"/>
                    <a:pt x="5920" y="15594"/>
                    <a:pt x="6773" y="15691"/>
                  </a:cubicBezTo>
                  <a:close/>
                  <a:moveTo>
                    <a:pt x="9336" y="15882"/>
                  </a:moveTo>
                  <a:lnTo>
                    <a:pt x="9336" y="11670"/>
                  </a:lnTo>
                  <a:cubicBezTo>
                    <a:pt x="8442" y="11638"/>
                    <a:pt x="7583" y="11577"/>
                    <a:pt x="6773" y="11491"/>
                  </a:cubicBezTo>
                  <a:lnTo>
                    <a:pt x="6773" y="15691"/>
                  </a:lnTo>
                  <a:cubicBezTo>
                    <a:pt x="7583" y="15783"/>
                    <a:pt x="8442" y="15848"/>
                    <a:pt x="9336" y="15882"/>
                  </a:cubicBezTo>
                  <a:close/>
                  <a:moveTo>
                    <a:pt x="9336" y="15882"/>
                  </a:moveTo>
                  <a:cubicBezTo>
                    <a:pt x="9814" y="15901"/>
                    <a:pt x="10303" y="15910"/>
                    <a:pt x="10800" y="15910"/>
                  </a:cubicBezTo>
                  <a:cubicBezTo>
                    <a:pt x="11171" y="15910"/>
                    <a:pt x="11537" y="15905"/>
                    <a:pt x="11898" y="15895"/>
                  </a:cubicBezTo>
                  <a:lnTo>
                    <a:pt x="11898" y="11681"/>
                  </a:lnTo>
                  <a:cubicBezTo>
                    <a:pt x="11537" y="11691"/>
                    <a:pt x="11171" y="11696"/>
                    <a:pt x="10800" y="11696"/>
                  </a:cubicBezTo>
                  <a:cubicBezTo>
                    <a:pt x="10303" y="11696"/>
                    <a:pt x="9814" y="11687"/>
                    <a:pt x="9336" y="11670"/>
                  </a:cubicBezTo>
                  <a:close/>
                  <a:moveTo>
                    <a:pt x="11898" y="11681"/>
                  </a:moveTo>
                  <a:lnTo>
                    <a:pt x="11898" y="15895"/>
                  </a:lnTo>
                  <a:cubicBezTo>
                    <a:pt x="12789" y="15869"/>
                    <a:pt x="13648" y="15813"/>
                    <a:pt x="14461" y="15730"/>
                  </a:cubicBezTo>
                  <a:lnTo>
                    <a:pt x="14461" y="11528"/>
                  </a:lnTo>
                  <a:cubicBezTo>
                    <a:pt x="13648" y="11605"/>
                    <a:pt x="12789" y="11657"/>
                    <a:pt x="11898" y="11681"/>
                  </a:cubicBezTo>
                  <a:close/>
                  <a:moveTo>
                    <a:pt x="14461" y="11528"/>
                  </a:moveTo>
                  <a:lnTo>
                    <a:pt x="14461" y="15730"/>
                  </a:lnTo>
                  <a:cubicBezTo>
                    <a:pt x="15308" y="15644"/>
                    <a:pt x="16107" y="15528"/>
                    <a:pt x="16841" y="15388"/>
                  </a:cubicBezTo>
                  <a:lnTo>
                    <a:pt x="16841" y="11209"/>
                  </a:lnTo>
                  <a:cubicBezTo>
                    <a:pt x="16107" y="11340"/>
                    <a:pt x="15308" y="11448"/>
                    <a:pt x="14461" y="11528"/>
                  </a:cubicBezTo>
                  <a:close/>
                  <a:moveTo>
                    <a:pt x="16841" y="11209"/>
                  </a:moveTo>
                  <a:lnTo>
                    <a:pt x="16841" y="15388"/>
                  </a:lnTo>
                  <a:cubicBezTo>
                    <a:pt x="17822" y="15200"/>
                    <a:pt x="18688" y="14968"/>
                    <a:pt x="19403" y="14702"/>
                  </a:cubicBezTo>
                  <a:lnTo>
                    <a:pt x="19403" y="10571"/>
                  </a:lnTo>
                  <a:cubicBezTo>
                    <a:pt x="18688" y="10819"/>
                    <a:pt x="17822" y="11035"/>
                    <a:pt x="16841" y="11209"/>
                  </a:cubicBezTo>
                  <a:close/>
                  <a:moveTo>
                    <a:pt x="21600" y="12855"/>
                  </a:moveTo>
                  <a:lnTo>
                    <a:pt x="21600" y="8851"/>
                  </a:lnTo>
                  <a:cubicBezTo>
                    <a:pt x="21600" y="9497"/>
                    <a:pt x="20782" y="10093"/>
                    <a:pt x="19403" y="10571"/>
                  </a:cubicBezTo>
                  <a:lnTo>
                    <a:pt x="19403" y="14702"/>
                  </a:lnTo>
                  <a:cubicBezTo>
                    <a:pt x="20782" y="14189"/>
                    <a:pt x="21600" y="13549"/>
                    <a:pt x="21600" y="12855"/>
                  </a:cubicBezTo>
                  <a:close/>
                  <a:moveTo>
                    <a:pt x="11898" y="17580"/>
                  </a:moveTo>
                  <a:lnTo>
                    <a:pt x="11898" y="19493"/>
                  </a:lnTo>
                  <a:cubicBezTo>
                    <a:pt x="12631" y="20125"/>
                    <a:pt x="15376" y="20020"/>
                    <a:pt x="15742" y="19387"/>
                  </a:cubicBezTo>
                  <a:lnTo>
                    <a:pt x="15742" y="17258"/>
                  </a:lnTo>
                  <a:cubicBezTo>
                    <a:pt x="14570" y="17429"/>
                    <a:pt x="13272" y="17541"/>
                    <a:pt x="11898" y="17580"/>
                  </a:cubicBezTo>
                  <a:close/>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close/>
                  <a:moveTo>
                    <a:pt x="13912" y="738"/>
                  </a:moveTo>
                  <a:lnTo>
                    <a:pt x="13912" y="6217"/>
                  </a:lnTo>
                  <a:moveTo>
                    <a:pt x="7322" y="738"/>
                  </a:moveTo>
                  <a:lnTo>
                    <a:pt x="7322" y="6217"/>
                  </a:lnTo>
                  <a:moveTo>
                    <a:pt x="10800" y="17596"/>
                  </a:moveTo>
                  <a:cubicBezTo>
                    <a:pt x="8801" y="17596"/>
                    <a:pt x="6929" y="17442"/>
                    <a:pt x="5323" y="17175"/>
                  </a:cubicBezTo>
                  <a:moveTo>
                    <a:pt x="8786" y="0"/>
                  </a:moveTo>
                  <a:cubicBezTo>
                    <a:pt x="8786" y="12"/>
                    <a:pt x="8787" y="24"/>
                    <a:pt x="8787" y="36"/>
                  </a:cubicBezTo>
                  <a:moveTo>
                    <a:pt x="12447" y="0"/>
                  </a:moveTo>
                  <a:cubicBezTo>
                    <a:pt x="12447" y="12"/>
                    <a:pt x="12447" y="24"/>
                    <a:pt x="12446" y="3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23" name="Rounded Rectangle 33"/>
            <p:cNvSpPr/>
            <p:nvPr/>
          </p:nvSpPr>
          <p:spPr>
            <a:xfrm>
              <a:off x="908051" y="197522"/>
              <a:ext cx="54870" cy="651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573"/>
                  </a:lnTo>
                  <a:cubicBezTo>
                    <a:pt x="0" y="21582"/>
                    <a:pt x="2" y="21591"/>
                    <a:pt x="6" y="21600"/>
                  </a:cubicBezTo>
                  <a:moveTo>
                    <a:pt x="21600" y="1"/>
                  </a:moveTo>
                  <a:lnTo>
                    <a:pt x="21600" y="21573"/>
                  </a:lnTo>
                  <a:cubicBezTo>
                    <a:pt x="21600" y="21582"/>
                    <a:pt x="21598" y="21591"/>
                    <a:pt x="2159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24" name="Rounded Rectangle 34"/>
            <p:cNvSpPr/>
            <p:nvPr/>
          </p:nvSpPr>
          <p:spPr>
            <a:xfrm>
              <a:off x="-1" y="-1"/>
              <a:ext cx="962923" cy="19755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3"/>
                    <a:pt x="19620" y="3"/>
                    <a:pt x="17173" y="3"/>
                  </a:cubicBezTo>
                  <a:cubicBezTo>
                    <a:pt x="12328" y="2"/>
                    <a:pt x="4633" y="0"/>
                    <a:pt x="0" y="0"/>
                  </a:cubicBezTo>
                  <a:lnTo>
                    <a:pt x="0" y="5999"/>
                  </a:lnTo>
                  <a:lnTo>
                    <a:pt x="17169" y="5999"/>
                  </a:lnTo>
                  <a:cubicBezTo>
                    <a:pt x="18937" y="5999"/>
                    <a:pt x="20369" y="12983"/>
                    <a:pt x="20369" y="21597"/>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29" name="Group 39"/>
          <p:cNvGrpSpPr/>
          <p:nvPr/>
        </p:nvGrpSpPr>
        <p:grpSpPr>
          <a:xfrm>
            <a:off x="4429788" y="3019042"/>
            <a:ext cx="836729" cy="1099039"/>
            <a:chOff x="0" y="-1"/>
            <a:chExt cx="836727" cy="1099038"/>
          </a:xfrm>
        </p:grpSpPr>
        <p:sp>
          <p:nvSpPr>
            <p:cNvPr id="326" name="Rounded Rectangle 36"/>
            <p:cNvSpPr/>
            <p:nvPr/>
          </p:nvSpPr>
          <p:spPr>
            <a:xfrm>
              <a:off x="513008" y="545928"/>
              <a:ext cx="323720" cy="553110"/>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0" y="8113"/>
                    <a:pt x="10800" y="8113"/>
                  </a:cubicBezTo>
                  <a:cubicBezTo>
                    <a:pt x="7060" y="8113"/>
                    <a:pt x="4027" y="7264"/>
                    <a:pt x="4027" y="6217"/>
                  </a:cubicBezTo>
                  <a:cubicBezTo>
                    <a:pt x="4027" y="6001"/>
                    <a:pt x="4156" y="5793"/>
                    <a:pt x="4393" y="5600"/>
                  </a:cubicBezTo>
                  <a:lnTo>
                    <a:pt x="0" y="8851"/>
                  </a:lnTo>
                  <a:cubicBezTo>
                    <a:pt x="0" y="9438"/>
                    <a:pt x="674" y="9983"/>
                    <a:pt x="1830" y="10436"/>
                  </a:cubicBezTo>
                  <a:cubicBezTo>
                    <a:pt x="2525" y="10708"/>
                    <a:pt x="3393" y="10947"/>
                    <a:pt x="4393" y="11141"/>
                  </a:cubicBezTo>
                  <a:cubicBezTo>
                    <a:pt x="5122" y="11283"/>
                    <a:pt x="5921"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9"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moveTo>
                    <a:pt x="13912" y="4109"/>
                  </a:moveTo>
                  <a:cubicBezTo>
                    <a:pt x="13912" y="4575"/>
                    <a:pt x="12437" y="4952"/>
                    <a:pt x="10617" y="4952"/>
                  </a:cubicBezTo>
                  <a:cubicBezTo>
                    <a:pt x="8797" y="4952"/>
                    <a:pt x="7322" y="4575"/>
                    <a:pt x="7322" y="4109"/>
                  </a:cubicBezTo>
                  <a:lnTo>
                    <a:pt x="7322" y="5163"/>
                  </a:lnTo>
                  <a:cubicBezTo>
                    <a:pt x="7322" y="5628"/>
                    <a:pt x="8797" y="6006"/>
                    <a:pt x="10617" y="6006"/>
                  </a:cubicBezTo>
                  <a:cubicBezTo>
                    <a:pt x="12437" y="6006"/>
                    <a:pt x="13912" y="5628"/>
                    <a:pt x="13912" y="5163"/>
                  </a:cubicBezTo>
                  <a:cubicBezTo>
                    <a:pt x="13912" y="5628"/>
                    <a:pt x="12437" y="6006"/>
                    <a:pt x="10617" y="6006"/>
                  </a:cubicBezTo>
                  <a:cubicBezTo>
                    <a:pt x="8797" y="6006"/>
                    <a:pt x="7322" y="5628"/>
                    <a:pt x="7322" y="5163"/>
                  </a:cubicBezTo>
                  <a:lnTo>
                    <a:pt x="7322" y="6217"/>
                  </a:lnTo>
                  <a:cubicBezTo>
                    <a:pt x="7322" y="6682"/>
                    <a:pt x="8797" y="7060"/>
                    <a:pt x="10617" y="7060"/>
                  </a:cubicBezTo>
                  <a:cubicBezTo>
                    <a:pt x="12437" y="7060"/>
                    <a:pt x="13912" y="6682"/>
                    <a:pt x="13912" y="6217"/>
                  </a:cubicBez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60" y="8113"/>
                    <a:pt x="10800" y="8113"/>
                  </a:cubicBezTo>
                  <a:cubicBezTo>
                    <a:pt x="14540" y="8113"/>
                    <a:pt x="17573" y="7264"/>
                    <a:pt x="17573" y="6217"/>
                  </a:cubicBezTo>
                  <a:cubicBezTo>
                    <a:pt x="17573" y="6034"/>
                    <a:pt x="17481" y="5857"/>
                    <a:pt x="17308" y="5690"/>
                  </a:cubicBezTo>
                  <a:cubicBezTo>
                    <a:pt x="16789" y="5186"/>
                    <a:pt x="15545" y="4768"/>
                    <a:pt x="13912" y="4532"/>
                  </a:cubicBezTo>
                  <a:lnTo>
                    <a:pt x="13912" y="4109"/>
                  </a:lnTo>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lnTo>
                    <a:pt x="13912" y="3056"/>
                  </a:lnTo>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lnTo>
                    <a:pt x="13912" y="738"/>
                  </a:lnTo>
                  <a:moveTo>
                    <a:pt x="9519" y="17575"/>
                  </a:moveTo>
                  <a:cubicBezTo>
                    <a:pt x="8001" y="17524"/>
                    <a:pt x="6581" y="17384"/>
                    <a:pt x="5323" y="17175"/>
                  </a:cubicBezTo>
                  <a:lnTo>
                    <a:pt x="5323" y="20757"/>
                  </a:lnTo>
                  <a:cubicBezTo>
                    <a:pt x="5858" y="21179"/>
                    <a:pt x="8054" y="21600"/>
                    <a:pt x="9519" y="20757"/>
                  </a:cubicBezTo>
                  <a:lnTo>
                    <a:pt x="9519" y="17575"/>
                  </a:lnTo>
                  <a:moveTo>
                    <a:pt x="21600" y="14540"/>
                  </a:moveTo>
                  <a:lnTo>
                    <a:pt x="21600" y="12855"/>
                  </a:lnTo>
                  <a:cubicBezTo>
                    <a:pt x="21600" y="13549"/>
                    <a:pt x="20782" y="14189"/>
                    <a:pt x="19403" y="14702"/>
                  </a:cubicBezTo>
                  <a:cubicBezTo>
                    <a:pt x="18688" y="14968"/>
                    <a:pt x="17822" y="15200"/>
                    <a:pt x="16841" y="15388"/>
                  </a:cubicBezTo>
                  <a:cubicBezTo>
                    <a:pt x="16107" y="15528"/>
                    <a:pt x="15309"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1" y="15594"/>
                    <a:pt x="5122" y="15467"/>
                    <a:pt x="4393" y="15315"/>
                  </a:cubicBezTo>
                  <a:cubicBezTo>
                    <a:pt x="3807" y="15201"/>
                    <a:pt x="3417" y="15103"/>
                    <a:pt x="3295" y="15067"/>
                  </a:cubicBezTo>
                  <a:lnTo>
                    <a:pt x="3295" y="16738"/>
                  </a:lnTo>
                  <a:cubicBezTo>
                    <a:pt x="3906" y="16905"/>
                    <a:pt x="4586" y="17052"/>
                    <a:pt x="5323" y="17175"/>
                  </a:cubicBezTo>
                  <a:cubicBezTo>
                    <a:pt x="6581" y="17384"/>
                    <a:pt x="8001" y="17524"/>
                    <a:pt x="9519" y="17575"/>
                  </a:cubicBezTo>
                  <a:cubicBezTo>
                    <a:pt x="9939" y="17589"/>
                    <a:pt x="10367" y="17596"/>
                    <a:pt x="10800" y="17596"/>
                  </a:cubicBezTo>
                  <a:cubicBezTo>
                    <a:pt x="11171" y="17596"/>
                    <a:pt x="11537" y="17591"/>
                    <a:pt x="11898" y="17580"/>
                  </a:cubicBezTo>
                  <a:cubicBezTo>
                    <a:pt x="13272" y="17541"/>
                    <a:pt x="14570" y="17429"/>
                    <a:pt x="15742" y="17258"/>
                  </a:cubicBezTo>
                  <a:cubicBezTo>
                    <a:pt x="19221" y="16751"/>
                    <a:pt x="21600" y="15724"/>
                    <a:pt x="21600" y="14540"/>
                  </a:cubicBezTo>
                  <a:moveTo>
                    <a:pt x="11898" y="17580"/>
                  </a:moveTo>
                  <a:lnTo>
                    <a:pt x="11898" y="19493"/>
                  </a:lnTo>
                  <a:cubicBezTo>
                    <a:pt x="12631" y="20125"/>
                    <a:pt x="15376" y="20020"/>
                    <a:pt x="15742" y="19387"/>
                  </a:cubicBezTo>
                  <a:lnTo>
                    <a:pt x="15742" y="17258"/>
                  </a:lnTo>
                  <a:cubicBezTo>
                    <a:pt x="14570" y="17429"/>
                    <a:pt x="13272" y="17541"/>
                    <a:pt x="11898" y="17580"/>
                  </a:cubicBezTo>
                  <a:moveTo>
                    <a:pt x="19403" y="14702"/>
                  </a:moveTo>
                  <a:cubicBezTo>
                    <a:pt x="20782" y="14189"/>
                    <a:pt x="21600" y="13549"/>
                    <a:pt x="21600" y="12855"/>
                  </a:cubicBezTo>
                  <a:lnTo>
                    <a:pt x="21600" y="8851"/>
                  </a:lnTo>
                  <a:cubicBezTo>
                    <a:pt x="21600" y="9497"/>
                    <a:pt x="20782" y="10093"/>
                    <a:pt x="19403" y="10571"/>
                  </a:cubicBezTo>
                  <a:cubicBezTo>
                    <a:pt x="18688" y="10819"/>
                    <a:pt x="17822" y="11035"/>
                    <a:pt x="16841" y="11209"/>
                  </a:cubicBezTo>
                  <a:cubicBezTo>
                    <a:pt x="16107" y="11340"/>
                    <a:pt x="15309" y="11448"/>
                    <a:pt x="14461" y="11528"/>
                  </a:cubicBezTo>
                  <a:cubicBezTo>
                    <a:pt x="13648" y="11605"/>
                    <a:pt x="12789" y="11657"/>
                    <a:pt x="11898" y="11681"/>
                  </a:cubicBezTo>
                  <a:cubicBezTo>
                    <a:pt x="11537" y="11691"/>
                    <a:pt x="11171" y="11696"/>
                    <a:pt x="10800" y="11696"/>
                  </a:cubicBezTo>
                  <a:cubicBezTo>
                    <a:pt x="10303" y="11696"/>
                    <a:pt x="9814" y="11687"/>
                    <a:pt x="9336" y="11670"/>
                  </a:cubicBezTo>
                  <a:cubicBezTo>
                    <a:pt x="8442" y="11638"/>
                    <a:pt x="7583" y="11577"/>
                    <a:pt x="6773" y="11491"/>
                  </a:cubicBezTo>
                  <a:cubicBezTo>
                    <a:pt x="5921" y="11401"/>
                    <a:pt x="5122" y="11283"/>
                    <a:pt x="4393" y="11141"/>
                  </a:cubicBezTo>
                  <a:cubicBezTo>
                    <a:pt x="3393" y="10947"/>
                    <a:pt x="2525" y="10708"/>
                    <a:pt x="1830" y="10436"/>
                  </a:cubicBezTo>
                  <a:cubicBezTo>
                    <a:pt x="674" y="9983"/>
                    <a:pt x="0" y="9438"/>
                    <a:pt x="0" y="8851"/>
                  </a:cubicBezTo>
                  <a:lnTo>
                    <a:pt x="0" y="11481"/>
                  </a:lnTo>
                  <a:lnTo>
                    <a:pt x="1830" y="12830"/>
                  </a:lnTo>
                  <a:lnTo>
                    <a:pt x="3295" y="13908"/>
                  </a:lnTo>
                  <a:lnTo>
                    <a:pt x="3295" y="15067"/>
                  </a:lnTo>
                  <a:cubicBezTo>
                    <a:pt x="3417" y="15103"/>
                    <a:pt x="3807" y="15201"/>
                    <a:pt x="4393" y="15315"/>
                  </a:cubicBezTo>
                  <a:cubicBezTo>
                    <a:pt x="5122" y="15467"/>
                    <a:pt x="5921" y="15594"/>
                    <a:pt x="6773" y="15691"/>
                  </a:cubicBezTo>
                  <a:cubicBezTo>
                    <a:pt x="7583" y="15783"/>
                    <a:pt x="8442" y="15848"/>
                    <a:pt x="9336" y="15882"/>
                  </a:cubicBezTo>
                  <a:cubicBezTo>
                    <a:pt x="9814" y="15901"/>
                    <a:pt x="10303" y="15910"/>
                    <a:pt x="10800" y="15910"/>
                  </a:cubicBezTo>
                  <a:cubicBezTo>
                    <a:pt x="11171" y="15910"/>
                    <a:pt x="11537" y="15905"/>
                    <a:pt x="11898" y="15895"/>
                  </a:cubicBezTo>
                  <a:cubicBezTo>
                    <a:pt x="12789" y="15869"/>
                    <a:pt x="13648" y="15813"/>
                    <a:pt x="14461" y="15730"/>
                  </a:cubicBezTo>
                  <a:cubicBezTo>
                    <a:pt x="15309" y="15644"/>
                    <a:pt x="16107" y="15528"/>
                    <a:pt x="16841" y="15388"/>
                  </a:cubicBezTo>
                  <a:cubicBezTo>
                    <a:pt x="17822" y="15200"/>
                    <a:pt x="18688" y="14968"/>
                    <a:pt x="19403" y="14702"/>
                  </a:cubicBezTo>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moveTo>
                    <a:pt x="8787" y="36"/>
                  </a:moveTo>
                  <a:cubicBezTo>
                    <a:pt x="8821" y="601"/>
                    <a:pt x="9627" y="843"/>
                    <a:pt x="10617" y="843"/>
                  </a:cubicBezTo>
                  <a:cubicBezTo>
                    <a:pt x="11607" y="843"/>
                    <a:pt x="12413" y="601"/>
                    <a:pt x="12446" y="36"/>
                  </a:cubicBezTo>
                  <a:cubicBezTo>
                    <a:pt x="12447" y="24"/>
                    <a:pt x="12447" y="12"/>
                    <a:pt x="12447" y="0"/>
                  </a:cubicBezTo>
                  <a:lnTo>
                    <a:pt x="8786" y="0"/>
                  </a:lnTo>
                  <a:cubicBezTo>
                    <a:pt x="8786" y="12"/>
                    <a:pt x="8787" y="24"/>
                    <a:pt x="8787" y="36"/>
                  </a:cubicBezTo>
                  <a:moveTo>
                    <a:pt x="10800" y="17596"/>
                  </a:moveTo>
                  <a:lnTo>
                    <a:pt x="5323" y="17175"/>
                  </a:lnTo>
                  <a:cubicBezTo>
                    <a:pt x="6929" y="17442"/>
                    <a:pt x="8801" y="17596"/>
                    <a:pt x="10800" y="17596"/>
                  </a:cubicBez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27" name="Rounded Rectangle 37"/>
            <p:cNvSpPr/>
            <p:nvPr/>
          </p:nvSpPr>
          <p:spPr>
            <a:xfrm>
              <a:off x="644690" y="197543"/>
              <a:ext cx="54870" cy="349337"/>
            </a:xfrm>
            <a:custGeom>
              <a:avLst/>
              <a:gdLst/>
              <a:ahLst/>
              <a:cxnLst>
                <a:cxn ang="0">
                  <a:pos x="wd2" y="hd2"/>
                </a:cxn>
                <a:cxn ang="5400000">
                  <a:pos x="wd2" y="hd2"/>
                </a:cxn>
                <a:cxn ang="10800000">
                  <a:pos x="wd2" y="hd2"/>
                </a:cxn>
                <a:cxn ang="16200000">
                  <a:pos x="wd2" y="hd2"/>
                </a:cxn>
              </a:cxnLst>
              <a:rect l="0" t="0" r="r" b="b"/>
              <a:pathLst>
                <a:path w="21600" h="21600" extrusionOk="0">
                  <a:moveTo>
                    <a:pt x="21600" y="21550"/>
                  </a:moveTo>
                  <a:lnTo>
                    <a:pt x="21600" y="0"/>
                  </a:lnTo>
                  <a:lnTo>
                    <a:pt x="0" y="0"/>
                  </a:lnTo>
                  <a:lnTo>
                    <a:pt x="0" y="21550"/>
                  </a:lnTo>
                  <a:cubicBezTo>
                    <a:pt x="0" y="21567"/>
                    <a:pt x="2" y="21584"/>
                    <a:pt x="6" y="21600"/>
                  </a:cubicBezTo>
                  <a:lnTo>
                    <a:pt x="21600" y="2155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28" name="Rounded Rectangle 38"/>
            <p:cNvSpPr/>
            <p:nvPr/>
          </p:nvSpPr>
          <p:spPr>
            <a:xfrm>
              <a:off x="0" y="-2"/>
              <a:ext cx="699561" cy="197526"/>
            </a:xfrm>
            <a:custGeom>
              <a:avLst/>
              <a:gdLst/>
              <a:ahLst/>
              <a:cxnLst>
                <a:cxn ang="0">
                  <a:pos x="wd2" y="hd2"/>
                </a:cxn>
                <a:cxn ang="5400000">
                  <a:pos x="wd2" y="hd2"/>
                </a:cxn>
                <a:cxn ang="10800000">
                  <a:pos x="wd2" y="hd2"/>
                </a:cxn>
                <a:cxn ang="16200000">
                  <a:pos x="wd2" y="hd2"/>
                </a:cxn>
              </a:cxnLst>
              <a:rect l="0" t="0" r="r" b="b"/>
              <a:pathLst>
                <a:path w="21600" h="21600" extrusionOk="0">
                  <a:moveTo>
                    <a:pt x="0" y="6000"/>
                  </a:moveTo>
                  <a:lnTo>
                    <a:pt x="15501" y="6000"/>
                  </a:lnTo>
                  <a:cubicBezTo>
                    <a:pt x="17934" y="6000"/>
                    <a:pt x="19906" y="12985"/>
                    <a:pt x="19906" y="21600"/>
                  </a:cubicBezTo>
                  <a:lnTo>
                    <a:pt x="21600" y="21600"/>
                  </a:lnTo>
                  <a:cubicBezTo>
                    <a:pt x="21600" y="9674"/>
                    <a:pt x="18873" y="4"/>
                    <a:pt x="15505" y="3"/>
                  </a:cubicBezTo>
                  <a:cubicBezTo>
                    <a:pt x="10696" y="2"/>
                    <a:pt x="4131" y="1"/>
                    <a:pt x="0" y="0"/>
                  </a:cubicBezTo>
                  <a:lnTo>
                    <a:pt x="0" y="600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33" name="Group 43"/>
          <p:cNvGrpSpPr/>
          <p:nvPr/>
        </p:nvGrpSpPr>
        <p:grpSpPr>
          <a:xfrm>
            <a:off x="4429788" y="3019042"/>
            <a:ext cx="836729" cy="1099039"/>
            <a:chOff x="0" y="-1"/>
            <a:chExt cx="836727" cy="1099038"/>
          </a:xfrm>
        </p:grpSpPr>
        <p:sp>
          <p:nvSpPr>
            <p:cNvPr id="330" name="Rounded Rectangle 40"/>
            <p:cNvSpPr/>
            <p:nvPr/>
          </p:nvSpPr>
          <p:spPr>
            <a:xfrm>
              <a:off x="513008" y="545928"/>
              <a:ext cx="323720" cy="553110"/>
            </a:xfrm>
            <a:custGeom>
              <a:avLst/>
              <a:gdLst/>
              <a:ahLst/>
              <a:cxnLst>
                <a:cxn ang="0">
                  <a:pos x="wd2" y="hd2"/>
                </a:cxn>
                <a:cxn ang="5400000">
                  <a:pos x="wd2" y="hd2"/>
                </a:cxn>
                <a:cxn ang="10800000">
                  <a:pos x="wd2" y="hd2"/>
                </a:cxn>
                <a:cxn ang="16200000">
                  <a:pos x="wd2" y="hd2"/>
                </a:cxn>
              </a:cxnLst>
              <a:rect l="0" t="0" r="r" b="b"/>
              <a:pathLst>
                <a:path w="21600" h="21244" extrusionOk="0">
                  <a:moveTo>
                    <a:pt x="17573" y="6217"/>
                  </a:moveTo>
                  <a:cubicBezTo>
                    <a:pt x="17573" y="7264"/>
                    <a:pt x="14541" y="8113"/>
                    <a:pt x="10800" y="8113"/>
                  </a:cubicBezTo>
                  <a:cubicBezTo>
                    <a:pt x="7059" y="8113"/>
                    <a:pt x="4027" y="7264"/>
                    <a:pt x="4027" y="6217"/>
                  </a:cubicBezTo>
                  <a:cubicBezTo>
                    <a:pt x="4027" y="6001"/>
                    <a:pt x="4156" y="5793"/>
                    <a:pt x="4393" y="5600"/>
                  </a:cubicBezTo>
                  <a:lnTo>
                    <a:pt x="0" y="8851"/>
                  </a:lnTo>
                  <a:cubicBezTo>
                    <a:pt x="0" y="9438"/>
                    <a:pt x="675" y="9983"/>
                    <a:pt x="1830" y="10436"/>
                  </a:cubicBezTo>
                  <a:cubicBezTo>
                    <a:pt x="2525" y="10708"/>
                    <a:pt x="3393" y="10947"/>
                    <a:pt x="4393" y="11141"/>
                  </a:cubicBezTo>
                  <a:cubicBezTo>
                    <a:pt x="5122" y="11283"/>
                    <a:pt x="5920"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8"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close/>
                  <a:moveTo>
                    <a:pt x="13912" y="5163"/>
                  </a:moveTo>
                  <a:lnTo>
                    <a:pt x="13912" y="6217"/>
                  </a:lnTo>
                  <a:cubicBezTo>
                    <a:pt x="13912" y="6682"/>
                    <a:pt x="12437" y="7060"/>
                    <a:pt x="10617" y="7060"/>
                  </a:cubicBezTo>
                  <a:cubicBezTo>
                    <a:pt x="8797" y="7060"/>
                    <a:pt x="7322" y="6682"/>
                    <a:pt x="7322" y="6217"/>
                  </a:cubicBezTo>
                  <a:lnTo>
                    <a:pt x="7322" y="5163"/>
                  </a:lnTo>
                  <a:cubicBezTo>
                    <a:pt x="7322" y="5628"/>
                    <a:pt x="8797" y="6006"/>
                    <a:pt x="10617" y="6006"/>
                  </a:cubicBezTo>
                  <a:cubicBezTo>
                    <a:pt x="12437" y="6006"/>
                    <a:pt x="13912" y="5628"/>
                    <a:pt x="13912" y="5163"/>
                  </a:cubicBezTo>
                  <a:close/>
                  <a:moveTo>
                    <a:pt x="13912" y="6217"/>
                  </a:move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59" y="8113"/>
                    <a:pt x="10800" y="8113"/>
                  </a:cubicBezTo>
                  <a:cubicBezTo>
                    <a:pt x="14541" y="8113"/>
                    <a:pt x="17573" y="7264"/>
                    <a:pt x="17573" y="6217"/>
                  </a:cubicBezTo>
                  <a:cubicBezTo>
                    <a:pt x="17573" y="6034"/>
                    <a:pt x="17481" y="5857"/>
                    <a:pt x="17308" y="5690"/>
                  </a:cubicBezTo>
                  <a:cubicBezTo>
                    <a:pt x="16789" y="5186"/>
                    <a:pt x="15545" y="4769"/>
                    <a:pt x="13912" y="4532"/>
                  </a:cubicBezTo>
                  <a:lnTo>
                    <a:pt x="13912" y="5163"/>
                  </a:lnTo>
                  <a:close/>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close/>
                  <a:moveTo>
                    <a:pt x="10617" y="6006"/>
                  </a:moveTo>
                  <a:cubicBezTo>
                    <a:pt x="12437" y="6006"/>
                    <a:pt x="13912" y="5628"/>
                    <a:pt x="13912" y="5163"/>
                  </a:cubicBezTo>
                  <a:lnTo>
                    <a:pt x="13912" y="4109"/>
                  </a:lnTo>
                  <a:cubicBezTo>
                    <a:pt x="13912" y="4575"/>
                    <a:pt x="12437" y="4952"/>
                    <a:pt x="10617" y="4952"/>
                  </a:cubicBezTo>
                  <a:cubicBezTo>
                    <a:pt x="8797" y="4952"/>
                    <a:pt x="7322" y="4575"/>
                    <a:pt x="7322" y="4109"/>
                  </a:cubicBezTo>
                  <a:lnTo>
                    <a:pt x="7322" y="5163"/>
                  </a:lnTo>
                  <a:cubicBezTo>
                    <a:pt x="7322" y="5628"/>
                    <a:pt x="8797" y="6006"/>
                    <a:pt x="10617" y="6006"/>
                  </a:cubicBezTo>
                  <a:close/>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close/>
                  <a:moveTo>
                    <a:pt x="13912" y="738"/>
                  </a:moveTo>
                  <a:cubicBezTo>
                    <a:pt x="13912" y="1203"/>
                    <a:pt x="12437" y="1580"/>
                    <a:pt x="10617" y="1580"/>
                  </a:cubicBezTo>
                  <a:cubicBezTo>
                    <a:pt x="8797" y="1580"/>
                    <a:pt x="7322" y="1203"/>
                    <a:pt x="7322" y="738"/>
                  </a:cubicBezTo>
                  <a:lnTo>
                    <a:pt x="7322" y="2002"/>
                  </a:lnTo>
                  <a:cubicBezTo>
                    <a:pt x="7322" y="2467"/>
                    <a:pt x="8797" y="2845"/>
                    <a:pt x="10617" y="2845"/>
                  </a:cubicBezTo>
                  <a:cubicBezTo>
                    <a:pt x="12437" y="2845"/>
                    <a:pt x="13912" y="2467"/>
                    <a:pt x="13912" y="2002"/>
                  </a:cubicBezTo>
                  <a:close/>
                  <a:moveTo>
                    <a:pt x="9519" y="17575"/>
                  </a:moveTo>
                  <a:cubicBezTo>
                    <a:pt x="8001" y="17524"/>
                    <a:pt x="6581" y="17384"/>
                    <a:pt x="5323" y="17175"/>
                  </a:cubicBezTo>
                  <a:lnTo>
                    <a:pt x="5323" y="20757"/>
                  </a:lnTo>
                  <a:cubicBezTo>
                    <a:pt x="5858" y="21179"/>
                    <a:pt x="8054" y="21600"/>
                    <a:pt x="9519" y="20757"/>
                  </a:cubicBezTo>
                  <a:close/>
                  <a:moveTo>
                    <a:pt x="21600" y="14540"/>
                  </a:moveTo>
                  <a:lnTo>
                    <a:pt x="21600" y="12855"/>
                  </a:lnTo>
                  <a:cubicBezTo>
                    <a:pt x="21600" y="13549"/>
                    <a:pt x="20782" y="14189"/>
                    <a:pt x="19403" y="14702"/>
                  </a:cubicBezTo>
                  <a:cubicBezTo>
                    <a:pt x="18688" y="14968"/>
                    <a:pt x="17822" y="15200"/>
                    <a:pt x="16841" y="15388"/>
                  </a:cubicBezTo>
                  <a:cubicBezTo>
                    <a:pt x="16107" y="15528"/>
                    <a:pt x="15308" y="15644"/>
                    <a:pt x="14461" y="15730"/>
                  </a:cubicBezTo>
                  <a:cubicBezTo>
                    <a:pt x="13648" y="15813"/>
                    <a:pt x="12789" y="15869"/>
                    <a:pt x="11898" y="15895"/>
                  </a:cubicBezTo>
                  <a:cubicBezTo>
                    <a:pt x="11537" y="15905"/>
                    <a:pt x="11171" y="15910"/>
                    <a:pt x="10800" y="15910"/>
                  </a:cubicBezTo>
                  <a:cubicBezTo>
                    <a:pt x="10303" y="15910"/>
                    <a:pt x="9814" y="15901"/>
                    <a:pt x="9336" y="15882"/>
                  </a:cubicBezTo>
                  <a:cubicBezTo>
                    <a:pt x="8442" y="15848"/>
                    <a:pt x="7583" y="15783"/>
                    <a:pt x="6773" y="15691"/>
                  </a:cubicBezTo>
                  <a:cubicBezTo>
                    <a:pt x="5920" y="15594"/>
                    <a:pt x="5122" y="15467"/>
                    <a:pt x="4393" y="15315"/>
                  </a:cubicBezTo>
                  <a:cubicBezTo>
                    <a:pt x="3807" y="15201"/>
                    <a:pt x="3417" y="15102"/>
                    <a:pt x="3295" y="15067"/>
                  </a:cubicBezTo>
                  <a:lnTo>
                    <a:pt x="3295" y="16738"/>
                  </a:lnTo>
                  <a:cubicBezTo>
                    <a:pt x="3906" y="16905"/>
                    <a:pt x="4587" y="17052"/>
                    <a:pt x="5323" y="17175"/>
                  </a:cubicBezTo>
                  <a:cubicBezTo>
                    <a:pt x="6581" y="17384"/>
                    <a:pt x="8001" y="17524"/>
                    <a:pt x="9519" y="17575"/>
                  </a:cubicBezTo>
                  <a:cubicBezTo>
                    <a:pt x="9939" y="17589"/>
                    <a:pt x="10366" y="17596"/>
                    <a:pt x="10800" y="17596"/>
                  </a:cubicBezTo>
                  <a:cubicBezTo>
                    <a:pt x="11171" y="17596"/>
                    <a:pt x="11537" y="17591"/>
                    <a:pt x="11898" y="17580"/>
                  </a:cubicBezTo>
                  <a:cubicBezTo>
                    <a:pt x="13272" y="17541"/>
                    <a:pt x="14570" y="17429"/>
                    <a:pt x="15742" y="17258"/>
                  </a:cubicBezTo>
                  <a:cubicBezTo>
                    <a:pt x="19221" y="16751"/>
                    <a:pt x="21600" y="15724"/>
                    <a:pt x="21600" y="14540"/>
                  </a:cubicBezTo>
                  <a:close/>
                  <a:moveTo>
                    <a:pt x="11898" y="17580"/>
                  </a:moveTo>
                  <a:lnTo>
                    <a:pt x="11898" y="19493"/>
                  </a:lnTo>
                  <a:cubicBezTo>
                    <a:pt x="12631" y="20125"/>
                    <a:pt x="15376" y="20020"/>
                    <a:pt x="15742" y="19387"/>
                  </a:cubicBezTo>
                  <a:lnTo>
                    <a:pt x="15742" y="17258"/>
                  </a:lnTo>
                  <a:cubicBezTo>
                    <a:pt x="14570" y="17429"/>
                    <a:pt x="13272" y="17541"/>
                    <a:pt x="11898" y="17580"/>
                  </a:cubicBezTo>
                  <a:close/>
                  <a:moveTo>
                    <a:pt x="1830" y="10436"/>
                  </a:moveTo>
                  <a:cubicBezTo>
                    <a:pt x="675" y="9983"/>
                    <a:pt x="0" y="9438"/>
                    <a:pt x="0" y="8851"/>
                  </a:cubicBezTo>
                  <a:lnTo>
                    <a:pt x="0" y="11482"/>
                  </a:lnTo>
                  <a:lnTo>
                    <a:pt x="1830" y="12830"/>
                  </a:lnTo>
                  <a:close/>
                  <a:moveTo>
                    <a:pt x="4393" y="15315"/>
                  </a:moveTo>
                  <a:lnTo>
                    <a:pt x="4393" y="11141"/>
                  </a:lnTo>
                  <a:cubicBezTo>
                    <a:pt x="3393" y="10947"/>
                    <a:pt x="2525" y="10708"/>
                    <a:pt x="1830" y="10436"/>
                  </a:cubicBezTo>
                  <a:lnTo>
                    <a:pt x="1830" y="12830"/>
                  </a:lnTo>
                  <a:lnTo>
                    <a:pt x="3295" y="13908"/>
                  </a:lnTo>
                  <a:lnTo>
                    <a:pt x="3295" y="15067"/>
                  </a:lnTo>
                  <a:cubicBezTo>
                    <a:pt x="3417" y="15102"/>
                    <a:pt x="3807" y="15201"/>
                    <a:pt x="4393" y="15315"/>
                  </a:cubicBezTo>
                  <a:close/>
                  <a:moveTo>
                    <a:pt x="6773" y="15691"/>
                  </a:moveTo>
                  <a:lnTo>
                    <a:pt x="6773" y="11491"/>
                  </a:lnTo>
                  <a:cubicBezTo>
                    <a:pt x="5920" y="11401"/>
                    <a:pt x="5122" y="11283"/>
                    <a:pt x="4393" y="11141"/>
                  </a:cubicBezTo>
                  <a:lnTo>
                    <a:pt x="4393" y="15315"/>
                  </a:lnTo>
                  <a:cubicBezTo>
                    <a:pt x="5122" y="15467"/>
                    <a:pt x="5920" y="15594"/>
                    <a:pt x="6773" y="15691"/>
                  </a:cubicBezTo>
                  <a:close/>
                  <a:moveTo>
                    <a:pt x="9336" y="15882"/>
                  </a:moveTo>
                  <a:lnTo>
                    <a:pt x="9336" y="11670"/>
                  </a:lnTo>
                  <a:cubicBezTo>
                    <a:pt x="8442" y="11638"/>
                    <a:pt x="7583" y="11577"/>
                    <a:pt x="6773" y="11491"/>
                  </a:cubicBezTo>
                  <a:lnTo>
                    <a:pt x="6773" y="15691"/>
                  </a:lnTo>
                  <a:cubicBezTo>
                    <a:pt x="7583" y="15783"/>
                    <a:pt x="8442" y="15848"/>
                    <a:pt x="9336" y="15882"/>
                  </a:cubicBezTo>
                  <a:close/>
                  <a:moveTo>
                    <a:pt x="9336" y="15882"/>
                  </a:moveTo>
                  <a:cubicBezTo>
                    <a:pt x="9814" y="15901"/>
                    <a:pt x="10303" y="15910"/>
                    <a:pt x="10800" y="15910"/>
                  </a:cubicBezTo>
                  <a:cubicBezTo>
                    <a:pt x="11171" y="15910"/>
                    <a:pt x="11537" y="15905"/>
                    <a:pt x="11898" y="15895"/>
                  </a:cubicBezTo>
                  <a:lnTo>
                    <a:pt x="11898" y="11681"/>
                  </a:lnTo>
                  <a:cubicBezTo>
                    <a:pt x="11537" y="11691"/>
                    <a:pt x="11171" y="11696"/>
                    <a:pt x="10800" y="11696"/>
                  </a:cubicBezTo>
                  <a:cubicBezTo>
                    <a:pt x="10303" y="11696"/>
                    <a:pt x="9814" y="11687"/>
                    <a:pt x="9336" y="11670"/>
                  </a:cubicBezTo>
                  <a:close/>
                  <a:moveTo>
                    <a:pt x="11898" y="11681"/>
                  </a:moveTo>
                  <a:lnTo>
                    <a:pt x="11898" y="15895"/>
                  </a:lnTo>
                  <a:cubicBezTo>
                    <a:pt x="12789" y="15869"/>
                    <a:pt x="13648" y="15813"/>
                    <a:pt x="14461" y="15730"/>
                  </a:cubicBezTo>
                  <a:lnTo>
                    <a:pt x="14461" y="11528"/>
                  </a:lnTo>
                  <a:cubicBezTo>
                    <a:pt x="13648" y="11605"/>
                    <a:pt x="12789" y="11657"/>
                    <a:pt x="11898" y="11681"/>
                  </a:cubicBezTo>
                  <a:close/>
                  <a:moveTo>
                    <a:pt x="14461" y="11528"/>
                  </a:moveTo>
                  <a:lnTo>
                    <a:pt x="14461" y="15730"/>
                  </a:lnTo>
                  <a:cubicBezTo>
                    <a:pt x="15308" y="15644"/>
                    <a:pt x="16107" y="15528"/>
                    <a:pt x="16841" y="15388"/>
                  </a:cubicBezTo>
                  <a:lnTo>
                    <a:pt x="16841" y="11209"/>
                  </a:lnTo>
                  <a:cubicBezTo>
                    <a:pt x="16107" y="11340"/>
                    <a:pt x="15308" y="11448"/>
                    <a:pt x="14461" y="11528"/>
                  </a:cubicBezTo>
                  <a:close/>
                  <a:moveTo>
                    <a:pt x="16841" y="11209"/>
                  </a:moveTo>
                  <a:lnTo>
                    <a:pt x="16841" y="15388"/>
                  </a:lnTo>
                  <a:cubicBezTo>
                    <a:pt x="17822" y="15200"/>
                    <a:pt x="18688" y="14968"/>
                    <a:pt x="19403" y="14702"/>
                  </a:cubicBezTo>
                  <a:lnTo>
                    <a:pt x="19403" y="10571"/>
                  </a:lnTo>
                  <a:cubicBezTo>
                    <a:pt x="18688" y="10819"/>
                    <a:pt x="17822" y="11035"/>
                    <a:pt x="16841" y="11209"/>
                  </a:cubicBezTo>
                  <a:close/>
                  <a:moveTo>
                    <a:pt x="21600" y="12855"/>
                  </a:moveTo>
                  <a:lnTo>
                    <a:pt x="21600" y="8851"/>
                  </a:lnTo>
                  <a:cubicBezTo>
                    <a:pt x="21600" y="9497"/>
                    <a:pt x="20782" y="10093"/>
                    <a:pt x="19403" y="10571"/>
                  </a:cubicBezTo>
                  <a:lnTo>
                    <a:pt x="19403" y="14702"/>
                  </a:lnTo>
                  <a:cubicBezTo>
                    <a:pt x="20782" y="14189"/>
                    <a:pt x="21600" y="13549"/>
                    <a:pt x="21600" y="12855"/>
                  </a:cubicBezTo>
                  <a:close/>
                  <a:moveTo>
                    <a:pt x="10617" y="1580"/>
                  </a:moveTo>
                  <a:cubicBezTo>
                    <a:pt x="12437" y="1580"/>
                    <a:pt x="13912" y="1203"/>
                    <a:pt x="13912" y="738"/>
                  </a:cubicBezTo>
                  <a:cubicBezTo>
                    <a:pt x="13912" y="445"/>
                    <a:pt x="13330" y="188"/>
                    <a:pt x="12446" y="36"/>
                  </a:cubicBezTo>
                  <a:cubicBezTo>
                    <a:pt x="12413" y="601"/>
                    <a:pt x="11607" y="843"/>
                    <a:pt x="10617" y="843"/>
                  </a:cubicBezTo>
                  <a:cubicBezTo>
                    <a:pt x="9627" y="843"/>
                    <a:pt x="8821" y="601"/>
                    <a:pt x="8787" y="36"/>
                  </a:cubicBezTo>
                  <a:cubicBezTo>
                    <a:pt x="7904" y="188"/>
                    <a:pt x="7322" y="445"/>
                    <a:pt x="7322" y="738"/>
                  </a:cubicBezTo>
                  <a:cubicBezTo>
                    <a:pt x="7322" y="1203"/>
                    <a:pt x="8797" y="1580"/>
                    <a:pt x="10617" y="1580"/>
                  </a:cubicBezTo>
                  <a:close/>
                  <a:moveTo>
                    <a:pt x="13912" y="738"/>
                  </a:moveTo>
                  <a:lnTo>
                    <a:pt x="13912" y="6217"/>
                  </a:lnTo>
                  <a:moveTo>
                    <a:pt x="7322" y="738"/>
                  </a:moveTo>
                  <a:lnTo>
                    <a:pt x="7322" y="6217"/>
                  </a:lnTo>
                  <a:moveTo>
                    <a:pt x="10800" y="17596"/>
                  </a:moveTo>
                  <a:cubicBezTo>
                    <a:pt x="8801" y="17596"/>
                    <a:pt x="6929" y="17442"/>
                    <a:pt x="5323" y="17175"/>
                  </a:cubicBezTo>
                  <a:moveTo>
                    <a:pt x="8786" y="0"/>
                  </a:moveTo>
                  <a:cubicBezTo>
                    <a:pt x="8786" y="12"/>
                    <a:pt x="8787" y="24"/>
                    <a:pt x="8787" y="36"/>
                  </a:cubicBezTo>
                  <a:moveTo>
                    <a:pt x="12447" y="0"/>
                  </a:moveTo>
                  <a:cubicBezTo>
                    <a:pt x="12447" y="12"/>
                    <a:pt x="12447" y="24"/>
                    <a:pt x="12446" y="36"/>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31" name="Rounded Rectangle 41"/>
            <p:cNvSpPr/>
            <p:nvPr/>
          </p:nvSpPr>
          <p:spPr>
            <a:xfrm>
              <a:off x="644690" y="197521"/>
              <a:ext cx="54870" cy="34935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551"/>
                  </a:lnTo>
                  <a:cubicBezTo>
                    <a:pt x="0" y="21567"/>
                    <a:pt x="2" y="21584"/>
                    <a:pt x="6" y="21600"/>
                  </a:cubicBezTo>
                  <a:moveTo>
                    <a:pt x="21600" y="1"/>
                  </a:moveTo>
                  <a:lnTo>
                    <a:pt x="21600" y="21551"/>
                  </a:lnTo>
                  <a:cubicBezTo>
                    <a:pt x="21600" y="21567"/>
                    <a:pt x="21598" y="21584"/>
                    <a:pt x="21594" y="21600"/>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32" name="Rounded Rectangle 42"/>
            <p:cNvSpPr/>
            <p:nvPr/>
          </p:nvSpPr>
          <p:spPr>
            <a:xfrm>
              <a:off x="0" y="-2"/>
              <a:ext cx="699561" cy="19755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3"/>
                    <a:pt x="18873" y="4"/>
                    <a:pt x="15505" y="3"/>
                  </a:cubicBezTo>
                  <a:lnTo>
                    <a:pt x="0" y="0"/>
                  </a:lnTo>
                  <a:lnTo>
                    <a:pt x="0" y="5999"/>
                  </a:lnTo>
                  <a:lnTo>
                    <a:pt x="15501" y="5999"/>
                  </a:lnTo>
                  <a:cubicBezTo>
                    <a:pt x="17934" y="5999"/>
                    <a:pt x="19906" y="12983"/>
                    <a:pt x="19906" y="21597"/>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37" name="Group 47"/>
          <p:cNvGrpSpPr/>
          <p:nvPr/>
        </p:nvGrpSpPr>
        <p:grpSpPr>
          <a:xfrm>
            <a:off x="4429787" y="3447006"/>
            <a:ext cx="562393" cy="802757"/>
            <a:chOff x="0" y="-1"/>
            <a:chExt cx="562392" cy="802756"/>
          </a:xfrm>
        </p:grpSpPr>
        <p:sp>
          <p:nvSpPr>
            <p:cNvPr id="334" name="Rounded Rectangle 44"/>
            <p:cNvSpPr/>
            <p:nvPr/>
          </p:nvSpPr>
          <p:spPr>
            <a:xfrm>
              <a:off x="238672" y="249646"/>
              <a:ext cx="323720" cy="553110"/>
            </a:xfrm>
            <a:custGeom>
              <a:avLst/>
              <a:gdLst/>
              <a:ahLst/>
              <a:cxnLst>
                <a:cxn ang="0">
                  <a:pos x="wd2" y="hd2"/>
                </a:cxn>
                <a:cxn ang="5400000">
                  <a:pos x="wd2" y="hd2"/>
                </a:cxn>
                <a:cxn ang="10800000">
                  <a:pos x="wd2" y="hd2"/>
                </a:cxn>
                <a:cxn ang="16200000">
                  <a:pos x="wd2" y="hd2"/>
                </a:cxn>
              </a:cxnLst>
              <a:rect l="0" t="0" r="r" b="b"/>
              <a:pathLst>
                <a:path w="21600" h="21244" extrusionOk="0">
                  <a:moveTo>
                    <a:pt x="0" y="14540"/>
                  </a:moveTo>
                  <a:lnTo>
                    <a:pt x="0" y="8851"/>
                  </a:lnTo>
                  <a:cubicBezTo>
                    <a:pt x="0" y="9438"/>
                    <a:pt x="674" y="9983"/>
                    <a:pt x="1830" y="10436"/>
                  </a:cubicBezTo>
                  <a:cubicBezTo>
                    <a:pt x="2525" y="10708"/>
                    <a:pt x="3393" y="10947"/>
                    <a:pt x="4393" y="11141"/>
                  </a:cubicBezTo>
                  <a:cubicBezTo>
                    <a:pt x="5122" y="11283"/>
                    <a:pt x="5921"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9" y="11448"/>
                    <a:pt x="16107" y="11340"/>
                    <a:pt x="16841" y="11209"/>
                  </a:cubicBezTo>
                  <a:cubicBezTo>
                    <a:pt x="17822" y="11035"/>
                    <a:pt x="18688" y="10819"/>
                    <a:pt x="19403" y="10571"/>
                  </a:cubicBezTo>
                  <a:cubicBezTo>
                    <a:pt x="20782" y="10093"/>
                    <a:pt x="21600" y="9497"/>
                    <a:pt x="21600" y="8851"/>
                  </a:cubicBezTo>
                  <a:lnTo>
                    <a:pt x="21600" y="14540"/>
                  </a:lnTo>
                  <a:cubicBezTo>
                    <a:pt x="21600" y="15724"/>
                    <a:pt x="19221" y="16751"/>
                    <a:pt x="15742" y="17258"/>
                  </a:cubicBezTo>
                  <a:lnTo>
                    <a:pt x="15742" y="19387"/>
                  </a:lnTo>
                  <a:cubicBezTo>
                    <a:pt x="15376" y="20020"/>
                    <a:pt x="12631" y="20125"/>
                    <a:pt x="11898" y="19493"/>
                  </a:cubicBezTo>
                  <a:lnTo>
                    <a:pt x="11898" y="17580"/>
                  </a:lnTo>
                  <a:cubicBezTo>
                    <a:pt x="11537" y="17591"/>
                    <a:pt x="11171" y="17596"/>
                    <a:pt x="10800" y="17596"/>
                  </a:cubicBezTo>
                  <a:cubicBezTo>
                    <a:pt x="8801" y="17596"/>
                    <a:pt x="6929" y="17442"/>
                    <a:pt x="5323" y="17175"/>
                  </a:cubicBezTo>
                  <a:cubicBezTo>
                    <a:pt x="2138" y="16643"/>
                    <a:pt x="0" y="15662"/>
                    <a:pt x="0" y="14540"/>
                  </a:cubicBezTo>
                  <a:moveTo>
                    <a:pt x="17573" y="6217"/>
                  </a:moveTo>
                  <a:cubicBezTo>
                    <a:pt x="17573" y="7264"/>
                    <a:pt x="14540" y="8113"/>
                    <a:pt x="10800" y="8113"/>
                  </a:cubicBezTo>
                  <a:cubicBezTo>
                    <a:pt x="7060" y="8113"/>
                    <a:pt x="4027" y="7264"/>
                    <a:pt x="4027" y="6217"/>
                  </a:cubicBezTo>
                  <a:cubicBezTo>
                    <a:pt x="4027" y="6001"/>
                    <a:pt x="4156" y="5793"/>
                    <a:pt x="4393" y="5600"/>
                  </a:cubicBezTo>
                  <a:lnTo>
                    <a:pt x="0" y="8851"/>
                  </a:lnTo>
                  <a:cubicBezTo>
                    <a:pt x="0" y="9438"/>
                    <a:pt x="674" y="9983"/>
                    <a:pt x="1830" y="10436"/>
                  </a:cubicBezTo>
                  <a:cubicBezTo>
                    <a:pt x="2525" y="10708"/>
                    <a:pt x="3393" y="10947"/>
                    <a:pt x="4393" y="11141"/>
                  </a:cubicBezTo>
                  <a:cubicBezTo>
                    <a:pt x="5122" y="11283"/>
                    <a:pt x="5921" y="11401"/>
                    <a:pt x="6773" y="11491"/>
                  </a:cubicBezTo>
                  <a:cubicBezTo>
                    <a:pt x="7583" y="11577"/>
                    <a:pt x="8442" y="11638"/>
                    <a:pt x="9336" y="11670"/>
                  </a:cubicBezTo>
                  <a:cubicBezTo>
                    <a:pt x="9814" y="11687"/>
                    <a:pt x="10303" y="11696"/>
                    <a:pt x="10800" y="11696"/>
                  </a:cubicBezTo>
                  <a:cubicBezTo>
                    <a:pt x="11171" y="11696"/>
                    <a:pt x="11537" y="11691"/>
                    <a:pt x="11898" y="11681"/>
                  </a:cubicBezTo>
                  <a:cubicBezTo>
                    <a:pt x="12789" y="11657"/>
                    <a:pt x="13648" y="11605"/>
                    <a:pt x="14461" y="11528"/>
                  </a:cubicBezTo>
                  <a:cubicBezTo>
                    <a:pt x="15309" y="11448"/>
                    <a:pt x="16107" y="11340"/>
                    <a:pt x="16841" y="11209"/>
                  </a:cubicBezTo>
                  <a:cubicBezTo>
                    <a:pt x="17822" y="11035"/>
                    <a:pt x="18688" y="10819"/>
                    <a:pt x="19403" y="10571"/>
                  </a:cubicBezTo>
                  <a:cubicBezTo>
                    <a:pt x="20782" y="10093"/>
                    <a:pt x="21600" y="9497"/>
                    <a:pt x="21600" y="8851"/>
                  </a:cubicBezTo>
                  <a:lnTo>
                    <a:pt x="17308" y="5690"/>
                  </a:lnTo>
                  <a:cubicBezTo>
                    <a:pt x="17481" y="5857"/>
                    <a:pt x="17573" y="6034"/>
                    <a:pt x="17573" y="6217"/>
                  </a:cubicBezTo>
                  <a:moveTo>
                    <a:pt x="13912" y="4109"/>
                  </a:moveTo>
                  <a:cubicBezTo>
                    <a:pt x="13912" y="4575"/>
                    <a:pt x="12437" y="4952"/>
                    <a:pt x="10617" y="4952"/>
                  </a:cubicBezTo>
                  <a:cubicBezTo>
                    <a:pt x="8797" y="4952"/>
                    <a:pt x="7322" y="4575"/>
                    <a:pt x="7322" y="4109"/>
                  </a:cubicBezTo>
                  <a:lnTo>
                    <a:pt x="7322" y="5163"/>
                  </a:lnTo>
                  <a:cubicBezTo>
                    <a:pt x="7322" y="5628"/>
                    <a:pt x="8797" y="6006"/>
                    <a:pt x="10617" y="6006"/>
                  </a:cubicBezTo>
                  <a:cubicBezTo>
                    <a:pt x="12437" y="6006"/>
                    <a:pt x="13912" y="5628"/>
                    <a:pt x="13912" y="5163"/>
                  </a:cubicBezTo>
                  <a:cubicBezTo>
                    <a:pt x="13912" y="5628"/>
                    <a:pt x="12437" y="6006"/>
                    <a:pt x="10617" y="6006"/>
                  </a:cubicBezTo>
                  <a:cubicBezTo>
                    <a:pt x="8797" y="6006"/>
                    <a:pt x="7322" y="5628"/>
                    <a:pt x="7322" y="5163"/>
                  </a:cubicBezTo>
                  <a:lnTo>
                    <a:pt x="7322" y="6217"/>
                  </a:lnTo>
                  <a:cubicBezTo>
                    <a:pt x="7322" y="6682"/>
                    <a:pt x="8797" y="7060"/>
                    <a:pt x="10617" y="7060"/>
                  </a:cubicBezTo>
                  <a:cubicBezTo>
                    <a:pt x="12437" y="7060"/>
                    <a:pt x="13912" y="6682"/>
                    <a:pt x="13912" y="6217"/>
                  </a:cubicBezTo>
                  <a:cubicBezTo>
                    <a:pt x="13912" y="6682"/>
                    <a:pt x="12437" y="7060"/>
                    <a:pt x="10617" y="7060"/>
                  </a:cubicBezTo>
                  <a:cubicBezTo>
                    <a:pt x="8797" y="7060"/>
                    <a:pt x="7322" y="6682"/>
                    <a:pt x="7322" y="6217"/>
                  </a:cubicBezTo>
                  <a:lnTo>
                    <a:pt x="7322" y="4589"/>
                  </a:lnTo>
                  <a:cubicBezTo>
                    <a:pt x="5965" y="4817"/>
                    <a:pt x="4916" y="5174"/>
                    <a:pt x="4393" y="5600"/>
                  </a:cubicBezTo>
                  <a:cubicBezTo>
                    <a:pt x="4156" y="5793"/>
                    <a:pt x="4027" y="6001"/>
                    <a:pt x="4027" y="6217"/>
                  </a:cubicBezTo>
                  <a:cubicBezTo>
                    <a:pt x="4027" y="7264"/>
                    <a:pt x="7060" y="8113"/>
                    <a:pt x="10800" y="8113"/>
                  </a:cubicBezTo>
                  <a:cubicBezTo>
                    <a:pt x="14540" y="8113"/>
                    <a:pt x="17573" y="7264"/>
                    <a:pt x="17573" y="6217"/>
                  </a:cubicBezTo>
                  <a:cubicBezTo>
                    <a:pt x="17573" y="6034"/>
                    <a:pt x="17481" y="5857"/>
                    <a:pt x="17308" y="5690"/>
                  </a:cubicBezTo>
                  <a:cubicBezTo>
                    <a:pt x="16789" y="5186"/>
                    <a:pt x="15545" y="4768"/>
                    <a:pt x="13912" y="4532"/>
                  </a:cubicBezTo>
                  <a:lnTo>
                    <a:pt x="13912" y="4109"/>
                  </a:lnTo>
                  <a:moveTo>
                    <a:pt x="13912" y="3056"/>
                  </a:moveTo>
                  <a:cubicBezTo>
                    <a:pt x="13912" y="3521"/>
                    <a:pt x="12437" y="3899"/>
                    <a:pt x="10617" y="3899"/>
                  </a:cubicBezTo>
                  <a:cubicBezTo>
                    <a:pt x="8797" y="3899"/>
                    <a:pt x="7322" y="3521"/>
                    <a:pt x="7322" y="3056"/>
                  </a:cubicBezTo>
                  <a:lnTo>
                    <a:pt x="7322" y="4109"/>
                  </a:lnTo>
                  <a:cubicBezTo>
                    <a:pt x="7322" y="4575"/>
                    <a:pt x="8797" y="4952"/>
                    <a:pt x="10617" y="4952"/>
                  </a:cubicBezTo>
                  <a:cubicBezTo>
                    <a:pt x="12437" y="4952"/>
                    <a:pt x="13912" y="4575"/>
                    <a:pt x="13912" y="4109"/>
                  </a:cubicBezTo>
                  <a:lnTo>
                    <a:pt x="13912" y="3056"/>
                  </a:lnTo>
                  <a:moveTo>
                    <a:pt x="10617" y="3899"/>
                  </a:moveTo>
                  <a:cubicBezTo>
                    <a:pt x="12437" y="3899"/>
                    <a:pt x="13912" y="3521"/>
                    <a:pt x="13912" y="3056"/>
                  </a:cubicBezTo>
                  <a:lnTo>
                    <a:pt x="13912" y="2002"/>
                  </a:lnTo>
                  <a:cubicBezTo>
                    <a:pt x="13912" y="2467"/>
                    <a:pt x="12437" y="2845"/>
                    <a:pt x="10617" y="2845"/>
                  </a:cubicBezTo>
                  <a:cubicBezTo>
                    <a:pt x="8797" y="2845"/>
                    <a:pt x="7322" y="2467"/>
                    <a:pt x="7322" y="2002"/>
                  </a:cubicBezTo>
                  <a:lnTo>
                    <a:pt x="7322" y="3056"/>
                  </a:lnTo>
                  <a:cubicBezTo>
                    <a:pt x="7322" y="3521"/>
                    <a:pt x="8797" y="3899"/>
                    <a:pt x="10617" y="3899"/>
                  </a:cubicBezTo>
                  <a:moveTo>
                    <a:pt x="13912" y="806"/>
                  </a:moveTo>
                  <a:cubicBezTo>
                    <a:pt x="13912" y="1272"/>
                    <a:pt x="12437" y="1649"/>
                    <a:pt x="10617" y="1649"/>
                  </a:cubicBezTo>
                  <a:cubicBezTo>
                    <a:pt x="8797" y="1649"/>
                    <a:pt x="7322" y="1272"/>
                    <a:pt x="7322" y="806"/>
                  </a:cubicBezTo>
                  <a:lnTo>
                    <a:pt x="7322" y="2002"/>
                  </a:lnTo>
                  <a:cubicBezTo>
                    <a:pt x="7322" y="2467"/>
                    <a:pt x="8797" y="2845"/>
                    <a:pt x="10617" y="2845"/>
                  </a:cubicBezTo>
                  <a:cubicBezTo>
                    <a:pt x="12437" y="2845"/>
                    <a:pt x="13912" y="2467"/>
                    <a:pt x="13912" y="2002"/>
                  </a:cubicBezTo>
                  <a:lnTo>
                    <a:pt x="13912" y="806"/>
                  </a:lnTo>
                  <a:moveTo>
                    <a:pt x="9519" y="17575"/>
                  </a:moveTo>
                  <a:cubicBezTo>
                    <a:pt x="8001" y="17524"/>
                    <a:pt x="6581" y="17384"/>
                    <a:pt x="5323" y="17175"/>
                  </a:cubicBezTo>
                  <a:lnTo>
                    <a:pt x="5323" y="20757"/>
                  </a:lnTo>
                  <a:cubicBezTo>
                    <a:pt x="5858" y="21179"/>
                    <a:pt x="8054" y="21600"/>
                    <a:pt x="9519" y="20757"/>
                  </a:cubicBezTo>
                  <a:lnTo>
                    <a:pt x="9519" y="17575"/>
                  </a:lnTo>
                  <a:moveTo>
                    <a:pt x="10617" y="1649"/>
                  </a:moveTo>
                  <a:cubicBezTo>
                    <a:pt x="12437" y="1649"/>
                    <a:pt x="13912" y="1272"/>
                    <a:pt x="13912" y="806"/>
                  </a:cubicBezTo>
                  <a:cubicBezTo>
                    <a:pt x="13912" y="514"/>
                    <a:pt x="13330" y="256"/>
                    <a:pt x="12446" y="105"/>
                  </a:cubicBezTo>
                  <a:cubicBezTo>
                    <a:pt x="12413" y="671"/>
                    <a:pt x="11607" y="843"/>
                    <a:pt x="10617" y="843"/>
                  </a:cubicBezTo>
                  <a:cubicBezTo>
                    <a:pt x="9627" y="843"/>
                    <a:pt x="8821" y="671"/>
                    <a:pt x="8787" y="105"/>
                  </a:cubicBezTo>
                  <a:cubicBezTo>
                    <a:pt x="7904" y="256"/>
                    <a:pt x="7322" y="514"/>
                    <a:pt x="7322" y="806"/>
                  </a:cubicBezTo>
                  <a:cubicBezTo>
                    <a:pt x="7322" y="1272"/>
                    <a:pt x="8797" y="1649"/>
                    <a:pt x="10617" y="1649"/>
                  </a:cubicBezTo>
                  <a:moveTo>
                    <a:pt x="8787" y="105"/>
                  </a:moveTo>
                  <a:cubicBezTo>
                    <a:pt x="8821" y="671"/>
                    <a:pt x="9627" y="843"/>
                    <a:pt x="10617" y="843"/>
                  </a:cubicBezTo>
                  <a:cubicBezTo>
                    <a:pt x="11607" y="843"/>
                    <a:pt x="12413" y="671"/>
                    <a:pt x="12446" y="105"/>
                  </a:cubicBezTo>
                  <a:cubicBezTo>
                    <a:pt x="12447" y="93"/>
                    <a:pt x="12447" y="12"/>
                    <a:pt x="12447" y="0"/>
                  </a:cubicBezTo>
                  <a:lnTo>
                    <a:pt x="8786" y="0"/>
                  </a:lnTo>
                  <a:cubicBezTo>
                    <a:pt x="8786" y="12"/>
                    <a:pt x="8787" y="93"/>
                    <a:pt x="8787" y="105"/>
                  </a:cubicBezTo>
                  <a:moveTo>
                    <a:pt x="11898" y="17580"/>
                  </a:moveTo>
                  <a:cubicBezTo>
                    <a:pt x="13272" y="17541"/>
                    <a:pt x="14570" y="17429"/>
                    <a:pt x="15742" y="17258"/>
                  </a:cubicBezTo>
                  <a:lnTo>
                    <a:pt x="11898" y="1758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35" name="Rounded Rectangle 45"/>
            <p:cNvSpPr/>
            <p:nvPr/>
          </p:nvSpPr>
          <p:spPr>
            <a:xfrm>
              <a:off x="370353" y="197522"/>
              <a:ext cx="54870" cy="52126"/>
            </a:xfrm>
            <a:prstGeom prst="rect">
              <a:avLst/>
            </a:pr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36" name="Rounded Rectangle 46"/>
            <p:cNvSpPr/>
            <p:nvPr/>
          </p:nvSpPr>
          <p:spPr>
            <a:xfrm>
              <a:off x="-1" y="-2"/>
              <a:ext cx="425224" cy="197526"/>
            </a:xfrm>
            <a:custGeom>
              <a:avLst/>
              <a:gdLst/>
              <a:ahLst/>
              <a:cxnLst>
                <a:cxn ang="0">
                  <a:pos x="wd2" y="hd2"/>
                </a:cxn>
                <a:cxn ang="5400000">
                  <a:pos x="wd2" y="hd2"/>
                </a:cxn>
                <a:cxn ang="10800000">
                  <a:pos x="wd2" y="hd2"/>
                </a:cxn>
                <a:cxn ang="16200000">
                  <a:pos x="wd2" y="hd2"/>
                </a:cxn>
              </a:cxnLst>
              <a:rect l="0" t="0" r="r" b="b"/>
              <a:pathLst>
                <a:path w="21600" h="21600" extrusionOk="0">
                  <a:moveTo>
                    <a:pt x="0" y="6000"/>
                  </a:moveTo>
                  <a:lnTo>
                    <a:pt x="11566" y="6000"/>
                  </a:lnTo>
                  <a:cubicBezTo>
                    <a:pt x="15568" y="6000"/>
                    <a:pt x="18813" y="12985"/>
                    <a:pt x="18813" y="21600"/>
                  </a:cubicBezTo>
                  <a:lnTo>
                    <a:pt x="21600" y="21600"/>
                  </a:lnTo>
                  <a:cubicBezTo>
                    <a:pt x="21600" y="9673"/>
                    <a:pt x="17110" y="3"/>
                    <a:pt x="11569" y="2"/>
                  </a:cubicBezTo>
                  <a:cubicBezTo>
                    <a:pt x="7518" y="1"/>
                    <a:pt x="3082" y="0"/>
                    <a:pt x="0" y="0"/>
                  </a:cubicBezTo>
                  <a:lnTo>
                    <a:pt x="0" y="6000"/>
                  </a:lnTo>
                </a:path>
              </a:pathLst>
            </a:custGeom>
            <a:solidFill>
              <a:srgbClr val="2F2F33"/>
            </a:solidFill>
            <a:ln w="12700" cap="flat">
              <a:noFill/>
              <a:miter lim="400000"/>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41" name="Group 51"/>
          <p:cNvGrpSpPr/>
          <p:nvPr/>
        </p:nvGrpSpPr>
        <p:grpSpPr>
          <a:xfrm>
            <a:off x="4429787" y="3447007"/>
            <a:ext cx="562393" cy="802756"/>
            <a:chOff x="0" y="0"/>
            <a:chExt cx="562392" cy="802755"/>
          </a:xfrm>
        </p:grpSpPr>
        <p:sp>
          <p:nvSpPr>
            <p:cNvPr id="338" name="Rounded Rectangle 48"/>
            <p:cNvSpPr/>
            <p:nvPr/>
          </p:nvSpPr>
          <p:spPr>
            <a:xfrm>
              <a:off x="238672" y="252389"/>
              <a:ext cx="323720" cy="550367"/>
            </a:xfrm>
            <a:custGeom>
              <a:avLst/>
              <a:gdLst/>
              <a:ahLst/>
              <a:cxnLst>
                <a:cxn ang="0">
                  <a:pos x="wd2" y="hd2"/>
                </a:cxn>
                <a:cxn ang="5400000">
                  <a:pos x="wd2" y="hd2"/>
                </a:cxn>
                <a:cxn ang="10800000">
                  <a:pos x="wd2" y="hd2"/>
                </a:cxn>
                <a:cxn ang="16200000">
                  <a:pos x="wd2" y="hd2"/>
                </a:cxn>
              </a:cxnLst>
              <a:rect l="0" t="0" r="r" b="b"/>
              <a:pathLst>
                <a:path w="21600" h="21242" extrusionOk="0">
                  <a:moveTo>
                    <a:pt x="0" y="14506"/>
                  </a:moveTo>
                  <a:lnTo>
                    <a:pt x="0" y="8788"/>
                  </a:lnTo>
                  <a:cubicBezTo>
                    <a:pt x="0" y="9378"/>
                    <a:pt x="675" y="9926"/>
                    <a:pt x="1830" y="10381"/>
                  </a:cubicBezTo>
                  <a:cubicBezTo>
                    <a:pt x="2525" y="10655"/>
                    <a:pt x="3393" y="10895"/>
                    <a:pt x="4393" y="11090"/>
                  </a:cubicBezTo>
                  <a:cubicBezTo>
                    <a:pt x="5122" y="11232"/>
                    <a:pt x="5920" y="11351"/>
                    <a:pt x="6773" y="11442"/>
                  </a:cubicBezTo>
                  <a:cubicBezTo>
                    <a:pt x="7583" y="11528"/>
                    <a:pt x="8442" y="11589"/>
                    <a:pt x="9336" y="11621"/>
                  </a:cubicBezTo>
                  <a:cubicBezTo>
                    <a:pt x="9814" y="11638"/>
                    <a:pt x="10303" y="11647"/>
                    <a:pt x="10800" y="11647"/>
                  </a:cubicBezTo>
                  <a:cubicBezTo>
                    <a:pt x="11171" y="11647"/>
                    <a:pt x="11537" y="11642"/>
                    <a:pt x="11898" y="11632"/>
                  </a:cubicBezTo>
                  <a:cubicBezTo>
                    <a:pt x="12789" y="11609"/>
                    <a:pt x="13648" y="11556"/>
                    <a:pt x="14461" y="11479"/>
                  </a:cubicBezTo>
                  <a:cubicBezTo>
                    <a:pt x="15308" y="11398"/>
                    <a:pt x="16107" y="11290"/>
                    <a:pt x="16841" y="11158"/>
                  </a:cubicBezTo>
                  <a:cubicBezTo>
                    <a:pt x="17822" y="10983"/>
                    <a:pt x="18688" y="10766"/>
                    <a:pt x="19403" y="10517"/>
                  </a:cubicBezTo>
                  <a:cubicBezTo>
                    <a:pt x="20782" y="10037"/>
                    <a:pt x="21600" y="9438"/>
                    <a:pt x="21600" y="8788"/>
                  </a:cubicBezTo>
                  <a:lnTo>
                    <a:pt x="21600" y="14506"/>
                  </a:lnTo>
                  <a:cubicBezTo>
                    <a:pt x="21600" y="15695"/>
                    <a:pt x="19221" y="16727"/>
                    <a:pt x="15742" y="17237"/>
                  </a:cubicBezTo>
                  <a:lnTo>
                    <a:pt x="15742" y="19376"/>
                  </a:lnTo>
                  <a:cubicBezTo>
                    <a:pt x="15376" y="20012"/>
                    <a:pt x="12631" y="20118"/>
                    <a:pt x="11898" y="19482"/>
                  </a:cubicBezTo>
                  <a:lnTo>
                    <a:pt x="11898" y="17561"/>
                  </a:lnTo>
                  <a:cubicBezTo>
                    <a:pt x="11537" y="17571"/>
                    <a:pt x="11171" y="17576"/>
                    <a:pt x="10800" y="17576"/>
                  </a:cubicBezTo>
                  <a:cubicBezTo>
                    <a:pt x="8801" y="17576"/>
                    <a:pt x="6929" y="17422"/>
                    <a:pt x="5323" y="17153"/>
                  </a:cubicBezTo>
                  <a:cubicBezTo>
                    <a:pt x="2137" y="16619"/>
                    <a:pt x="0" y="15633"/>
                    <a:pt x="0" y="14506"/>
                  </a:cubicBezTo>
                  <a:close/>
                  <a:moveTo>
                    <a:pt x="17573" y="6141"/>
                  </a:moveTo>
                  <a:cubicBezTo>
                    <a:pt x="17573" y="7194"/>
                    <a:pt x="14541" y="8047"/>
                    <a:pt x="10800" y="8047"/>
                  </a:cubicBezTo>
                  <a:cubicBezTo>
                    <a:pt x="7059" y="8047"/>
                    <a:pt x="4027" y="7194"/>
                    <a:pt x="4027" y="6141"/>
                  </a:cubicBezTo>
                  <a:cubicBezTo>
                    <a:pt x="4027" y="5924"/>
                    <a:pt x="4156" y="5716"/>
                    <a:pt x="4393" y="5521"/>
                  </a:cubicBezTo>
                  <a:lnTo>
                    <a:pt x="0" y="8788"/>
                  </a:lnTo>
                  <a:cubicBezTo>
                    <a:pt x="0" y="9378"/>
                    <a:pt x="675" y="9926"/>
                    <a:pt x="1830" y="10381"/>
                  </a:cubicBezTo>
                  <a:cubicBezTo>
                    <a:pt x="2525" y="10655"/>
                    <a:pt x="3393" y="10895"/>
                    <a:pt x="4393" y="11090"/>
                  </a:cubicBezTo>
                  <a:cubicBezTo>
                    <a:pt x="5122" y="11232"/>
                    <a:pt x="5920" y="11351"/>
                    <a:pt x="6773" y="11442"/>
                  </a:cubicBezTo>
                  <a:cubicBezTo>
                    <a:pt x="7583" y="11528"/>
                    <a:pt x="8442" y="11589"/>
                    <a:pt x="9336" y="11621"/>
                  </a:cubicBezTo>
                  <a:cubicBezTo>
                    <a:pt x="9814" y="11638"/>
                    <a:pt x="10303" y="11647"/>
                    <a:pt x="10800" y="11647"/>
                  </a:cubicBezTo>
                  <a:cubicBezTo>
                    <a:pt x="11171" y="11647"/>
                    <a:pt x="11537" y="11642"/>
                    <a:pt x="11898" y="11632"/>
                  </a:cubicBezTo>
                  <a:cubicBezTo>
                    <a:pt x="12789" y="11609"/>
                    <a:pt x="13648" y="11556"/>
                    <a:pt x="14461" y="11479"/>
                  </a:cubicBezTo>
                  <a:cubicBezTo>
                    <a:pt x="15308" y="11398"/>
                    <a:pt x="16107" y="11290"/>
                    <a:pt x="16841" y="11158"/>
                  </a:cubicBezTo>
                  <a:cubicBezTo>
                    <a:pt x="17822" y="10983"/>
                    <a:pt x="18688" y="10766"/>
                    <a:pt x="19403" y="10517"/>
                  </a:cubicBezTo>
                  <a:cubicBezTo>
                    <a:pt x="20782" y="10037"/>
                    <a:pt x="21600" y="9438"/>
                    <a:pt x="21600" y="8788"/>
                  </a:cubicBezTo>
                  <a:lnTo>
                    <a:pt x="17308" y="5612"/>
                  </a:lnTo>
                  <a:cubicBezTo>
                    <a:pt x="17481" y="5780"/>
                    <a:pt x="17573" y="5957"/>
                    <a:pt x="17573" y="6141"/>
                  </a:cubicBezTo>
                  <a:close/>
                  <a:moveTo>
                    <a:pt x="13912" y="5082"/>
                  </a:moveTo>
                  <a:lnTo>
                    <a:pt x="13912" y="6141"/>
                  </a:lnTo>
                  <a:cubicBezTo>
                    <a:pt x="13912" y="6609"/>
                    <a:pt x="12437" y="6988"/>
                    <a:pt x="10617" y="6988"/>
                  </a:cubicBezTo>
                  <a:cubicBezTo>
                    <a:pt x="8797" y="6988"/>
                    <a:pt x="7322" y="6609"/>
                    <a:pt x="7322" y="6141"/>
                  </a:cubicBezTo>
                  <a:lnTo>
                    <a:pt x="7322" y="5082"/>
                  </a:lnTo>
                  <a:cubicBezTo>
                    <a:pt x="7322" y="5550"/>
                    <a:pt x="8797" y="5929"/>
                    <a:pt x="10617" y="5929"/>
                  </a:cubicBezTo>
                  <a:cubicBezTo>
                    <a:pt x="12437" y="5929"/>
                    <a:pt x="13912" y="5550"/>
                    <a:pt x="13912" y="5082"/>
                  </a:cubicBezTo>
                  <a:close/>
                  <a:moveTo>
                    <a:pt x="13912" y="6141"/>
                  </a:moveTo>
                  <a:cubicBezTo>
                    <a:pt x="13912" y="6609"/>
                    <a:pt x="12437" y="6988"/>
                    <a:pt x="10617" y="6988"/>
                  </a:cubicBezTo>
                  <a:cubicBezTo>
                    <a:pt x="8797" y="6988"/>
                    <a:pt x="7322" y="6609"/>
                    <a:pt x="7322" y="6141"/>
                  </a:cubicBezTo>
                  <a:lnTo>
                    <a:pt x="7322" y="4505"/>
                  </a:lnTo>
                  <a:cubicBezTo>
                    <a:pt x="5965" y="4734"/>
                    <a:pt x="4916" y="5094"/>
                    <a:pt x="4393" y="5521"/>
                  </a:cubicBezTo>
                  <a:cubicBezTo>
                    <a:pt x="4156" y="5716"/>
                    <a:pt x="4027" y="5924"/>
                    <a:pt x="4027" y="6141"/>
                  </a:cubicBezTo>
                  <a:cubicBezTo>
                    <a:pt x="4027" y="7194"/>
                    <a:pt x="7059" y="8047"/>
                    <a:pt x="10800" y="8047"/>
                  </a:cubicBezTo>
                  <a:cubicBezTo>
                    <a:pt x="14541" y="8047"/>
                    <a:pt x="17573" y="7194"/>
                    <a:pt x="17573" y="6141"/>
                  </a:cubicBezTo>
                  <a:cubicBezTo>
                    <a:pt x="17573" y="5957"/>
                    <a:pt x="17481" y="5780"/>
                    <a:pt x="17308" y="5612"/>
                  </a:cubicBezTo>
                  <a:cubicBezTo>
                    <a:pt x="16789" y="5106"/>
                    <a:pt x="15545" y="4686"/>
                    <a:pt x="13912" y="4448"/>
                  </a:cubicBezTo>
                  <a:lnTo>
                    <a:pt x="13912" y="5082"/>
                  </a:lnTo>
                  <a:close/>
                  <a:moveTo>
                    <a:pt x="13912" y="2965"/>
                  </a:moveTo>
                  <a:cubicBezTo>
                    <a:pt x="13912" y="3432"/>
                    <a:pt x="12437" y="3812"/>
                    <a:pt x="10617" y="3812"/>
                  </a:cubicBezTo>
                  <a:cubicBezTo>
                    <a:pt x="8797" y="3812"/>
                    <a:pt x="7322" y="3432"/>
                    <a:pt x="7322" y="2965"/>
                  </a:cubicBezTo>
                  <a:lnTo>
                    <a:pt x="7322" y="4024"/>
                  </a:lnTo>
                  <a:cubicBezTo>
                    <a:pt x="7322" y="4491"/>
                    <a:pt x="8797" y="4871"/>
                    <a:pt x="10617" y="4871"/>
                  </a:cubicBezTo>
                  <a:cubicBezTo>
                    <a:pt x="12437" y="4871"/>
                    <a:pt x="13912" y="4491"/>
                    <a:pt x="13912" y="4024"/>
                  </a:cubicBezTo>
                  <a:close/>
                  <a:moveTo>
                    <a:pt x="10617" y="5929"/>
                  </a:moveTo>
                  <a:cubicBezTo>
                    <a:pt x="12437" y="5929"/>
                    <a:pt x="13912" y="5550"/>
                    <a:pt x="13912" y="5082"/>
                  </a:cubicBezTo>
                  <a:lnTo>
                    <a:pt x="13912" y="4024"/>
                  </a:lnTo>
                  <a:cubicBezTo>
                    <a:pt x="13912" y="4491"/>
                    <a:pt x="12437" y="4871"/>
                    <a:pt x="10617" y="4871"/>
                  </a:cubicBezTo>
                  <a:cubicBezTo>
                    <a:pt x="8797" y="4871"/>
                    <a:pt x="7322" y="4491"/>
                    <a:pt x="7322" y="4024"/>
                  </a:cubicBezTo>
                  <a:lnTo>
                    <a:pt x="7322" y="5082"/>
                  </a:lnTo>
                  <a:cubicBezTo>
                    <a:pt x="7322" y="5550"/>
                    <a:pt x="8797" y="5929"/>
                    <a:pt x="10617" y="5929"/>
                  </a:cubicBezTo>
                  <a:close/>
                  <a:moveTo>
                    <a:pt x="10617" y="3812"/>
                  </a:moveTo>
                  <a:cubicBezTo>
                    <a:pt x="12437" y="3812"/>
                    <a:pt x="13912" y="3432"/>
                    <a:pt x="13912" y="2965"/>
                  </a:cubicBezTo>
                  <a:lnTo>
                    <a:pt x="13912" y="1906"/>
                  </a:lnTo>
                  <a:cubicBezTo>
                    <a:pt x="13912" y="2374"/>
                    <a:pt x="12437" y="2753"/>
                    <a:pt x="10617" y="2753"/>
                  </a:cubicBezTo>
                  <a:cubicBezTo>
                    <a:pt x="8797" y="2753"/>
                    <a:pt x="7322" y="2374"/>
                    <a:pt x="7322" y="1906"/>
                  </a:cubicBezTo>
                  <a:lnTo>
                    <a:pt x="7322" y="2965"/>
                  </a:lnTo>
                  <a:cubicBezTo>
                    <a:pt x="7322" y="3432"/>
                    <a:pt x="8797" y="3812"/>
                    <a:pt x="10617" y="3812"/>
                  </a:cubicBezTo>
                  <a:close/>
                  <a:moveTo>
                    <a:pt x="13912" y="705"/>
                  </a:moveTo>
                  <a:cubicBezTo>
                    <a:pt x="13912" y="1172"/>
                    <a:pt x="12437" y="1552"/>
                    <a:pt x="10617" y="1552"/>
                  </a:cubicBezTo>
                  <a:cubicBezTo>
                    <a:pt x="8797" y="1552"/>
                    <a:pt x="7322" y="1172"/>
                    <a:pt x="7322" y="705"/>
                  </a:cubicBezTo>
                  <a:lnTo>
                    <a:pt x="7322" y="1906"/>
                  </a:lnTo>
                  <a:cubicBezTo>
                    <a:pt x="7322" y="2374"/>
                    <a:pt x="8797" y="2753"/>
                    <a:pt x="10617" y="2753"/>
                  </a:cubicBezTo>
                  <a:cubicBezTo>
                    <a:pt x="12437" y="2753"/>
                    <a:pt x="13912" y="2374"/>
                    <a:pt x="13912" y="1906"/>
                  </a:cubicBezTo>
                  <a:close/>
                  <a:moveTo>
                    <a:pt x="9519" y="17555"/>
                  </a:moveTo>
                  <a:cubicBezTo>
                    <a:pt x="8001" y="17504"/>
                    <a:pt x="6581" y="17364"/>
                    <a:pt x="5323" y="17153"/>
                  </a:cubicBezTo>
                  <a:lnTo>
                    <a:pt x="5323" y="20753"/>
                  </a:lnTo>
                  <a:cubicBezTo>
                    <a:pt x="5858" y="21176"/>
                    <a:pt x="8054" y="21600"/>
                    <a:pt x="9519" y="20753"/>
                  </a:cubicBezTo>
                  <a:close/>
                  <a:moveTo>
                    <a:pt x="10617" y="1552"/>
                  </a:moveTo>
                  <a:cubicBezTo>
                    <a:pt x="12437" y="1552"/>
                    <a:pt x="13912" y="1172"/>
                    <a:pt x="13912" y="705"/>
                  </a:cubicBezTo>
                  <a:cubicBezTo>
                    <a:pt x="13912" y="411"/>
                    <a:pt x="13330" y="152"/>
                    <a:pt x="12446" y="0"/>
                  </a:cubicBezTo>
                  <a:cubicBezTo>
                    <a:pt x="12413" y="568"/>
                    <a:pt x="11607" y="741"/>
                    <a:pt x="10617" y="741"/>
                  </a:cubicBezTo>
                  <a:cubicBezTo>
                    <a:pt x="9627" y="741"/>
                    <a:pt x="8821" y="568"/>
                    <a:pt x="8787" y="0"/>
                  </a:cubicBezTo>
                  <a:cubicBezTo>
                    <a:pt x="7904" y="152"/>
                    <a:pt x="7322" y="411"/>
                    <a:pt x="7322" y="705"/>
                  </a:cubicBezTo>
                  <a:cubicBezTo>
                    <a:pt x="7322" y="1172"/>
                    <a:pt x="8797" y="1552"/>
                    <a:pt x="10617" y="1552"/>
                  </a:cubicBezTo>
                  <a:close/>
                  <a:moveTo>
                    <a:pt x="13912" y="705"/>
                  </a:moveTo>
                  <a:lnTo>
                    <a:pt x="13912" y="6141"/>
                  </a:lnTo>
                  <a:moveTo>
                    <a:pt x="7322" y="705"/>
                  </a:moveTo>
                  <a:lnTo>
                    <a:pt x="7322" y="6141"/>
                  </a:lnTo>
                  <a:moveTo>
                    <a:pt x="0" y="12812"/>
                  </a:moveTo>
                  <a:cubicBezTo>
                    <a:pt x="0" y="13438"/>
                    <a:pt x="659" y="14020"/>
                    <a:pt x="1791" y="14506"/>
                  </a:cubicBezTo>
                  <a:moveTo>
                    <a:pt x="19403" y="14668"/>
                  </a:moveTo>
                  <a:cubicBezTo>
                    <a:pt x="20782" y="14153"/>
                    <a:pt x="21600" y="13509"/>
                    <a:pt x="21600" y="12812"/>
                  </a:cubicBezTo>
                  <a:moveTo>
                    <a:pt x="9336" y="15854"/>
                  </a:moveTo>
                  <a:cubicBezTo>
                    <a:pt x="9814" y="15873"/>
                    <a:pt x="10303" y="15882"/>
                    <a:pt x="10800" y="15882"/>
                  </a:cubicBezTo>
                  <a:cubicBezTo>
                    <a:pt x="11171" y="15882"/>
                    <a:pt x="11537" y="15877"/>
                    <a:pt x="11898" y="15867"/>
                  </a:cubicBezTo>
                  <a:moveTo>
                    <a:pt x="9336" y="15854"/>
                  </a:moveTo>
                  <a:lnTo>
                    <a:pt x="9336" y="11621"/>
                  </a:lnTo>
                  <a:moveTo>
                    <a:pt x="6773" y="15662"/>
                  </a:moveTo>
                  <a:cubicBezTo>
                    <a:pt x="7583" y="15754"/>
                    <a:pt x="8442" y="15820"/>
                    <a:pt x="9336" y="15854"/>
                  </a:cubicBezTo>
                  <a:moveTo>
                    <a:pt x="11898" y="15867"/>
                  </a:moveTo>
                  <a:lnTo>
                    <a:pt x="11898" y="11632"/>
                  </a:lnTo>
                  <a:moveTo>
                    <a:pt x="11898" y="15867"/>
                  </a:moveTo>
                  <a:cubicBezTo>
                    <a:pt x="12789" y="15841"/>
                    <a:pt x="13648" y="15785"/>
                    <a:pt x="14461" y="15701"/>
                  </a:cubicBezTo>
                  <a:moveTo>
                    <a:pt x="14461" y="15701"/>
                  </a:moveTo>
                  <a:lnTo>
                    <a:pt x="14461" y="11479"/>
                  </a:lnTo>
                  <a:moveTo>
                    <a:pt x="14461" y="15701"/>
                  </a:moveTo>
                  <a:cubicBezTo>
                    <a:pt x="15308" y="15615"/>
                    <a:pt x="16107" y="15499"/>
                    <a:pt x="16841" y="15357"/>
                  </a:cubicBezTo>
                  <a:moveTo>
                    <a:pt x="16841" y="11158"/>
                  </a:moveTo>
                  <a:lnTo>
                    <a:pt x="16841" y="15357"/>
                  </a:lnTo>
                  <a:moveTo>
                    <a:pt x="16841" y="15357"/>
                  </a:moveTo>
                  <a:cubicBezTo>
                    <a:pt x="17822" y="15169"/>
                    <a:pt x="18688" y="14936"/>
                    <a:pt x="19403" y="14668"/>
                  </a:cubicBezTo>
                  <a:moveTo>
                    <a:pt x="19403" y="10517"/>
                  </a:moveTo>
                  <a:lnTo>
                    <a:pt x="19403" y="14668"/>
                  </a:lnTo>
                  <a:moveTo>
                    <a:pt x="6773" y="11442"/>
                  </a:moveTo>
                  <a:lnTo>
                    <a:pt x="6773" y="15662"/>
                  </a:lnTo>
                  <a:moveTo>
                    <a:pt x="4393" y="15284"/>
                  </a:moveTo>
                  <a:cubicBezTo>
                    <a:pt x="5122" y="15437"/>
                    <a:pt x="5920" y="15564"/>
                    <a:pt x="6773" y="15662"/>
                  </a:cubicBezTo>
                  <a:moveTo>
                    <a:pt x="4393" y="11090"/>
                  </a:moveTo>
                  <a:lnTo>
                    <a:pt x="4393" y="15284"/>
                  </a:lnTo>
                  <a:moveTo>
                    <a:pt x="1791" y="14506"/>
                  </a:moveTo>
                  <a:cubicBezTo>
                    <a:pt x="2492" y="14807"/>
                    <a:pt x="3374" y="15070"/>
                    <a:pt x="4393" y="15284"/>
                  </a:cubicBezTo>
                  <a:moveTo>
                    <a:pt x="1791" y="14506"/>
                  </a:moveTo>
                  <a:lnTo>
                    <a:pt x="1830" y="10381"/>
                  </a:lnTo>
                  <a:moveTo>
                    <a:pt x="11898" y="17561"/>
                  </a:moveTo>
                  <a:cubicBezTo>
                    <a:pt x="13272" y="17521"/>
                    <a:pt x="14570" y="17409"/>
                    <a:pt x="15742" y="17237"/>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39" name="Rounded Rectangle 49"/>
            <p:cNvSpPr/>
            <p:nvPr/>
          </p:nvSpPr>
          <p:spPr>
            <a:xfrm>
              <a:off x="370353" y="197522"/>
              <a:ext cx="54870" cy="5212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moveTo>
                    <a:pt x="21600" y="3"/>
                  </a:moveTo>
                  <a:lnTo>
                    <a:pt x="21600" y="21600"/>
                  </a:ln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sp>
          <p:nvSpPr>
            <p:cNvPr id="340" name="Rounded Rectangle 50"/>
            <p:cNvSpPr/>
            <p:nvPr/>
          </p:nvSpPr>
          <p:spPr>
            <a:xfrm>
              <a:off x="-1" y="-1"/>
              <a:ext cx="425224" cy="19753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72"/>
                    <a:pt x="17110" y="3"/>
                    <a:pt x="11569" y="2"/>
                  </a:cubicBezTo>
                  <a:cubicBezTo>
                    <a:pt x="7518" y="1"/>
                    <a:pt x="3082" y="0"/>
                    <a:pt x="0" y="0"/>
                  </a:cubicBezTo>
                  <a:lnTo>
                    <a:pt x="0" y="6000"/>
                  </a:lnTo>
                  <a:lnTo>
                    <a:pt x="11566" y="6000"/>
                  </a:lnTo>
                  <a:cubicBezTo>
                    <a:pt x="15569" y="6000"/>
                    <a:pt x="18813" y="12984"/>
                    <a:pt x="18813" y="21599"/>
                  </a:cubicBezTo>
                </a:path>
              </a:pathLst>
            </a:custGeom>
            <a:noFill/>
            <a:ln w="3175" cap="flat">
              <a:solidFill>
                <a:srgbClr val="FFFFFF"/>
              </a:solidFill>
              <a:prstDash val="solid"/>
              <a:round/>
            </a:ln>
            <a:effectLst/>
          </p:spPr>
          <p:txBody>
            <a:bodyPr wrap="square" lIns="45718" tIns="45718" rIns="45718" bIns="45718" numCol="1" anchor="ctr">
              <a:noAutofit/>
            </a:bodyPr>
            <a:lstStyle/>
            <a:p>
              <a:pPr algn="ctr" defTabSz="342900">
                <a:defRPr sz="1200">
                  <a:latin typeface="Calibri"/>
                  <a:ea typeface="Calibri"/>
                  <a:cs typeface="Calibri"/>
                  <a:sym typeface="Calibri"/>
                </a:defRPr>
              </a:pPr>
              <a:endParaRPr/>
            </a:p>
          </p:txBody>
        </p:sp>
      </p:grpSp>
      <p:grpSp>
        <p:nvGrpSpPr>
          <p:cNvPr id="344" name="Group"/>
          <p:cNvGrpSpPr/>
          <p:nvPr/>
        </p:nvGrpSpPr>
        <p:grpSpPr>
          <a:xfrm>
            <a:off x="2764978" y="1209637"/>
            <a:ext cx="1588015" cy="268137"/>
            <a:chOff x="0" y="0"/>
            <a:chExt cx="1588013" cy="268135"/>
          </a:xfrm>
        </p:grpSpPr>
        <p:sp>
          <p:nvSpPr>
            <p:cNvPr id="342" name="TextBox 53"/>
            <p:cNvSpPr txBox="1"/>
            <p:nvPr/>
          </p:nvSpPr>
          <p:spPr>
            <a:xfrm>
              <a:off x="1220675" y="-1"/>
              <a:ext cx="367339"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Python</a:t>
              </a:r>
            </a:p>
          </p:txBody>
        </p:sp>
        <p:sp>
          <p:nvSpPr>
            <p:cNvPr id="343" name="TextBox 54"/>
            <p:cNvSpPr txBox="1"/>
            <p:nvPr/>
          </p:nvSpPr>
          <p:spPr>
            <a:xfrm>
              <a:off x="0" y="141135"/>
              <a:ext cx="1587982"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Main language for implementation</a:t>
              </a:r>
            </a:p>
          </p:txBody>
        </p:sp>
      </p:grpSp>
      <p:grpSp>
        <p:nvGrpSpPr>
          <p:cNvPr id="347" name="Group"/>
          <p:cNvGrpSpPr/>
          <p:nvPr/>
        </p:nvGrpSpPr>
        <p:grpSpPr>
          <a:xfrm>
            <a:off x="2811376" y="1650669"/>
            <a:ext cx="1541581" cy="268138"/>
            <a:chOff x="0" y="0"/>
            <a:chExt cx="1541580" cy="268136"/>
          </a:xfrm>
        </p:grpSpPr>
        <p:sp>
          <p:nvSpPr>
            <p:cNvPr id="345" name="TextBox 55"/>
            <p:cNvSpPr txBox="1"/>
            <p:nvPr/>
          </p:nvSpPr>
          <p:spPr>
            <a:xfrm>
              <a:off x="662843" y="0"/>
              <a:ext cx="878730"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Pandas &amp; NumPy</a:t>
              </a:r>
            </a:p>
          </p:txBody>
        </p:sp>
        <p:sp>
          <p:nvSpPr>
            <p:cNvPr id="346" name="TextBox 56"/>
            <p:cNvSpPr txBox="1"/>
            <p:nvPr/>
          </p:nvSpPr>
          <p:spPr>
            <a:xfrm>
              <a:off x="-1" y="141136"/>
              <a:ext cx="1541581"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Data cleaning and preprocessing</a:t>
              </a:r>
            </a:p>
          </p:txBody>
        </p:sp>
      </p:grpSp>
      <p:grpSp>
        <p:nvGrpSpPr>
          <p:cNvPr id="350" name="Group"/>
          <p:cNvGrpSpPr/>
          <p:nvPr/>
        </p:nvGrpSpPr>
        <p:grpSpPr>
          <a:xfrm>
            <a:off x="3123351" y="2078633"/>
            <a:ext cx="1229636" cy="268137"/>
            <a:chOff x="0" y="0"/>
            <a:chExt cx="1229634" cy="268135"/>
          </a:xfrm>
        </p:grpSpPr>
        <p:sp>
          <p:nvSpPr>
            <p:cNvPr id="348" name="TextBox 57"/>
            <p:cNvSpPr txBox="1"/>
            <p:nvPr/>
          </p:nvSpPr>
          <p:spPr>
            <a:xfrm>
              <a:off x="652951" y="0"/>
              <a:ext cx="5766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Scikit-learn</a:t>
              </a:r>
            </a:p>
          </p:txBody>
        </p:sp>
        <p:sp>
          <p:nvSpPr>
            <p:cNvPr id="349" name="TextBox 58"/>
            <p:cNvSpPr txBox="1"/>
            <p:nvPr/>
          </p:nvSpPr>
          <p:spPr>
            <a:xfrm>
              <a:off x="-1" y="141135"/>
              <a:ext cx="1229630"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ML models and evaluation</a:t>
              </a:r>
            </a:p>
          </p:txBody>
        </p:sp>
      </p:grpSp>
      <p:grpSp>
        <p:nvGrpSpPr>
          <p:cNvPr id="353" name="Group"/>
          <p:cNvGrpSpPr/>
          <p:nvPr/>
        </p:nvGrpSpPr>
        <p:grpSpPr>
          <a:xfrm>
            <a:off x="3340927" y="2506597"/>
            <a:ext cx="1012066" cy="268138"/>
            <a:chOff x="0" y="0"/>
            <a:chExt cx="1012064" cy="268136"/>
          </a:xfrm>
        </p:grpSpPr>
        <p:sp>
          <p:nvSpPr>
            <p:cNvPr id="351" name="TextBox 59"/>
            <p:cNvSpPr txBox="1"/>
            <p:nvPr/>
          </p:nvSpPr>
          <p:spPr>
            <a:xfrm>
              <a:off x="0" y="-1"/>
              <a:ext cx="1012065"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Matplotlib / Seaborn</a:t>
              </a:r>
            </a:p>
          </p:txBody>
        </p:sp>
        <p:sp>
          <p:nvSpPr>
            <p:cNvPr id="352" name="TextBox 60"/>
            <p:cNvSpPr txBox="1"/>
            <p:nvPr/>
          </p:nvSpPr>
          <p:spPr>
            <a:xfrm>
              <a:off x="179607" y="141136"/>
              <a:ext cx="832431"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Data visualization</a:t>
              </a:r>
            </a:p>
          </p:txBody>
        </p:sp>
      </p:grpSp>
      <p:grpSp>
        <p:nvGrpSpPr>
          <p:cNvPr id="356" name="Group"/>
          <p:cNvGrpSpPr/>
          <p:nvPr/>
        </p:nvGrpSpPr>
        <p:grpSpPr>
          <a:xfrm>
            <a:off x="2945282" y="2934564"/>
            <a:ext cx="1407694" cy="268135"/>
            <a:chOff x="0" y="0"/>
            <a:chExt cx="1407693" cy="268134"/>
          </a:xfrm>
        </p:grpSpPr>
        <p:sp>
          <p:nvSpPr>
            <p:cNvPr id="354" name="TextBox 61"/>
            <p:cNvSpPr txBox="1"/>
            <p:nvPr/>
          </p:nvSpPr>
          <p:spPr>
            <a:xfrm>
              <a:off x="505889" y="-1"/>
              <a:ext cx="901805"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Jupyter Notebook</a:t>
              </a:r>
            </a:p>
          </p:txBody>
        </p:sp>
        <p:sp>
          <p:nvSpPr>
            <p:cNvPr id="355" name="TextBox 62"/>
            <p:cNvSpPr txBox="1"/>
            <p:nvPr/>
          </p:nvSpPr>
          <p:spPr>
            <a:xfrm>
              <a:off x="-1" y="141134"/>
              <a:ext cx="1407686"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Experimentation and workflow</a:t>
              </a:r>
            </a:p>
          </p:txBody>
        </p:sp>
      </p:grpSp>
      <p:grpSp>
        <p:nvGrpSpPr>
          <p:cNvPr id="359" name="Group"/>
          <p:cNvGrpSpPr/>
          <p:nvPr/>
        </p:nvGrpSpPr>
        <p:grpSpPr>
          <a:xfrm>
            <a:off x="2846247" y="3362528"/>
            <a:ext cx="1506729" cy="268135"/>
            <a:chOff x="0" y="0"/>
            <a:chExt cx="1506728" cy="268134"/>
          </a:xfrm>
        </p:grpSpPr>
        <p:sp>
          <p:nvSpPr>
            <p:cNvPr id="357" name="TextBox 63"/>
            <p:cNvSpPr txBox="1"/>
            <p:nvPr/>
          </p:nvSpPr>
          <p:spPr>
            <a:xfrm>
              <a:off x="1145261" y="-1"/>
              <a:ext cx="361468"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b="1">
                  <a:solidFill>
                    <a:srgbClr val="1F1749"/>
                  </a:solidFill>
                </a:defRPr>
              </a:lvl1pPr>
            </a:lstStyle>
            <a:p>
              <a:r>
                <a:t>GitHub</a:t>
              </a:r>
            </a:p>
          </p:txBody>
        </p:sp>
        <p:sp>
          <p:nvSpPr>
            <p:cNvPr id="358" name="TextBox 64"/>
            <p:cNvSpPr txBox="1"/>
            <p:nvPr/>
          </p:nvSpPr>
          <p:spPr>
            <a:xfrm>
              <a:off x="0" y="141134"/>
              <a:ext cx="150671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defTabSz="342900">
                <a:defRPr sz="800">
                  <a:solidFill>
                    <a:srgbClr val="2F2F33"/>
                  </a:solidFill>
                </a:defRPr>
              </a:lvl1pPr>
            </a:lstStyle>
            <a:p>
              <a:r>
                <a:t>Version control and organization</a:t>
              </a:r>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 name="_- visual selection (4).png" descr="_- visual selection (4).png"/>
          <p:cNvPicPr>
            <a:picLocks noChangeAspect="1"/>
          </p:cNvPicPr>
          <p:nvPr/>
        </p:nvPicPr>
        <p:blipFill>
          <a:blip r:embed="rId3"/>
          <a:srcRect l="1718" t="6594" r="52096" b="6595"/>
          <a:stretch>
            <a:fillRect/>
          </a:stretch>
        </p:blipFill>
        <p:spPr>
          <a:xfrm>
            <a:off x="1734107" y="1231204"/>
            <a:ext cx="2892822" cy="3636176"/>
          </a:xfrm>
          <a:prstGeom prst="rect">
            <a:avLst/>
          </a:prstGeom>
          <a:ln w="12700">
            <a:miter lim="400000"/>
          </a:ln>
        </p:spPr>
      </p:pic>
      <p:sp>
        <p:nvSpPr>
          <p:cNvPr id="364" name="TextBox 5"/>
          <p:cNvSpPr txBox="1">
            <a:spLocks noGrp="1"/>
          </p:cNvSpPr>
          <p:nvPr>
            <p:ph type="sldNum" sz="quarter" idx="4294967295"/>
          </p:nvPr>
        </p:nvSpPr>
        <p:spPr>
          <a:xfrm>
            <a:off x="8478414" y="4396980"/>
            <a:ext cx="292094"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365"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Peer Review Feedback</a:t>
            </a:r>
          </a:p>
        </p:txBody>
      </p:sp>
      <p:pic>
        <p:nvPicPr>
          <p:cNvPr id="366" name="_- visual selection (4).png" descr="_- visual selection (4).png"/>
          <p:cNvPicPr>
            <a:picLocks noChangeAspect="1"/>
          </p:cNvPicPr>
          <p:nvPr/>
        </p:nvPicPr>
        <p:blipFill>
          <a:blip r:embed="rId3"/>
          <a:srcRect l="48240" t="6595" r="3351" b="6595"/>
          <a:stretch>
            <a:fillRect/>
          </a:stretch>
        </p:blipFill>
        <p:spPr>
          <a:xfrm>
            <a:off x="4615485" y="1231204"/>
            <a:ext cx="3032066" cy="3636176"/>
          </a:xfrm>
          <a:prstGeom prst="rect">
            <a:avLst/>
          </a:prstGeom>
          <a:ln w="12700">
            <a:miter lim="400000"/>
          </a:ln>
        </p:spPr>
      </p:pic>
      <p:sp>
        <p:nvSpPr>
          <p:cNvPr id="367" name="Rounded Rectangle"/>
          <p:cNvSpPr/>
          <p:nvPr/>
        </p:nvSpPr>
        <p:spPr>
          <a:xfrm>
            <a:off x="1624209" y="1140621"/>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368" name="Rounded Rectangle"/>
          <p:cNvSpPr/>
          <p:nvPr/>
        </p:nvSpPr>
        <p:spPr>
          <a:xfrm>
            <a:off x="1624209" y="2431291"/>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369" name="Rounded Rectangle"/>
          <p:cNvSpPr/>
          <p:nvPr/>
        </p:nvSpPr>
        <p:spPr>
          <a:xfrm>
            <a:off x="1624209" y="3721962"/>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370" name="Rounded Rectangle"/>
          <p:cNvSpPr/>
          <p:nvPr/>
        </p:nvSpPr>
        <p:spPr>
          <a:xfrm>
            <a:off x="4706165" y="1140621"/>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371" name="Rounded Rectangle"/>
          <p:cNvSpPr/>
          <p:nvPr/>
        </p:nvSpPr>
        <p:spPr>
          <a:xfrm>
            <a:off x="4706165" y="2431356"/>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372" name="Rounded Rectangle"/>
          <p:cNvSpPr/>
          <p:nvPr/>
        </p:nvSpPr>
        <p:spPr>
          <a:xfrm>
            <a:off x="4706165" y="3721962"/>
            <a:ext cx="3006726" cy="1235996"/>
          </a:xfrm>
          <a:prstGeom prst="roundRect">
            <a:avLst>
              <a:gd name="adj" fmla="val 24608"/>
            </a:avLst>
          </a:prstGeom>
          <a:ln w="127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363"/>
                                        </p:tgtEl>
                                        <p:attrNameLst>
                                          <p:attrName>style.visibility</p:attrName>
                                        </p:attrNameLst>
                                      </p:cBhvr>
                                      <p:to>
                                        <p:strVal val="visible"/>
                                      </p:to>
                                    </p:set>
                                    <p:animEffect transition="in" filter="wipe(left)">
                                      <p:cBhvr>
                                        <p:cTn id="7" dur="1000"/>
                                        <p:tgtEl>
                                          <p:spTgt spid="3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367"/>
                                        </p:tgtEl>
                                        <p:attrNameLst>
                                          <p:attrName>style.visibility</p:attrName>
                                        </p:attrNameLst>
                                      </p:cBhvr>
                                      <p:to>
                                        <p:strVal val="visible"/>
                                      </p:to>
                                    </p:set>
                                    <p:animEffect transition="in" filter="wipe(left)">
                                      <p:cBhvr>
                                        <p:cTn id="12" dur="1000"/>
                                        <p:tgtEl>
                                          <p:spTgt spid="3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368"/>
                                        </p:tgtEl>
                                        <p:attrNameLst>
                                          <p:attrName>style.visibility</p:attrName>
                                        </p:attrNameLst>
                                      </p:cBhvr>
                                      <p:to>
                                        <p:strVal val="visible"/>
                                      </p:to>
                                    </p:set>
                                    <p:animEffect transition="in" filter="wipe(left)">
                                      <p:cBhvr>
                                        <p:cTn id="17" dur="1000"/>
                                        <p:tgtEl>
                                          <p:spTgt spid="3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4" nodeType="clickEffect">
                                  <p:stCondLst>
                                    <p:cond delay="0"/>
                                  </p:stCondLst>
                                  <p:iterate>
                                    <p:tmAbs val="0"/>
                                  </p:iterate>
                                  <p:childTnLst>
                                    <p:set>
                                      <p:cBhvr>
                                        <p:cTn id="21" fill="hold"/>
                                        <p:tgtEl>
                                          <p:spTgt spid="369"/>
                                        </p:tgtEl>
                                        <p:attrNameLst>
                                          <p:attrName>style.visibility</p:attrName>
                                        </p:attrNameLst>
                                      </p:cBhvr>
                                      <p:to>
                                        <p:strVal val="visible"/>
                                      </p:to>
                                    </p:set>
                                    <p:animEffect transition="in" filter="wipe(left)">
                                      <p:cBhvr>
                                        <p:cTn id="22" dur="1000"/>
                                        <p:tgtEl>
                                          <p:spTgt spid="3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5" nodeType="clickEffect">
                                  <p:stCondLst>
                                    <p:cond delay="0"/>
                                  </p:stCondLst>
                                  <p:iterate>
                                    <p:tmAbs val="0"/>
                                  </p:iterate>
                                  <p:childTnLst>
                                    <p:set>
                                      <p:cBhvr>
                                        <p:cTn id="26" fill="hold"/>
                                        <p:tgtEl>
                                          <p:spTgt spid="366"/>
                                        </p:tgtEl>
                                        <p:attrNameLst>
                                          <p:attrName>style.visibility</p:attrName>
                                        </p:attrNameLst>
                                      </p:cBhvr>
                                      <p:to>
                                        <p:strVal val="visible"/>
                                      </p:to>
                                    </p:set>
                                    <p:animEffect transition="in" filter="wipe(left)">
                                      <p:cBhvr>
                                        <p:cTn id="27" dur="1000"/>
                                        <p:tgtEl>
                                          <p:spTgt spid="3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6" nodeType="clickEffect">
                                  <p:stCondLst>
                                    <p:cond delay="0"/>
                                  </p:stCondLst>
                                  <p:iterate>
                                    <p:tmAbs val="0"/>
                                  </p:iterate>
                                  <p:childTnLst>
                                    <p:set>
                                      <p:cBhvr>
                                        <p:cTn id="31" fill="hold"/>
                                        <p:tgtEl>
                                          <p:spTgt spid="370"/>
                                        </p:tgtEl>
                                        <p:attrNameLst>
                                          <p:attrName>style.visibility</p:attrName>
                                        </p:attrNameLst>
                                      </p:cBhvr>
                                      <p:to>
                                        <p:strVal val="visible"/>
                                      </p:to>
                                    </p:set>
                                    <p:animEffect transition="in" filter="wipe(left)">
                                      <p:cBhvr>
                                        <p:cTn id="32" dur="1000"/>
                                        <p:tgtEl>
                                          <p:spTgt spid="3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7" nodeType="clickEffect">
                                  <p:stCondLst>
                                    <p:cond delay="0"/>
                                  </p:stCondLst>
                                  <p:iterate>
                                    <p:tmAbs val="0"/>
                                  </p:iterate>
                                  <p:childTnLst>
                                    <p:set>
                                      <p:cBhvr>
                                        <p:cTn id="36" fill="hold"/>
                                        <p:tgtEl>
                                          <p:spTgt spid="371"/>
                                        </p:tgtEl>
                                        <p:attrNameLst>
                                          <p:attrName>style.visibility</p:attrName>
                                        </p:attrNameLst>
                                      </p:cBhvr>
                                      <p:to>
                                        <p:strVal val="visible"/>
                                      </p:to>
                                    </p:set>
                                    <p:animEffect transition="in" filter="wipe(left)">
                                      <p:cBhvr>
                                        <p:cTn id="37" dur="1000"/>
                                        <p:tgtEl>
                                          <p:spTgt spid="37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8" nodeType="clickEffect">
                                  <p:stCondLst>
                                    <p:cond delay="0"/>
                                  </p:stCondLst>
                                  <p:iterate>
                                    <p:tmAbs val="0"/>
                                  </p:iterate>
                                  <p:childTnLst>
                                    <p:set>
                                      <p:cBhvr>
                                        <p:cTn id="41" fill="hold"/>
                                        <p:tgtEl>
                                          <p:spTgt spid="372"/>
                                        </p:tgtEl>
                                        <p:attrNameLst>
                                          <p:attrName>style.visibility</p:attrName>
                                        </p:attrNameLst>
                                      </p:cBhvr>
                                      <p:to>
                                        <p:strVal val="visible"/>
                                      </p:to>
                                    </p:set>
                                    <p:animEffect transition="in" filter="wipe(left)">
                                      <p:cBhvr>
                                        <p:cTn id="42" dur="10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 grpId="1" animBg="1" advAuto="0"/>
      <p:bldP spid="366" grpId="5" animBg="1" advAuto="0"/>
      <p:bldP spid="367" grpId="2" animBg="1" advAuto="0"/>
      <p:bldP spid="368" grpId="3" animBg="1" advAuto="0"/>
      <p:bldP spid="369" grpId="4" animBg="1" advAuto="0"/>
      <p:bldP spid="370" grpId="6" animBg="1" advAuto="0"/>
      <p:bldP spid="371" grpId="7" animBg="1" advAuto="0"/>
      <p:bldP spid="372" grpId="8"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0" name="Group"/>
          <p:cNvGrpSpPr/>
          <p:nvPr/>
        </p:nvGrpSpPr>
        <p:grpSpPr>
          <a:xfrm>
            <a:off x="415728" y="1399400"/>
            <a:ext cx="4000692" cy="1576046"/>
            <a:chOff x="-1" y="-1"/>
            <a:chExt cx="4000691" cy="1576044"/>
          </a:xfrm>
        </p:grpSpPr>
        <p:sp>
          <p:nvSpPr>
            <p:cNvPr id="376" name="Shape 3"/>
            <p:cNvSpPr/>
            <p:nvPr/>
          </p:nvSpPr>
          <p:spPr>
            <a:xfrm>
              <a:off x="-2" y="-2"/>
              <a:ext cx="4000692" cy="1576046"/>
            </a:xfrm>
            <a:prstGeom prst="rect">
              <a:avLst/>
            </a:prstGeom>
            <a:solidFill>
              <a:srgbClr val="FFFFFF"/>
            </a:solidFill>
            <a:ln w="9525" cap="flat">
              <a:solidFill>
                <a:srgbClr val="1E1746"/>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77" name="Shape 4"/>
            <p:cNvSpPr/>
            <p:nvPr/>
          </p:nvSpPr>
          <p:spPr>
            <a:xfrm>
              <a:off x="-2" y="-2"/>
              <a:ext cx="4000692" cy="503981"/>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78" name="Text 5"/>
            <p:cNvSpPr txBox="1"/>
            <p:nvPr/>
          </p:nvSpPr>
          <p:spPr>
            <a:xfrm>
              <a:off x="151137" y="91380"/>
              <a:ext cx="3698416"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Data Pipeline</a:t>
              </a:r>
            </a:p>
          </p:txBody>
        </p:sp>
        <p:sp>
          <p:nvSpPr>
            <p:cNvPr id="379" name="Text 6"/>
            <p:cNvSpPr txBox="1"/>
            <p:nvPr/>
          </p:nvSpPr>
          <p:spPr>
            <a:xfrm>
              <a:off x="71243" y="755791"/>
              <a:ext cx="3888637" cy="4420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60420" indent="-160420"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Pulled data from sources</a:t>
              </a:r>
            </a:p>
            <a:p>
              <a:pPr marL="160420" indent="-160420"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Feature Engineering (transforms, encodings, lags, …)</a:t>
              </a:r>
            </a:p>
          </p:txBody>
        </p:sp>
      </p:grpSp>
      <p:grpSp>
        <p:nvGrpSpPr>
          <p:cNvPr id="385" name="Group"/>
          <p:cNvGrpSpPr/>
          <p:nvPr/>
        </p:nvGrpSpPr>
        <p:grpSpPr>
          <a:xfrm>
            <a:off x="4727579" y="1399400"/>
            <a:ext cx="4000692" cy="1576046"/>
            <a:chOff x="-1" y="-1"/>
            <a:chExt cx="4000691" cy="1576044"/>
          </a:xfrm>
        </p:grpSpPr>
        <p:sp>
          <p:nvSpPr>
            <p:cNvPr id="381" name="Shape 7"/>
            <p:cNvSpPr/>
            <p:nvPr/>
          </p:nvSpPr>
          <p:spPr>
            <a:xfrm>
              <a:off x="-2" y="-2"/>
              <a:ext cx="4000692" cy="1576046"/>
            </a:xfrm>
            <a:prstGeom prst="rect">
              <a:avLst/>
            </a:prstGeom>
            <a:solidFill>
              <a:srgbClr val="FFFFFF"/>
            </a:solidFill>
            <a:ln w="9525" cap="flat">
              <a:solidFill>
                <a:srgbClr val="1E1746"/>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82" name="Shape 8"/>
            <p:cNvSpPr/>
            <p:nvPr/>
          </p:nvSpPr>
          <p:spPr>
            <a:xfrm>
              <a:off x="-2" y="-2"/>
              <a:ext cx="4000692" cy="514808"/>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83" name="Text 9"/>
            <p:cNvSpPr txBox="1"/>
            <p:nvPr/>
          </p:nvSpPr>
          <p:spPr>
            <a:xfrm>
              <a:off x="151136" y="77569"/>
              <a:ext cx="3698418"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Regime Detection</a:t>
              </a:r>
            </a:p>
          </p:txBody>
        </p:sp>
        <p:sp>
          <p:nvSpPr>
            <p:cNvPr id="384" name="Text 10"/>
            <p:cNvSpPr txBox="1"/>
            <p:nvPr/>
          </p:nvSpPr>
          <p:spPr>
            <a:xfrm>
              <a:off x="151136" y="615013"/>
              <a:ext cx="3698418" cy="7976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Implemented K-Means, Gaussian Mixture Models, Hierarchical Clustering</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Selected optimal structure </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Interpreted regimes from macro patterns</a:t>
              </a:r>
            </a:p>
          </p:txBody>
        </p:sp>
      </p:grpSp>
      <p:grpSp>
        <p:nvGrpSpPr>
          <p:cNvPr id="390" name="Group"/>
          <p:cNvGrpSpPr/>
          <p:nvPr/>
        </p:nvGrpSpPr>
        <p:grpSpPr>
          <a:xfrm>
            <a:off x="415728" y="3123195"/>
            <a:ext cx="4000692" cy="1576046"/>
            <a:chOff x="-1" y="-1"/>
            <a:chExt cx="4000691" cy="1576044"/>
          </a:xfrm>
        </p:grpSpPr>
        <p:sp>
          <p:nvSpPr>
            <p:cNvPr id="386" name="Shape 11"/>
            <p:cNvSpPr/>
            <p:nvPr/>
          </p:nvSpPr>
          <p:spPr>
            <a:xfrm>
              <a:off x="-2" y="-2"/>
              <a:ext cx="4000692" cy="1576046"/>
            </a:xfrm>
            <a:prstGeom prst="rect">
              <a:avLst/>
            </a:prstGeom>
            <a:solidFill>
              <a:srgbClr val="FFFFFF"/>
            </a:solidFill>
            <a:ln w="9525" cap="flat">
              <a:solidFill>
                <a:srgbClr val="1E1746"/>
              </a:solidFill>
              <a:prstDash val="solid"/>
              <a:miter lim="400000"/>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87" name="Shape 12"/>
            <p:cNvSpPr/>
            <p:nvPr/>
          </p:nvSpPr>
          <p:spPr>
            <a:xfrm>
              <a:off x="-2" y="-2"/>
              <a:ext cx="4000692" cy="496901"/>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88" name="Text 13"/>
            <p:cNvSpPr txBox="1"/>
            <p:nvPr/>
          </p:nvSpPr>
          <p:spPr>
            <a:xfrm>
              <a:off x="151137" y="96655"/>
              <a:ext cx="3698416"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Regime-Dependent Models</a:t>
              </a:r>
            </a:p>
          </p:txBody>
        </p:sp>
        <p:sp>
          <p:nvSpPr>
            <p:cNvPr id="389" name="Text 14"/>
            <p:cNvSpPr txBox="1"/>
            <p:nvPr/>
          </p:nvSpPr>
          <p:spPr>
            <a:xfrm>
              <a:off x="151135" y="779462"/>
              <a:ext cx="3698418" cy="4420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Built borrower/macro/regime-dependent models</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Assess and compare models</a:t>
              </a:r>
            </a:p>
          </p:txBody>
        </p:sp>
      </p:grpSp>
      <p:grpSp>
        <p:nvGrpSpPr>
          <p:cNvPr id="395" name="Group"/>
          <p:cNvGrpSpPr/>
          <p:nvPr/>
        </p:nvGrpSpPr>
        <p:grpSpPr>
          <a:xfrm>
            <a:off x="4727579" y="3123195"/>
            <a:ext cx="4000692" cy="1576046"/>
            <a:chOff x="-1" y="-1"/>
            <a:chExt cx="4000691" cy="1576044"/>
          </a:xfrm>
        </p:grpSpPr>
        <p:sp>
          <p:nvSpPr>
            <p:cNvPr id="391" name="Shape 15"/>
            <p:cNvSpPr/>
            <p:nvPr/>
          </p:nvSpPr>
          <p:spPr>
            <a:xfrm>
              <a:off x="-2" y="-2"/>
              <a:ext cx="4000692" cy="1576046"/>
            </a:xfrm>
            <a:prstGeom prst="rect">
              <a:avLst/>
            </a:prstGeom>
            <a:solidFill>
              <a:srgbClr val="FFFFFF"/>
            </a:solidFill>
            <a:ln w="9525" cap="flat">
              <a:solidFill>
                <a:srgbClr val="1E1746"/>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92" name="Shape 16"/>
            <p:cNvSpPr/>
            <p:nvPr/>
          </p:nvSpPr>
          <p:spPr>
            <a:xfrm>
              <a:off x="-2" y="-2"/>
              <a:ext cx="4000692" cy="499886"/>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393" name="Text 17"/>
            <p:cNvSpPr txBox="1"/>
            <p:nvPr/>
          </p:nvSpPr>
          <p:spPr>
            <a:xfrm>
              <a:off x="151136" y="72503"/>
              <a:ext cx="3698418"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Stress Testing</a:t>
              </a:r>
            </a:p>
          </p:txBody>
        </p:sp>
        <p:sp>
          <p:nvSpPr>
            <p:cNvPr id="394" name="Text 18"/>
            <p:cNvSpPr txBox="1"/>
            <p:nvPr/>
          </p:nvSpPr>
          <p:spPr>
            <a:xfrm>
              <a:off x="151136" y="688589"/>
              <a:ext cx="3698418" cy="6198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Designed macroeconomic stress scenarios </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Performed sensitivity analysis </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Compare models</a:t>
              </a:r>
            </a:p>
          </p:txBody>
        </p:sp>
      </p:grpSp>
      <p:sp>
        <p:nvSpPr>
          <p:cNvPr id="396"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397"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My Contribution</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
        <p:nvSpPr>
          <p:cNvPr id="402"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My Contribution</a:t>
            </a:r>
          </a:p>
        </p:txBody>
      </p:sp>
      <p:grpSp>
        <p:nvGrpSpPr>
          <p:cNvPr id="407" name="Group"/>
          <p:cNvGrpSpPr/>
          <p:nvPr/>
        </p:nvGrpSpPr>
        <p:grpSpPr>
          <a:xfrm>
            <a:off x="297177" y="1411113"/>
            <a:ext cx="4114806" cy="1755652"/>
            <a:chOff x="0" y="0"/>
            <a:chExt cx="4114805" cy="1755652"/>
          </a:xfrm>
        </p:grpSpPr>
        <p:sp>
          <p:nvSpPr>
            <p:cNvPr id="403" name="Shape 3"/>
            <p:cNvSpPr/>
            <p:nvPr/>
          </p:nvSpPr>
          <p:spPr>
            <a:xfrm>
              <a:off x="-1" y="0"/>
              <a:ext cx="4114806" cy="1755652"/>
            </a:xfrm>
            <a:prstGeom prst="rect">
              <a:avLst/>
            </a:prstGeom>
            <a:solidFill>
              <a:srgbClr val="FFFFFF"/>
            </a:solidFill>
            <a:ln w="9525" cap="flat">
              <a:solidFill>
                <a:srgbClr val="1E1746"/>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404" name="Shape 4"/>
            <p:cNvSpPr/>
            <p:nvPr/>
          </p:nvSpPr>
          <p:spPr>
            <a:xfrm>
              <a:off x="-1" y="-1"/>
              <a:ext cx="4114806" cy="561415"/>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405" name="Text 5"/>
            <p:cNvSpPr txBox="1"/>
            <p:nvPr/>
          </p:nvSpPr>
          <p:spPr>
            <a:xfrm>
              <a:off x="155448" y="120754"/>
              <a:ext cx="3803908"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Code Versioning</a:t>
              </a:r>
            </a:p>
          </p:txBody>
        </p:sp>
        <p:sp>
          <p:nvSpPr>
            <p:cNvPr id="406" name="Text 6"/>
            <p:cNvSpPr txBox="1"/>
            <p:nvPr/>
          </p:nvSpPr>
          <p:spPr>
            <a:xfrm>
              <a:off x="155446" y="867110"/>
              <a:ext cx="3803910" cy="4420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30341" indent="-130341" defTabSz="12700">
                <a:buSzPct val="100000"/>
                <a:buChar char="•"/>
                <a:defRPr sz="1200"/>
              </a:pPr>
              <a:r>
                <a:t>Created and managed Git repository</a:t>
              </a:r>
            </a:p>
            <a:p>
              <a:pPr marL="130341" indent="-130341" defTabSz="12700">
                <a:buSzPct val="100000"/>
                <a:buChar char="•"/>
                <a:defRPr sz="1200"/>
              </a:pPr>
              <a:r>
                <a:t>Maintained code versioning and project structure</a:t>
              </a:r>
            </a:p>
          </p:txBody>
        </p:sp>
      </p:grpSp>
      <p:grpSp>
        <p:nvGrpSpPr>
          <p:cNvPr id="412" name="Group"/>
          <p:cNvGrpSpPr/>
          <p:nvPr/>
        </p:nvGrpSpPr>
        <p:grpSpPr>
          <a:xfrm>
            <a:off x="4732017" y="1411113"/>
            <a:ext cx="4114806" cy="1755652"/>
            <a:chOff x="0" y="0"/>
            <a:chExt cx="4114805" cy="1755651"/>
          </a:xfrm>
        </p:grpSpPr>
        <p:sp>
          <p:nvSpPr>
            <p:cNvPr id="408" name="Shape 7"/>
            <p:cNvSpPr/>
            <p:nvPr/>
          </p:nvSpPr>
          <p:spPr>
            <a:xfrm>
              <a:off x="-1" y="0"/>
              <a:ext cx="4114806" cy="1755652"/>
            </a:xfrm>
            <a:prstGeom prst="rect">
              <a:avLst/>
            </a:prstGeom>
            <a:solidFill>
              <a:srgbClr val="FFFFFF"/>
            </a:solidFill>
            <a:ln w="9525" cap="flat">
              <a:solidFill>
                <a:srgbClr val="1E1746"/>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409" name="Shape 8"/>
            <p:cNvSpPr/>
            <p:nvPr/>
          </p:nvSpPr>
          <p:spPr>
            <a:xfrm>
              <a:off x="-1" y="-1"/>
              <a:ext cx="4114806" cy="573474"/>
            </a:xfrm>
            <a:prstGeom prst="rect">
              <a:avLst/>
            </a:prstGeom>
            <a:solidFill>
              <a:srgbClr val="1E1746"/>
            </a:solidFill>
            <a:ln w="12700" cap="flat">
              <a:solidFill>
                <a:srgbClr val="0D1B2A"/>
              </a:solidFill>
              <a:prstDash val="solid"/>
              <a:round/>
            </a:ln>
            <a:effectLst/>
          </p:spPr>
          <p:txBody>
            <a:bodyPr wrap="square" lIns="45718" tIns="45718" rIns="45718" bIns="45718" numCol="1" anchor="t">
              <a:noAutofit/>
            </a:bodyPr>
            <a:lstStyle/>
            <a:p>
              <a:pPr>
                <a:defRPr sz="1800">
                  <a:latin typeface="Calibri"/>
                  <a:ea typeface="Calibri"/>
                  <a:cs typeface="Calibri"/>
                  <a:sym typeface="Calibri"/>
                </a:defRPr>
              </a:pPr>
              <a:endParaRPr/>
            </a:p>
          </p:txBody>
        </p:sp>
        <p:sp>
          <p:nvSpPr>
            <p:cNvPr id="410" name="Text 9"/>
            <p:cNvSpPr txBox="1"/>
            <p:nvPr/>
          </p:nvSpPr>
          <p:spPr>
            <a:xfrm>
              <a:off x="155447" y="105368"/>
              <a:ext cx="3803910" cy="3327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defRPr>
                  <a:solidFill>
                    <a:srgbClr val="FFFFFF"/>
                  </a:solidFill>
                  <a:latin typeface="Arial Black"/>
                  <a:ea typeface="Arial Black"/>
                  <a:cs typeface="Arial Black"/>
                  <a:sym typeface="Arial Black"/>
                </a:defRPr>
              </a:lvl1pPr>
            </a:lstStyle>
            <a:p>
              <a:r>
                <a:t>Project Management</a:t>
              </a:r>
            </a:p>
          </p:txBody>
        </p:sp>
        <p:sp>
          <p:nvSpPr>
            <p:cNvPr id="411" name="Text 10"/>
            <p:cNvSpPr txBox="1"/>
            <p:nvPr/>
          </p:nvSpPr>
          <p:spPr>
            <a:xfrm>
              <a:off x="155447" y="778211"/>
              <a:ext cx="3803910" cy="6198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Co-authored project reports and documentation</a:t>
              </a:r>
            </a:p>
            <a:p>
              <a:pPr marL="140367" indent="-140367"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pPr>
              <a:r>
                <a:t>Integrated mentor feedback and coordinated project updates</a:t>
              </a:r>
            </a:p>
          </p:txBody>
        </p:sp>
      </p:gr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6" name="Table 1"/>
          <p:cNvGraphicFramePr/>
          <p:nvPr/>
        </p:nvGraphicFramePr>
        <p:xfrm>
          <a:off x="1053333" y="1731049"/>
          <a:ext cx="7037334" cy="2636544"/>
        </p:xfrm>
        <a:graphic>
          <a:graphicData uri="http://schemas.openxmlformats.org/drawingml/2006/table">
            <a:tbl>
              <a:tblPr firstCol="1" bandRow="1">
                <a:tableStyleId>{4C3C2611-4C71-4FC5-86AE-919BDF0F9419}</a:tableStyleId>
              </a:tblPr>
              <a:tblGrid>
                <a:gridCol w="2235789">
                  <a:extLst>
                    <a:ext uri="{9D8B030D-6E8A-4147-A177-3AD203B41FA5}">
                      <a16:colId xmlns:a16="http://schemas.microsoft.com/office/drawing/2014/main" val="20000"/>
                    </a:ext>
                  </a:extLst>
                </a:gridCol>
                <a:gridCol w="4801545">
                  <a:extLst>
                    <a:ext uri="{9D8B030D-6E8A-4147-A177-3AD203B41FA5}">
                      <a16:colId xmlns:a16="http://schemas.microsoft.com/office/drawing/2014/main" val="20001"/>
                    </a:ext>
                  </a:extLst>
                </a:gridCol>
              </a:tblGrid>
              <a:tr h="659136">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Limited impact of macro variables</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100"/>
                        <a:t>Adding raw macroeconomic features produced little improvement in predictive performance</a:t>
                      </a:r>
                    </a:p>
                  </a:txBody>
                  <a:tcPr marL="0" marR="0" marT="0" marB="0" anchor="ctr" horzOverflow="overflow">
                    <a:solidFill>
                      <a:srgbClr val="5542CC">
                        <a:alpha val="32957"/>
                      </a:srgbClr>
                    </a:solidFill>
                  </a:tcPr>
                </a:tc>
                <a:extLst>
                  <a:ext uri="{0D108BD9-81ED-4DB2-BD59-A6C34878D82A}">
                    <a16:rowId xmlns:a16="http://schemas.microsoft.com/office/drawing/2014/main" val="10000"/>
                  </a:ext>
                </a:extLst>
              </a:tr>
              <a:tr h="659136">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Regime information adds value </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100"/>
                        <a:t>Economic regimes improved Logistic Regression performance by capturing market conditions more effectively</a:t>
                      </a:r>
                    </a:p>
                  </a:txBody>
                  <a:tcPr marL="0" marR="0" marT="0" marB="0" anchor="ctr" horzOverflow="overflow">
                    <a:solidFill>
                      <a:srgbClr val="6A52FF">
                        <a:alpha val="7005"/>
                      </a:srgbClr>
                    </a:solidFill>
                  </a:tcPr>
                </a:tc>
                <a:extLst>
                  <a:ext uri="{0D108BD9-81ED-4DB2-BD59-A6C34878D82A}">
                    <a16:rowId xmlns:a16="http://schemas.microsoft.com/office/drawing/2014/main" val="10001"/>
                  </a:ext>
                </a:extLst>
              </a:tr>
              <a:tr h="659136">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Tree-based models remain robust</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100"/>
                        <a:t>Random Forest and XGBoost performed consistently across all frameworks due to their ability to capture nonlinear patterns</a:t>
                      </a:r>
                    </a:p>
                  </a:txBody>
                  <a:tcPr marL="0" marR="0" marT="0" marB="0" anchor="ctr" horzOverflow="overflow">
                    <a:solidFill>
                      <a:srgbClr val="5542CC">
                        <a:alpha val="32957"/>
                      </a:srgbClr>
                    </a:solidFill>
                  </a:tcPr>
                </a:tc>
                <a:extLst>
                  <a:ext uri="{0D108BD9-81ED-4DB2-BD59-A6C34878D82A}">
                    <a16:rowId xmlns:a16="http://schemas.microsoft.com/office/drawing/2014/main" val="10002"/>
                  </a:ext>
                </a:extLst>
              </a:tr>
              <a:tr h="659136">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Feature representation matters</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100"/>
                        <a:t>Regime-based features were more informative than raw macroeconomic variables, especially for linear models</a:t>
                      </a:r>
                    </a:p>
                  </a:txBody>
                  <a:tcPr marL="0" marR="0" marT="0" marB="0" anchor="ctr" horzOverflow="overflow">
                    <a:solidFill>
                      <a:srgbClr val="5542CC">
                        <a:alpha val="32957"/>
                      </a:srgbClr>
                    </a:solidFill>
                  </a:tcPr>
                </a:tc>
                <a:extLst>
                  <a:ext uri="{0D108BD9-81ED-4DB2-BD59-A6C34878D82A}">
                    <a16:rowId xmlns:a16="http://schemas.microsoft.com/office/drawing/2014/main" val="10003"/>
                  </a:ext>
                </a:extLst>
              </a:tr>
            </a:tbl>
          </a:graphicData>
        </a:graphic>
      </p:graphicFrame>
      <p:sp>
        <p:nvSpPr>
          <p:cNvPr id="417"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
        <p:nvSpPr>
          <p:cNvPr id="418"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Key Findings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1" fill="hold" grpId="1" nodeType="clickEffect">
                                  <p:stCondLst>
                                    <p:cond delay="0"/>
                                  </p:stCondLst>
                                  <p:iterate>
                                    <p:tmAbs val="0"/>
                                  </p:iterate>
                                  <p:childTnLst>
                                    <p:set>
                                      <p:cBhvr>
                                        <p:cTn id="6" fill="hold"/>
                                        <p:tgtEl>
                                          <p:spTgt spid="416"/>
                                        </p:tgtEl>
                                        <p:attrNameLst>
                                          <p:attrName>style.visibility</p:attrName>
                                        </p:attrNameLst>
                                      </p:cBhvr>
                                      <p:to>
                                        <p:strVal val="visible"/>
                                      </p:to>
                                    </p:set>
                                    <p:animEffect transition="in" filter="wipe(up)">
                                      <p:cBhvr>
                                        <p:cTn id="7" dur="1000"/>
                                        <p:tgtEl>
                                          <p:spTgt spid="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 grpId="1"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Example: Comparing models and Frameworks"/>
          <p:cNvSpPr txBox="1">
            <a:spLocks noGrp="1"/>
          </p:cNvSpPr>
          <p:nvPr>
            <p:ph type="title"/>
          </p:nvPr>
        </p:nvSpPr>
        <p:spPr>
          <a:xfrm>
            <a:off x="365759" y="609595"/>
            <a:ext cx="8520602" cy="572703"/>
          </a:xfrm>
          <a:prstGeom prst="rect">
            <a:avLst/>
          </a:prstGeom>
        </p:spPr>
        <p:txBody>
          <a:bodyPr/>
          <a:lstStyle>
            <a:lvl1pPr>
              <a:defRPr sz="2000"/>
            </a:lvl1pPr>
          </a:lstStyle>
          <a:p>
            <a:r>
              <a:t>Example: Logistic Regression Improvement across Frameworks</a:t>
            </a:r>
          </a:p>
        </p:txBody>
      </p:sp>
      <p:sp>
        <p:nvSpPr>
          <p:cNvPr id="423" name="Slide Number"/>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pic>
        <p:nvPicPr>
          <p:cNvPr id="424" name="pasted-movie.png" descr="pasted-movie.png"/>
          <p:cNvPicPr>
            <a:picLocks noChangeAspect="1"/>
          </p:cNvPicPr>
          <p:nvPr/>
        </p:nvPicPr>
        <p:blipFill>
          <a:blip r:embed="rId3"/>
          <a:srcRect t="4010" r="70198" b="48480"/>
          <a:stretch>
            <a:fillRect/>
          </a:stretch>
        </p:blipFill>
        <p:spPr>
          <a:xfrm>
            <a:off x="1783241" y="1075513"/>
            <a:ext cx="5459957" cy="3836581"/>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Example: Comparing models and Frameworks"/>
          <p:cNvSpPr txBox="1">
            <a:spLocks noGrp="1"/>
          </p:cNvSpPr>
          <p:nvPr>
            <p:ph type="title"/>
          </p:nvPr>
        </p:nvSpPr>
        <p:spPr>
          <a:xfrm>
            <a:off x="365759" y="609595"/>
            <a:ext cx="8520602" cy="572703"/>
          </a:xfrm>
          <a:prstGeom prst="rect">
            <a:avLst/>
          </a:prstGeom>
        </p:spPr>
        <p:txBody>
          <a:bodyPr/>
          <a:lstStyle>
            <a:lvl1pPr>
              <a:defRPr sz="2000"/>
            </a:lvl1pPr>
          </a:lstStyle>
          <a:p>
            <a:r>
              <a:t>Example: Comparing models and Frameworks</a:t>
            </a:r>
          </a:p>
        </p:txBody>
      </p:sp>
      <p:sp>
        <p:nvSpPr>
          <p:cNvPr id="429" name="Slide Number"/>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pic>
        <p:nvPicPr>
          <p:cNvPr id="430" name="pasted-movie.png" descr="pasted-movie.png"/>
          <p:cNvPicPr>
            <a:picLocks noChangeAspect="1"/>
          </p:cNvPicPr>
          <p:nvPr/>
        </p:nvPicPr>
        <p:blipFill>
          <a:blip r:embed="rId3"/>
          <a:srcRect l="33373" t="3775" r="33373" b="48522"/>
          <a:stretch>
            <a:fillRect/>
          </a:stretch>
        </p:blipFill>
        <p:spPr>
          <a:xfrm>
            <a:off x="1647301" y="1071427"/>
            <a:ext cx="5393163" cy="3839993"/>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Example: Comparing models and Frameworks"/>
          <p:cNvSpPr txBox="1">
            <a:spLocks noGrp="1"/>
          </p:cNvSpPr>
          <p:nvPr>
            <p:ph type="title"/>
          </p:nvPr>
        </p:nvSpPr>
        <p:spPr>
          <a:xfrm>
            <a:off x="365759" y="609595"/>
            <a:ext cx="8520602" cy="572703"/>
          </a:xfrm>
          <a:prstGeom prst="rect">
            <a:avLst/>
          </a:prstGeom>
        </p:spPr>
        <p:txBody>
          <a:bodyPr/>
          <a:lstStyle>
            <a:lvl1pPr>
              <a:defRPr sz="2000"/>
            </a:lvl1pPr>
          </a:lstStyle>
          <a:p>
            <a:r>
              <a:t>Example: Stress-Test Results</a:t>
            </a:r>
          </a:p>
        </p:txBody>
      </p:sp>
      <p:sp>
        <p:nvSpPr>
          <p:cNvPr id="435" name="Slide Number"/>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graphicFrame>
        <p:nvGraphicFramePr>
          <p:cNvPr id="436" name="Table 1"/>
          <p:cNvGraphicFramePr/>
          <p:nvPr/>
        </p:nvGraphicFramePr>
        <p:xfrm>
          <a:off x="764376" y="1592970"/>
          <a:ext cx="7037333" cy="2912700"/>
        </p:xfrm>
        <a:graphic>
          <a:graphicData uri="http://schemas.openxmlformats.org/drawingml/2006/table">
            <a:tbl>
              <a:tblPr firstCol="1" bandRow="1">
                <a:tableStyleId>{4C3C2611-4C71-4FC5-86AE-919BDF0F9419}</a:tableStyleId>
              </a:tblPr>
              <a:tblGrid>
                <a:gridCol w="2713344">
                  <a:extLst>
                    <a:ext uri="{9D8B030D-6E8A-4147-A177-3AD203B41FA5}">
                      <a16:colId xmlns:a16="http://schemas.microsoft.com/office/drawing/2014/main" val="20000"/>
                    </a:ext>
                  </a:extLst>
                </a:gridCol>
                <a:gridCol w="4323989">
                  <a:extLst>
                    <a:ext uri="{9D8B030D-6E8A-4147-A177-3AD203B41FA5}">
                      <a16:colId xmlns:a16="http://schemas.microsoft.com/office/drawing/2014/main" val="20001"/>
                    </a:ext>
                  </a:extLst>
                </a:gridCol>
              </a:tblGrid>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200" b="1">
                          <a:solidFill>
                            <a:srgbClr val="FFFFFF"/>
                          </a:solidFill>
                        </a:rPr>
                        <a:t>Scenario</a:t>
                      </a:r>
                    </a:p>
                  </a:txBody>
                  <a:tcPr marL="0" marR="0" marT="0" marB="0" anchor="ctr" horzOverflow="overflow">
                    <a:solidFill>
                      <a:srgbClr val="231B55"/>
                    </a:solidFill>
                  </a:tcPr>
                </a:tc>
                <a:tc>
                  <a:txBody>
                    <a:bodyPr/>
                    <a:lstStyle/>
                    <a:p>
                      <a:pPr algn="ctr" defTabSz="457200">
                        <a:defRPr sz="1800"/>
                      </a:pPr>
                      <a:r>
                        <a:rPr sz="1200" b="1"/>
                        <a:t>Relative Change in PD</a:t>
                      </a:r>
                    </a:p>
                  </a:txBody>
                  <a:tcPr marL="0" marR="0" marT="0" marB="0" anchor="ctr" horzOverflow="overflow">
                    <a:solidFill>
                      <a:srgbClr val="5542CC">
                        <a:alpha val="32957"/>
                      </a:srgbClr>
                    </a:solidFill>
                  </a:tcPr>
                </a:tc>
                <a:extLst>
                  <a:ext uri="{0D108BD9-81ED-4DB2-BD59-A6C34878D82A}">
                    <a16:rowId xmlns:a16="http://schemas.microsoft.com/office/drawing/2014/main" val="10000"/>
                  </a:ext>
                </a:extLst>
              </a:tr>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2008 Financial Crisis</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200"/>
                        <a:t>+39.5%</a:t>
                      </a:r>
                    </a:p>
                  </a:txBody>
                  <a:tcPr marL="0" marR="0" marT="0" marB="0" anchor="ctr" horzOverflow="overflow">
                    <a:solidFill>
                      <a:srgbClr val="5542CC">
                        <a:alpha val="32957"/>
                      </a:srgbClr>
                    </a:solidFill>
                  </a:tcPr>
                </a:tc>
                <a:extLst>
                  <a:ext uri="{0D108BD9-81ED-4DB2-BD59-A6C34878D82A}">
                    <a16:rowId xmlns:a16="http://schemas.microsoft.com/office/drawing/2014/main" val="10001"/>
                  </a:ext>
                </a:extLst>
              </a:tr>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COVID Shock</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200"/>
                        <a:t>+37.9%</a:t>
                      </a:r>
                    </a:p>
                  </a:txBody>
                  <a:tcPr marL="0" marR="0" marT="0" marB="0" anchor="ctr" horzOverflow="overflow">
                    <a:solidFill>
                      <a:srgbClr val="6A52FF">
                        <a:alpha val="7005"/>
                      </a:srgbClr>
                    </a:solidFill>
                  </a:tcPr>
                </a:tc>
                <a:extLst>
                  <a:ext uri="{0D108BD9-81ED-4DB2-BD59-A6C34878D82A}">
                    <a16:rowId xmlns:a16="http://schemas.microsoft.com/office/drawing/2014/main" val="10002"/>
                  </a:ext>
                </a:extLst>
              </a:tr>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Severe Recession</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200"/>
                        <a:t>+33.6%</a:t>
                      </a:r>
                    </a:p>
                  </a:txBody>
                  <a:tcPr marL="0" marR="0" marT="0" marB="0" anchor="ctr" horzOverflow="overflow">
                    <a:solidFill>
                      <a:srgbClr val="5542CC">
                        <a:alpha val="32957"/>
                      </a:srgbClr>
                    </a:solidFill>
                  </a:tcPr>
                </a:tc>
                <a:extLst>
                  <a:ext uri="{0D108BD9-81ED-4DB2-BD59-A6C34878D82A}">
                    <a16:rowId xmlns:a16="http://schemas.microsoft.com/office/drawing/2014/main" val="10003"/>
                  </a:ext>
                </a:extLst>
              </a:tr>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Sovereign Debt Crisis</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200"/>
                        <a:t>+26.5%</a:t>
                      </a:r>
                    </a:p>
                  </a:txBody>
                  <a:tcPr marL="0" marR="0" marT="0" marB="0" anchor="ctr" horzOverflow="overflow">
                    <a:solidFill>
                      <a:srgbClr val="6A52FF">
                        <a:alpha val="7005"/>
                      </a:srgbClr>
                    </a:solidFill>
                  </a:tcPr>
                </a:tc>
                <a:extLst>
                  <a:ext uri="{0D108BD9-81ED-4DB2-BD59-A6C34878D82A}">
                    <a16:rowId xmlns:a16="http://schemas.microsoft.com/office/drawing/2014/main" val="10004"/>
                  </a:ext>
                </a:extLst>
              </a:tr>
              <a:tr h="485450">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0">
                          <a:solidFill>
                            <a:srgbClr val="000000"/>
                          </a:solidFill>
                        </a:defRPr>
                      </a:pPr>
                      <a:r>
                        <a:rPr sz="1100" b="1">
                          <a:solidFill>
                            <a:srgbClr val="FFFFFF"/>
                          </a:solidFill>
                        </a:rPr>
                        <a:t>Oil Shock Stagflation</a:t>
                      </a:r>
                    </a:p>
                  </a:txBody>
                  <a:tcPr marL="0" marR="0" marT="0" marB="0" anchor="ctr" horzOverflow="overflow">
                    <a:solidFill>
                      <a:srgbClr val="231B55"/>
                    </a:solidFill>
                  </a:tcPr>
                </a:tc>
                <a:tc>
                  <a:txBody>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pPr>
                      <a:r>
                        <a:rPr sz="1200"/>
                        <a:t>+11.3%</a:t>
                      </a:r>
                    </a:p>
                  </a:txBody>
                  <a:tcPr marL="0" marR="0" marT="0" marB="0" anchor="ctr" horzOverflow="overflow">
                    <a:solidFill>
                      <a:srgbClr val="5542CC">
                        <a:alpha val="32957"/>
                      </a:srgbClr>
                    </a:solidFill>
                  </a:tcPr>
                </a:tc>
                <a:extLst>
                  <a:ext uri="{0D108BD9-81ED-4DB2-BD59-A6C34878D82A}">
                    <a16:rowId xmlns:a16="http://schemas.microsoft.com/office/drawing/2014/main" val="10005"/>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1" fill="hold" grpId="1" nodeType="clickEffect">
                                  <p:stCondLst>
                                    <p:cond delay="0"/>
                                  </p:stCondLst>
                                  <p:iterate>
                                    <p:tmAbs val="0"/>
                                  </p:iterate>
                                  <p:childTnLst>
                                    <p:set>
                                      <p:cBhvr>
                                        <p:cTn id="6" fill="hold"/>
                                        <p:tgtEl>
                                          <p:spTgt spid="436"/>
                                        </p:tgtEl>
                                        <p:attrNameLst>
                                          <p:attrName>style.visibility</p:attrName>
                                        </p:attrNameLst>
                                      </p:cBhvr>
                                      <p:to>
                                        <p:strVal val="visible"/>
                                      </p:to>
                                    </p:set>
                                    <p:animEffect transition="in" filter="wipe(up)">
                                      <p:cBhvr>
                                        <p:cTn id="7" dur="10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 grpId="1"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441"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Conclusions</a:t>
            </a:r>
          </a:p>
        </p:txBody>
      </p:sp>
      <p:sp>
        <p:nvSpPr>
          <p:cNvPr id="442" name="Text Placeholder 2"/>
          <p:cNvSpPr txBox="1">
            <a:spLocks noGrp="1"/>
          </p:cNvSpPr>
          <p:nvPr>
            <p:ph type="body" sz="half" idx="1"/>
          </p:nvPr>
        </p:nvSpPr>
        <p:spPr>
          <a:xfrm>
            <a:off x="433263" y="1371292"/>
            <a:ext cx="7942831" cy="1744589"/>
          </a:xfrm>
          <a:prstGeom prst="rect">
            <a:avLst/>
          </a:prstGeom>
          <a:effectLst>
            <a:outerShdw blurRad="622300" dist="190500" rotWithShape="0">
              <a:srgbClr val="000000">
                <a:alpha val="75000"/>
              </a:srgbClr>
            </a:outerShdw>
          </a:effectLst>
        </p:spPr>
        <p:txBody>
          <a:bodyPr/>
          <a:lstStyle/>
          <a:p>
            <a:pPr marL="0" indent="0">
              <a:lnSpc>
                <a:spcPct val="160000"/>
              </a:lnSpc>
              <a:spcBef>
                <a:spcPts val="800"/>
              </a:spcBef>
              <a:buSzTx/>
              <a:buNone/>
              <a:defRPr sz="1400">
                <a:solidFill>
                  <a:srgbClr val="000000"/>
                </a:solidFill>
              </a:defRPr>
            </a:pPr>
            <a:r>
              <a:t>Incorporating macroeconomic regimes into credit risk modeling can:</a:t>
            </a:r>
          </a:p>
          <a:p>
            <a:pPr marL="333541" indent="-130341">
              <a:lnSpc>
                <a:spcPct val="160000"/>
              </a:lnSpc>
              <a:spcBef>
                <a:spcPts val="800"/>
              </a:spcBef>
              <a:buClr>
                <a:srgbClr val="DF8F45"/>
              </a:buClr>
              <a:buSzPct val="111000"/>
              <a:buFont typeface="Arial"/>
              <a:buChar char="✓"/>
              <a:defRPr sz="1400">
                <a:solidFill>
                  <a:srgbClr val="000000"/>
                </a:solidFill>
              </a:defRPr>
            </a:pPr>
            <a:r>
              <a:t>    enhance risk assessment</a:t>
            </a:r>
          </a:p>
          <a:p>
            <a:pPr marL="333541" indent="-130341">
              <a:lnSpc>
                <a:spcPct val="160000"/>
              </a:lnSpc>
              <a:spcBef>
                <a:spcPts val="800"/>
              </a:spcBef>
              <a:buClr>
                <a:srgbClr val="DF8F45"/>
              </a:buClr>
              <a:buSzPct val="111000"/>
              <a:buFont typeface="Arial"/>
              <a:buChar char="✓"/>
              <a:defRPr sz="1400">
                <a:solidFill>
                  <a:srgbClr val="000000"/>
                </a:solidFill>
              </a:defRPr>
            </a:pPr>
            <a:r>
              <a:t>    improve model interpretability</a:t>
            </a:r>
          </a:p>
          <a:p>
            <a:pPr marL="333541" indent="-130341">
              <a:lnSpc>
                <a:spcPct val="160000"/>
              </a:lnSpc>
              <a:spcBef>
                <a:spcPts val="800"/>
              </a:spcBef>
              <a:buClr>
                <a:srgbClr val="DF8F45"/>
              </a:buClr>
              <a:buSzPct val="111000"/>
              <a:buFont typeface="Arial"/>
              <a:buChar char="✓"/>
              <a:defRPr sz="1400">
                <a:solidFill>
                  <a:srgbClr val="000000"/>
                </a:solidFill>
              </a:defRPr>
            </a:pPr>
            <a:r>
              <a:t>    support more informed lending and risk management decisions</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447"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Conclusions</a:t>
            </a:r>
          </a:p>
        </p:txBody>
      </p:sp>
      <p:sp>
        <p:nvSpPr>
          <p:cNvPr id="448" name="Text Placeholder 2"/>
          <p:cNvSpPr txBox="1"/>
          <p:nvPr/>
        </p:nvSpPr>
        <p:spPr>
          <a:xfrm>
            <a:off x="435313" y="3143818"/>
            <a:ext cx="7546991" cy="1744589"/>
          </a:xfrm>
          <a:prstGeom prst="rect">
            <a:avLst/>
          </a:prstGeom>
          <a:ln w="12700">
            <a:miter lim="400000"/>
          </a:ln>
          <a:effectLst>
            <a:outerShdw blurRad="622300" dist="1905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ormAutofit/>
          </a:bodyPr>
          <a:lstStyle/>
          <a:p>
            <a:pPr>
              <a:lnSpc>
                <a:spcPct val="160000"/>
              </a:lnSpc>
              <a:spcBef>
                <a:spcPts val="800"/>
              </a:spcBef>
              <a:buClr>
                <a:srgbClr val="423A6D"/>
              </a:buClr>
              <a:buFont typeface="Helvetica"/>
            </a:pPr>
            <a:r>
              <a:t>In term of goal achievements:</a:t>
            </a:r>
          </a:p>
          <a:p>
            <a:pPr marL="333541" indent="-130341">
              <a:lnSpc>
                <a:spcPct val="160000"/>
              </a:lnSpc>
              <a:spcBef>
                <a:spcPts val="800"/>
              </a:spcBef>
              <a:buClr>
                <a:srgbClr val="DF8F45"/>
              </a:buClr>
              <a:buSzPct val="111000"/>
              <a:buFont typeface="Arial"/>
              <a:buChar char="✓"/>
            </a:pPr>
            <a:r>
              <a:t>   Logistic Regression improves AUC by ~9%</a:t>
            </a:r>
          </a:p>
          <a:p>
            <a:pPr marL="333541" indent="-130341">
              <a:lnSpc>
                <a:spcPct val="160000"/>
              </a:lnSpc>
              <a:spcBef>
                <a:spcPts val="800"/>
              </a:spcBef>
              <a:buClr>
                <a:srgbClr val="DF8F45"/>
              </a:buClr>
              <a:buSzPct val="111000"/>
              <a:buFont typeface="Arial"/>
              <a:buChar char="✓"/>
            </a:pPr>
            <a:r>
              <a:t>   3 economic regimes were consistently identified</a:t>
            </a:r>
          </a:p>
          <a:p>
            <a:pPr marL="333541" indent="-130341">
              <a:lnSpc>
                <a:spcPct val="160000"/>
              </a:lnSpc>
              <a:spcBef>
                <a:spcPts val="800"/>
              </a:spcBef>
              <a:buClr>
                <a:srgbClr val="DF8F45"/>
              </a:buClr>
              <a:buSzPct val="111000"/>
              <a:buFont typeface="Arial"/>
              <a:buChar char="✓"/>
            </a:pPr>
            <a:r>
              <a:t>   Stress-testing produced economically realistic results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TextBox 5"/>
          <p:cNvSpPr txBox="1">
            <a:spLocks noGrp="1"/>
          </p:cNvSpPr>
          <p:nvPr>
            <p:ph type="sldNum" sz="quarter" idx="4294967295"/>
          </p:nvPr>
        </p:nvSpPr>
        <p:spPr>
          <a:xfrm>
            <a:off x="8478414" y="4396980"/>
            <a:ext cx="301905" cy="2888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
        <p:nvSpPr>
          <p:cNvPr id="451" name="Title 1"/>
          <p:cNvSpPr txBox="1">
            <a:spLocks noGrp="1"/>
          </p:cNvSpPr>
          <p:nvPr>
            <p:ph type="title"/>
          </p:nvPr>
        </p:nvSpPr>
        <p:spPr>
          <a:xfrm>
            <a:off x="365759" y="609595"/>
            <a:ext cx="8520602" cy="572703"/>
          </a:xfrm>
          <a:prstGeom prst="rect">
            <a:avLst/>
          </a:prstGeom>
        </p:spPr>
        <p:txBody>
          <a:bodyPr/>
          <a:lstStyle>
            <a:lvl1pPr defTabSz="877822">
              <a:defRPr sz="2600"/>
            </a:lvl1pPr>
          </a:lstStyle>
          <a:p>
            <a:r>
              <a:t>Future Scope of Work</a:t>
            </a:r>
          </a:p>
        </p:txBody>
      </p:sp>
      <p:grpSp>
        <p:nvGrpSpPr>
          <p:cNvPr id="454" name="Group"/>
          <p:cNvGrpSpPr/>
          <p:nvPr/>
        </p:nvGrpSpPr>
        <p:grpSpPr>
          <a:xfrm>
            <a:off x="238239" y="1766828"/>
            <a:ext cx="1523856" cy="2564987"/>
            <a:chOff x="0" y="0"/>
            <a:chExt cx="1523855" cy="2564985"/>
          </a:xfrm>
        </p:grpSpPr>
        <p:pic>
          <p:nvPicPr>
            <p:cNvPr id="452" name="_- visual selection.png" descr="_- visual selection.png"/>
            <p:cNvPicPr>
              <a:picLocks noChangeAspect="1"/>
            </p:cNvPicPr>
            <p:nvPr/>
          </p:nvPicPr>
          <p:blipFill>
            <a:blip r:embed="rId3"/>
            <a:srcRect l="29290" t="15768" r="58926" b="15768"/>
            <a:stretch>
              <a:fillRect/>
            </a:stretch>
          </p:blipFill>
          <p:spPr>
            <a:xfrm>
              <a:off x="0" y="470001"/>
              <a:ext cx="1523856" cy="2094985"/>
            </a:xfrm>
            <a:prstGeom prst="rect">
              <a:avLst/>
            </a:prstGeom>
            <a:ln w="12700" cap="flat">
              <a:noFill/>
              <a:miter lim="400000"/>
            </a:ln>
            <a:effectLst/>
          </p:spPr>
        </p:pic>
        <p:sp>
          <p:nvSpPr>
            <p:cNvPr id="453" name="1"/>
            <p:cNvSpPr/>
            <p:nvPr/>
          </p:nvSpPr>
          <p:spPr>
            <a:xfrm>
              <a:off x="537989" y="0"/>
              <a:ext cx="30190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500" b="1">
                  <a:solidFill>
                    <a:srgbClr val="DF8F45"/>
                  </a:solidFill>
                </a:defRPr>
              </a:lvl1pPr>
            </a:lstStyle>
            <a:p>
              <a:r>
                <a:t>1</a:t>
              </a:r>
            </a:p>
          </p:txBody>
        </p:sp>
      </p:grpSp>
      <p:grpSp>
        <p:nvGrpSpPr>
          <p:cNvPr id="457" name="Group"/>
          <p:cNvGrpSpPr/>
          <p:nvPr/>
        </p:nvGrpSpPr>
        <p:grpSpPr>
          <a:xfrm>
            <a:off x="1877780" y="1766828"/>
            <a:ext cx="1662625" cy="2564987"/>
            <a:chOff x="0" y="0"/>
            <a:chExt cx="1662623" cy="2564985"/>
          </a:xfrm>
        </p:grpSpPr>
        <p:pic>
          <p:nvPicPr>
            <p:cNvPr id="455" name="_- visual selection.png" descr="_- visual selection.png"/>
            <p:cNvPicPr>
              <a:picLocks noChangeAspect="1"/>
            </p:cNvPicPr>
            <p:nvPr/>
          </p:nvPicPr>
          <p:blipFill>
            <a:blip r:embed="rId3"/>
            <a:srcRect l="41967" t="15768" r="45176" b="15768"/>
            <a:stretch>
              <a:fillRect/>
            </a:stretch>
          </p:blipFill>
          <p:spPr>
            <a:xfrm>
              <a:off x="0" y="470001"/>
              <a:ext cx="1662624" cy="2094985"/>
            </a:xfrm>
            <a:prstGeom prst="rect">
              <a:avLst/>
            </a:prstGeom>
            <a:ln w="12700" cap="flat">
              <a:noFill/>
              <a:miter lim="400000"/>
            </a:ln>
            <a:effectLst/>
          </p:spPr>
        </p:pic>
        <p:sp>
          <p:nvSpPr>
            <p:cNvPr id="456" name="2"/>
            <p:cNvSpPr/>
            <p:nvPr/>
          </p:nvSpPr>
          <p:spPr>
            <a:xfrm>
              <a:off x="696266" y="0"/>
              <a:ext cx="30190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500" b="1">
                  <a:solidFill>
                    <a:srgbClr val="DF8F45"/>
                  </a:solidFill>
                </a:defRPr>
              </a:lvl1pPr>
            </a:lstStyle>
            <a:p>
              <a:r>
                <a:t>2</a:t>
              </a:r>
            </a:p>
          </p:txBody>
        </p:sp>
      </p:grpSp>
      <p:grpSp>
        <p:nvGrpSpPr>
          <p:cNvPr id="460" name="Group"/>
          <p:cNvGrpSpPr/>
          <p:nvPr/>
        </p:nvGrpSpPr>
        <p:grpSpPr>
          <a:xfrm>
            <a:off x="3668706" y="1766828"/>
            <a:ext cx="1775134" cy="2564987"/>
            <a:chOff x="0" y="0"/>
            <a:chExt cx="1775133" cy="2564985"/>
          </a:xfrm>
        </p:grpSpPr>
        <p:pic>
          <p:nvPicPr>
            <p:cNvPr id="458" name="_- visual selection.png" descr="_- visual selection.png"/>
            <p:cNvPicPr>
              <a:picLocks noChangeAspect="1"/>
            </p:cNvPicPr>
            <p:nvPr/>
          </p:nvPicPr>
          <p:blipFill>
            <a:blip r:embed="rId3"/>
            <a:srcRect l="55815" t="15768" r="30458" b="15768"/>
            <a:stretch>
              <a:fillRect/>
            </a:stretch>
          </p:blipFill>
          <p:spPr>
            <a:xfrm>
              <a:off x="0" y="470001"/>
              <a:ext cx="1775134" cy="2094985"/>
            </a:xfrm>
            <a:prstGeom prst="rect">
              <a:avLst/>
            </a:prstGeom>
            <a:ln w="12700" cap="flat">
              <a:noFill/>
              <a:miter lim="400000"/>
            </a:ln>
            <a:effectLst/>
          </p:spPr>
        </p:pic>
        <p:sp>
          <p:nvSpPr>
            <p:cNvPr id="459" name="3"/>
            <p:cNvSpPr/>
            <p:nvPr/>
          </p:nvSpPr>
          <p:spPr>
            <a:xfrm>
              <a:off x="703160" y="0"/>
              <a:ext cx="30190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500" b="1">
                  <a:solidFill>
                    <a:srgbClr val="DF8F45"/>
                  </a:solidFill>
                </a:defRPr>
              </a:lvl1pPr>
            </a:lstStyle>
            <a:p>
              <a:r>
                <a:t>3</a:t>
              </a:r>
            </a:p>
          </p:txBody>
        </p:sp>
      </p:grpSp>
      <p:grpSp>
        <p:nvGrpSpPr>
          <p:cNvPr id="463" name="Group"/>
          <p:cNvGrpSpPr/>
          <p:nvPr/>
        </p:nvGrpSpPr>
        <p:grpSpPr>
          <a:xfrm>
            <a:off x="5435903" y="1766828"/>
            <a:ext cx="1897987" cy="2564987"/>
            <a:chOff x="0" y="0"/>
            <a:chExt cx="1897985" cy="2564985"/>
          </a:xfrm>
        </p:grpSpPr>
        <p:pic>
          <p:nvPicPr>
            <p:cNvPr id="461" name="_- visual selection.png" descr="_- visual selection.png"/>
            <p:cNvPicPr>
              <a:picLocks noChangeAspect="1"/>
            </p:cNvPicPr>
            <p:nvPr/>
          </p:nvPicPr>
          <p:blipFill>
            <a:blip r:embed="rId3"/>
            <a:srcRect l="69480" t="15768" r="15843" b="15768"/>
            <a:stretch>
              <a:fillRect/>
            </a:stretch>
          </p:blipFill>
          <p:spPr>
            <a:xfrm>
              <a:off x="0" y="470001"/>
              <a:ext cx="1897986" cy="2094985"/>
            </a:xfrm>
            <a:prstGeom prst="rect">
              <a:avLst/>
            </a:prstGeom>
            <a:ln w="12700" cap="flat">
              <a:noFill/>
              <a:miter lim="400000"/>
            </a:ln>
            <a:effectLst/>
          </p:spPr>
        </p:pic>
        <p:sp>
          <p:nvSpPr>
            <p:cNvPr id="462" name="4"/>
            <p:cNvSpPr/>
            <p:nvPr/>
          </p:nvSpPr>
          <p:spPr>
            <a:xfrm>
              <a:off x="837051" y="0"/>
              <a:ext cx="30190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500" b="1">
                  <a:solidFill>
                    <a:srgbClr val="DF8F45"/>
                  </a:solidFill>
                </a:defRPr>
              </a:lvl1pPr>
            </a:lstStyle>
            <a:p>
              <a:r>
                <a:t>4</a:t>
              </a:r>
            </a:p>
          </p:txBody>
        </p:sp>
      </p:grpSp>
      <p:grpSp>
        <p:nvGrpSpPr>
          <p:cNvPr id="468" name="Group"/>
          <p:cNvGrpSpPr/>
          <p:nvPr/>
        </p:nvGrpSpPr>
        <p:grpSpPr>
          <a:xfrm>
            <a:off x="7296359" y="1766828"/>
            <a:ext cx="1849814" cy="2564987"/>
            <a:chOff x="0" y="0"/>
            <a:chExt cx="1849813" cy="2564985"/>
          </a:xfrm>
        </p:grpSpPr>
        <p:grpSp>
          <p:nvGrpSpPr>
            <p:cNvPr id="466" name="Group"/>
            <p:cNvGrpSpPr/>
            <p:nvPr/>
          </p:nvGrpSpPr>
          <p:grpSpPr>
            <a:xfrm>
              <a:off x="0" y="0"/>
              <a:ext cx="1717522" cy="2564986"/>
              <a:chOff x="0" y="0"/>
              <a:chExt cx="1717521" cy="2564985"/>
            </a:xfrm>
          </p:grpSpPr>
          <p:pic>
            <p:nvPicPr>
              <p:cNvPr id="464" name="_- visual selection.png" descr="_- visual selection.png"/>
              <p:cNvPicPr>
                <a:picLocks noChangeAspect="1"/>
              </p:cNvPicPr>
              <p:nvPr/>
            </p:nvPicPr>
            <p:blipFill>
              <a:blip r:embed="rId3"/>
              <a:srcRect l="83866" t="15768" r="2853" b="15768"/>
              <a:stretch>
                <a:fillRect/>
              </a:stretch>
            </p:blipFill>
            <p:spPr>
              <a:xfrm>
                <a:off x="0" y="470001"/>
                <a:ext cx="1717522" cy="2094985"/>
              </a:xfrm>
              <a:prstGeom prst="rect">
                <a:avLst/>
              </a:prstGeom>
              <a:ln w="12700" cap="flat">
                <a:noFill/>
                <a:miter lim="400000"/>
              </a:ln>
              <a:effectLst/>
            </p:spPr>
          </p:pic>
          <p:sp>
            <p:nvSpPr>
              <p:cNvPr id="465" name="5"/>
              <p:cNvSpPr/>
              <p:nvPr/>
            </p:nvSpPr>
            <p:spPr>
              <a:xfrm>
                <a:off x="802578" y="0"/>
                <a:ext cx="30190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defRPr sz="2500" b="1">
                    <a:solidFill>
                      <a:srgbClr val="DF8F45"/>
                    </a:solidFill>
                  </a:defRPr>
                </a:lvl1pPr>
              </a:lstStyle>
              <a:p>
                <a:r>
                  <a:t>5</a:t>
                </a:r>
              </a:p>
            </p:txBody>
          </p:sp>
        </p:grpSp>
        <p:sp>
          <p:nvSpPr>
            <p:cNvPr id="467" name="Rectangle"/>
            <p:cNvSpPr/>
            <p:nvPr/>
          </p:nvSpPr>
          <p:spPr>
            <a:xfrm>
              <a:off x="1666101" y="2028249"/>
              <a:ext cx="183713" cy="500691"/>
            </a:xfrm>
            <a:prstGeom prst="rect">
              <a:avLst/>
            </a:prstGeom>
            <a:solidFill>
              <a:srgbClr val="FFFFFF"/>
            </a:solidFill>
            <a:ln w="12700" cap="flat">
              <a:noFill/>
              <a:miter lim="400000"/>
            </a:ln>
            <a:effectLst/>
          </p:spPr>
          <p:txBody>
            <a:bodyPr wrap="square" lIns="45718" tIns="45718" rIns="45718" bIns="45718" numCol="1" anchor="ctr">
              <a:noAutofit/>
            </a:bodyPr>
            <a:lstStyle/>
            <a:p>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454"/>
                                        </p:tgtEl>
                                        <p:attrNameLst>
                                          <p:attrName>style.visibility</p:attrName>
                                        </p:attrNameLst>
                                      </p:cBhvr>
                                      <p:to>
                                        <p:strVal val="visible"/>
                                      </p:to>
                                    </p:set>
                                    <p:animEffect transition="in" filter="wipe(left)">
                                      <p:cBhvr>
                                        <p:cTn id="7" dur="1000"/>
                                        <p:tgtEl>
                                          <p:spTgt spid="4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iterate>
                                    <p:tmAbs val="0"/>
                                  </p:iterate>
                                  <p:childTnLst>
                                    <p:set>
                                      <p:cBhvr>
                                        <p:cTn id="11" fill="hold"/>
                                        <p:tgtEl>
                                          <p:spTgt spid="457"/>
                                        </p:tgtEl>
                                        <p:attrNameLst>
                                          <p:attrName>style.visibility</p:attrName>
                                        </p:attrNameLst>
                                      </p:cBhvr>
                                      <p:to>
                                        <p:strVal val="visible"/>
                                      </p:to>
                                    </p:set>
                                    <p:animEffect transition="in" filter="wipe(left)">
                                      <p:cBhvr>
                                        <p:cTn id="12" dur="1000"/>
                                        <p:tgtEl>
                                          <p:spTgt spid="4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3" nodeType="clickEffect">
                                  <p:stCondLst>
                                    <p:cond delay="0"/>
                                  </p:stCondLst>
                                  <p:iterate>
                                    <p:tmAbs val="0"/>
                                  </p:iterate>
                                  <p:childTnLst>
                                    <p:set>
                                      <p:cBhvr>
                                        <p:cTn id="16" fill="hold"/>
                                        <p:tgtEl>
                                          <p:spTgt spid="460"/>
                                        </p:tgtEl>
                                        <p:attrNameLst>
                                          <p:attrName>style.visibility</p:attrName>
                                        </p:attrNameLst>
                                      </p:cBhvr>
                                      <p:to>
                                        <p:strVal val="visible"/>
                                      </p:to>
                                    </p:set>
                                    <p:animEffect transition="in" filter="wipe(left)">
                                      <p:cBhvr>
                                        <p:cTn id="17" dur="1000"/>
                                        <p:tgtEl>
                                          <p:spTgt spid="4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4" nodeType="clickEffect">
                                  <p:stCondLst>
                                    <p:cond delay="0"/>
                                  </p:stCondLst>
                                  <p:iterate>
                                    <p:tmAbs val="0"/>
                                  </p:iterate>
                                  <p:childTnLst>
                                    <p:set>
                                      <p:cBhvr>
                                        <p:cTn id="21" fill="hold"/>
                                        <p:tgtEl>
                                          <p:spTgt spid="463"/>
                                        </p:tgtEl>
                                        <p:attrNameLst>
                                          <p:attrName>style.visibility</p:attrName>
                                        </p:attrNameLst>
                                      </p:cBhvr>
                                      <p:to>
                                        <p:strVal val="visible"/>
                                      </p:to>
                                    </p:set>
                                    <p:animEffect transition="in" filter="wipe(left)">
                                      <p:cBhvr>
                                        <p:cTn id="22" dur="1000"/>
                                        <p:tgtEl>
                                          <p:spTgt spid="4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5" nodeType="clickEffect">
                                  <p:stCondLst>
                                    <p:cond delay="0"/>
                                  </p:stCondLst>
                                  <p:iterate>
                                    <p:tmAbs val="0"/>
                                  </p:iterate>
                                  <p:childTnLst>
                                    <p:set>
                                      <p:cBhvr>
                                        <p:cTn id="26" fill="hold"/>
                                        <p:tgtEl>
                                          <p:spTgt spid="468"/>
                                        </p:tgtEl>
                                        <p:attrNameLst>
                                          <p:attrName>style.visibility</p:attrName>
                                        </p:attrNameLst>
                                      </p:cBhvr>
                                      <p:to>
                                        <p:strVal val="visible"/>
                                      </p:to>
                                    </p:set>
                                    <p:animEffect transition="in" filter="wipe(left)">
                                      <p:cBhvr>
                                        <p:cTn id="27" dur="10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 grpId="1" animBg="1" advAuto="0"/>
      <p:bldP spid="457" grpId="2" animBg="1" advAuto="0"/>
      <p:bldP spid="460" grpId="3" animBg="1" advAuto="0"/>
      <p:bldP spid="463" grpId="4" animBg="1" advAuto="0"/>
      <p:bldP spid="468" grpId="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Slide Number Placeholder 1"/>
          <p:cNvSpPr txBox="1">
            <a:spLocks noGrp="1"/>
          </p:cNvSpPr>
          <p:nvPr>
            <p:ph type="sldNum" sz="quarter" idx="4294967295"/>
          </p:nvPr>
        </p:nvSpPr>
        <p:spPr>
          <a:xfrm>
            <a:off x="4375339" y="4487243"/>
            <a:ext cx="393314" cy="38023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2" tIns="91422" rIns="91422" bIns="91422" anchor="ctr"/>
          <a:lstStyle>
            <a:lvl1pPr algn="ctr">
              <a:defRPr>
                <a:solidFill>
                  <a:srgbClr val="FFFFFF"/>
                </a:solidFill>
              </a:defRPr>
            </a:lvl1pPr>
          </a:lstStyle>
          <a:p>
            <a:fld id="{86CB4B4D-7CA3-9044-876B-883B54F8677D}" type="slidenum">
              <a:rPr/>
              <a:t>21</a:t>
            </a:fld>
            <a:endParaRPr/>
          </a:p>
        </p:txBody>
      </p:sp>
      <p:sp>
        <p:nvSpPr>
          <p:cNvPr id="473" name="Title 2"/>
          <p:cNvSpPr txBox="1">
            <a:spLocks noGrp="1"/>
          </p:cNvSpPr>
          <p:nvPr>
            <p:ph type="title"/>
          </p:nvPr>
        </p:nvSpPr>
        <p:spPr>
          <a:xfrm>
            <a:off x="1310211" y="1679430"/>
            <a:ext cx="6523578" cy="2253565"/>
          </a:xfrm>
          <a:prstGeom prst="rect">
            <a:avLst/>
          </a:prstGeom>
        </p:spPr>
        <p:txBody>
          <a:bodyPr/>
          <a:lstStyle>
            <a:lvl1pPr>
              <a:defRPr sz="3500" b="0">
                <a:solidFill>
                  <a:srgbClr val="FFFFFF"/>
                </a:solidFill>
              </a:defRPr>
            </a:lvl1pPr>
          </a:lstStyle>
          <a:p>
            <a:r>
              <a:t>Thank you to Prof. Joe Byers and the entire WorldQuant University team</a:t>
            </a:r>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1707</Words>
  <Application>Microsoft Macintosh PowerPoint</Application>
  <PresentationFormat>On-screen Show (16:9)</PresentationFormat>
  <Paragraphs>233</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Helvetica</vt:lpstr>
      <vt:lpstr>Simple Light</vt:lpstr>
      <vt:lpstr>Group 14074</vt:lpstr>
      <vt:lpstr>Government Issued Photo ID</vt:lpstr>
      <vt:lpstr>Systematic Credit Risk Modeling under Macroeconomic Regimes</vt:lpstr>
      <vt:lpstr>Project Goal</vt:lpstr>
      <vt:lpstr>Project Importance - Credit Risk: A Complex Challenge</vt:lpstr>
      <vt:lpstr>Literature Review</vt:lpstr>
      <vt:lpstr>Contribution</vt:lpstr>
      <vt:lpstr>Assumptions</vt:lpstr>
      <vt:lpstr>Methodology: Data &amp; Frameworks</vt:lpstr>
      <vt:lpstr>Choice of Technology</vt:lpstr>
      <vt:lpstr>Peer Review Feedback</vt:lpstr>
      <vt:lpstr>My Contribution</vt:lpstr>
      <vt:lpstr>My Contribution</vt:lpstr>
      <vt:lpstr>Key Findings</vt:lpstr>
      <vt:lpstr>Example: Logistic Regression Improvement across Frameworks</vt:lpstr>
      <vt:lpstr>Example: Comparing models and Frameworks</vt:lpstr>
      <vt:lpstr>Example: Stress-Test Results</vt:lpstr>
      <vt:lpstr>Conclusions</vt:lpstr>
      <vt:lpstr>Conclusions</vt:lpstr>
      <vt:lpstr>Future Scope of Work</vt:lpstr>
      <vt:lpstr>Thank you to Prof. Joe Byers and the entire WorldQuant University team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Taoufiq Ouedraogo</cp:lastModifiedBy>
  <cp:revision>1</cp:revision>
  <dcterms:modified xsi:type="dcterms:W3CDTF">2026-06-07T15:00:36Z</dcterms:modified>
</cp:coreProperties>
</file>